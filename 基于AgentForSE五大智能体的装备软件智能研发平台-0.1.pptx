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01.svg" ContentType="image/svg+xml"/>
  <Override PartName="/ppt/media/image103.svg" ContentType="image/svg+xml"/>
  <Override PartName="/ppt/media/image105.svg" ContentType="image/svg+xml"/>
  <Override PartName="/ppt/media/image107.svg" ContentType="image/svg+xml"/>
  <Override PartName="/ppt/media/image109.svg" ContentType="image/svg+xml"/>
  <Override PartName="/ppt/media/image11.svg" ContentType="image/svg+xml"/>
  <Override PartName="/ppt/media/image111.svg" ContentType="image/svg+xml"/>
  <Override PartName="/ppt/media/image113.svg" ContentType="image/svg+xml"/>
  <Override PartName="/ppt/media/image115.svg" ContentType="image/svg+xml"/>
  <Override PartName="/ppt/media/image117.svg" ContentType="image/svg+xml"/>
  <Override PartName="/ppt/media/image119.svg" ContentType="image/svg+xml"/>
  <Override PartName="/ppt/media/image121.svg" ContentType="image/svg+xml"/>
  <Override PartName="/ppt/media/image123.svg" ContentType="image/svg+xml"/>
  <Override PartName="/ppt/media/image125.svg" ContentType="image/svg+xml"/>
  <Override PartName="/ppt/media/image127.svg" ContentType="image/svg+xml"/>
  <Override PartName="/ppt/media/image129.svg" ContentType="image/svg+xml"/>
  <Override PartName="/ppt/media/image13.svg" ContentType="image/svg+xml"/>
  <Override PartName="/ppt/media/image131.svg" ContentType="image/svg+xml"/>
  <Override PartName="/ppt/media/image133.svg" ContentType="image/svg+xml"/>
  <Override PartName="/ppt/media/image135.svg" ContentType="image/svg+xml"/>
  <Override PartName="/ppt/media/image137.svg" ContentType="image/svg+xml"/>
  <Override PartName="/ppt/media/image139.svg" ContentType="image/svg+xml"/>
  <Override PartName="/ppt/media/image141.svg" ContentType="image/svg+xml"/>
  <Override PartName="/ppt/media/image143.svg" ContentType="image/svg+xml"/>
  <Override PartName="/ppt/media/image145.svg" ContentType="image/svg+xml"/>
  <Override PartName="/ppt/media/image147.svg" ContentType="image/svg+xml"/>
  <Override PartName="/ppt/media/image149.svg" ContentType="image/svg+xml"/>
  <Override PartName="/ppt/media/image15.svg" ContentType="image/svg+xml"/>
  <Override PartName="/ppt/media/image151.svg" ContentType="image/svg+xml"/>
  <Override PartName="/ppt/media/image153.svg" ContentType="image/svg+xml"/>
  <Override PartName="/ppt/media/image155.svg" ContentType="image/svg+xml"/>
  <Override PartName="/ppt/media/image157.svg" ContentType="image/svg+xml"/>
  <Override PartName="/ppt/media/image159.svg" ContentType="image/svg+xml"/>
  <Override PartName="/ppt/media/image161.svg" ContentType="image/svg+xml"/>
  <Override PartName="/ppt/media/image163.svg" ContentType="image/svg+xml"/>
  <Override PartName="/ppt/media/image165.svg" ContentType="image/svg+xml"/>
  <Override PartName="/ppt/media/image167.svg" ContentType="image/svg+xml"/>
  <Override PartName="/ppt/media/image169.svg" ContentType="image/svg+xml"/>
  <Override PartName="/ppt/media/image17.svg" ContentType="image/svg+xml"/>
  <Override PartName="/ppt/media/image171.svg" ContentType="image/svg+xml"/>
  <Override PartName="/ppt/media/image173.svg" ContentType="image/svg+xml"/>
  <Override PartName="/ppt/media/image175.svg" ContentType="image/svg+xml"/>
  <Override PartName="/ppt/media/image177.svg" ContentType="image/svg+xml"/>
  <Override PartName="/ppt/media/image179.svg" ContentType="image/svg+xml"/>
  <Override PartName="/ppt/media/image181.svg" ContentType="image/svg+xml"/>
  <Override PartName="/ppt/media/image183.svg" ContentType="image/svg+xml"/>
  <Override PartName="/ppt/media/image185.svg" ContentType="image/svg+xml"/>
  <Override PartName="/ppt/media/image187.svg" ContentType="image/svg+xml"/>
  <Override PartName="/ppt/media/image189.svg" ContentType="image/svg+xml"/>
  <Override PartName="/ppt/media/image19.svg" ContentType="image/svg+xml"/>
  <Override PartName="/ppt/media/image191.svg" ContentType="image/svg+xml"/>
  <Override PartName="/ppt/media/image193.svg" ContentType="image/svg+xml"/>
  <Override PartName="/ppt/media/image195.svg" ContentType="image/svg+xml"/>
  <Override PartName="/ppt/media/image197.svg" ContentType="image/svg+xml"/>
  <Override PartName="/ppt/media/image199.svg" ContentType="image/svg+xml"/>
  <Override PartName="/ppt/media/image201.svg" ContentType="image/svg+xml"/>
  <Override PartName="/ppt/media/image203.svg" ContentType="image/svg+xml"/>
  <Override PartName="/ppt/media/image205.svg" ContentType="image/svg+xml"/>
  <Override PartName="/ppt/media/image207.svg" ContentType="image/svg+xml"/>
  <Override PartName="/ppt/media/image209.svg" ContentType="image/svg+xml"/>
  <Override PartName="/ppt/media/image21.svg" ContentType="image/svg+xml"/>
  <Override PartName="/ppt/media/image211.svg" ContentType="image/svg+xml"/>
  <Override PartName="/ppt/media/image213.svg" ContentType="image/svg+xml"/>
  <Override PartName="/ppt/media/image215.svg" ContentType="image/svg+xml"/>
  <Override PartName="/ppt/media/image217.svg" ContentType="image/svg+xml"/>
  <Override PartName="/ppt/media/image219.svg" ContentType="image/svg+xml"/>
  <Override PartName="/ppt/media/image221.svg" ContentType="image/svg+xml"/>
  <Override PartName="/ppt/media/image223.svg" ContentType="image/svg+xml"/>
  <Override PartName="/ppt/media/image225.svg" ContentType="image/svg+xml"/>
  <Override PartName="/ppt/media/image227.svg" ContentType="image/svg+xml"/>
  <Override PartName="/ppt/media/image229.svg" ContentType="image/svg+xml"/>
  <Override PartName="/ppt/media/image23.svg" ContentType="image/svg+xml"/>
  <Override PartName="/ppt/media/image231.svg" ContentType="image/svg+xml"/>
  <Override PartName="/ppt/media/image233.svg" ContentType="image/svg+xml"/>
  <Override PartName="/ppt/media/image235.svg" ContentType="image/svg+xml"/>
  <Override PartName="/ppt/media/image237.svg" ContentType="image/svg+xml"/>
  <Override PartName="/ppt/media/image239.svg" ContentType="image/svg+xml"/>
  <Override PartName="/ppt/media/image241.svg" ContentType="image/svg+xml"/>
  <Override PartName="/ppt/media/image243.svg" ContentType="image/svg+xml"/>
  <Override PartName="/ppt/media/image245.svg" ContentType="image/svg+xml"/>
  <Override PartName="/ppt/media/image247.svg" ContentType="image/svg+xml"/>
  <Override PartName="/ppt/media/image25.svg" ContentType="image/svg+xml"/>
  <Override PartName="/ppt/media/image250.svg" ContentType="image/svg+xml"/>
  <Override PartName="/ppt/media/image252.svg" ContentType="image/svg+xml"/>
  <Override PartName="/ppt/media/image254.svg" ContentType="image/svg+xml"/>
  <Override PartName="/ppt/media/image256.svg" ContentType="image/svg+xml"/>
  <Override PartName="/ppt/media/image258.svg" ContentType="image/svg+xml"/>
  <Override PartName="/ppt/media/image27.svg" ContentType="image/svg+xml"/>
  <Override PartName="/ppt/media/image29.svg" ContentType="image/svg+xml"/>
  <Override PartName="/ppt/media/image31.svg" ContentType="image/svg+xml"/>
  <Override PartName="/ppt/media/image33.svg" ContentType="image/svg+xml"/>
  <Override PartName="/ppt/media/image35.svg" ContentType="image/svg+xml"/>
  <Override PartName="/ppt/media/image37.svg" ContentType="image/svg+xml"/>
  <Override PartName="/ppt/media/image39.svg" ContentType="image/svg+xml"/>
  <Override PartName="/ppt/media/image41.svg" ContentType="image/svg+xml"/>
  <Override PartName="/ppt/media/image43.svg" ContentType="image/svg+xml"/>
  <Override PartName="/ppt/media/image45.svg" ContentType="image/svg+xml"/>
  <Override PartName="/ppt/media/image47.svg" ContentType="image/svg+xml"/>
  <Override PartName="/ppt/media/image49.svg" ContentType="image/svg+xml"/>
  <Override PartName="/ppt/media/image5.svg" ContentType="image/svg+xml"/>
  <Override PartName="/ppt/media/image51.svg" ContentType="image/svg+xml"/>
  <Override PartName="/ppt/media/image53.svg" ContentType="image/svg+xml"/>
  <Override PartName="/ppt/media/image55.svg" ContentType="image/svg+xml"/>
  <Override PartName="/ppt/media/image57.svg" ContentType="image/svg+xml"/>
  <Override PartName="/ppt/media/image59.svg" ContentType="image/svg+xml"/>
  <Override PartName="/ppt/media/image61.svg" ContentType="image/svg+xml"/>
  <Override PartName="/ppt/media/image63.svg" ContentType="image/svg+xml"/>
  <Override PartName="/ppt/media/image65.svg" ContentType="image/svg+xml"/>
  <Override PartName="/ppt/media/image67.svg" ContentType="image/svg+xml"/>
  <Override PartName="/ppt/media/image69.svg" ContentType="image/svg+xml"/>
  <Override PartName="/ppt/media/image7.svg" ContentType="image/svg+xml"/>
  <Override PartName="/ppt/media/image71.svg" ContentType="image/svg+xml"/>
  <Override PartName="/ppt/media/image73.svg" ContentType="image/svg+xml"/>
  <Override PartName="/ppt/media/image75.svg" ContentType="image/svg+xml"/>
  <Override PartName="/ppt/media/image77.svg" ContentType="image/svg+xml"/>
  <Override PartName="/ppt/media/image79.svg" ContentType="image/svg+xml"/>
  <Override PartName="/ppt/media/image81.svg" ContentType="image/svg+xml"/>
  <Override PartName="/ppt/media/image83.svg" ContentType="image/svg+xml"/>
  <Override PartName="/ppt/media/image85.svg" ContentType="image/svg+xml"/>
  <Override PartName="/ppt/media/image87.svg" ContentType="image/svg+xml"/>
  <Override PartName="/ppt/media/image89.svg" ContentType="image/svg+xml"/>
  <Override PartName="/ppt/media/image9.svg" ContentType="image/svg+xml"/>
  <Override PartName="/ppt/media/image91.svg" ContentType="image/svg+xml"/>
  <Override PartName="/ppt/media/image93.svg" ContentType="image/svg+xml"/>
  <Override PartName="/ppt/media/image95.svg" ContentType="image/svg+xml"/>
  <Override PartName="/ppt/media/image97.svg" ContentType="image/svg+xml"/>
  <Override PartName="/ppt/media/image9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  <p:sldMasterId id="2147483660" r:id="rId3"/>
  </p:sldMasterIdLst>
  <p:notesMasterIdLst>
    <p:notesMasterId r:id="rId5"/>
  </p:notesMasterIdLst>
  <p:handoutMasterIdLst>
    <p:handoutMasterId r:id="rId42"/>
  </p:handoutMasterIdLst>
  <p:sldIdLst>
    <p:sldId id="256" r:id="rId4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>
  <p:normalViewPr>
    <p:restoredLeft sz="15620"/>
    <p:restoredTop sz="94660"/>
  </p:normalViewPr>
  <p:slide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1620"/>
        <p:guide pos="2880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5" Type="http://schemas.openxmlformats.org/officeDocument/2006/relationships/tableStyles" Target="tableStyles.xml"/><Relationship Id="rId44" Type="http://schemas.openxmlformats.org/officeDocument/2006/relationships/viewProps" Target="viewProps.xml"/><Relationship Id="rId43" Type="http://schemas.openxmlformats.org/officeDocument/2006/relationships/presProps" Target="presProps.xml"/><Relationship Id="rId42" Type="http://schemas.openxmlformats.org/officeDocument/2006/relationships/handoutMaster" Target="handoutMasters/handoutMaster1.xml"/><Relationship Id="rId41" Type="http://schemas.openxmlformats.org/officeDocument/2006/relationships/slide" Target="slides/slide37.xml"/><Relationship Id="rId40" Type="http://schemas.openxmlformats.org/officeDocument/2006/relationships/slide" Target="slides/slide36.xml"/><Relationship Id="rId4" Type="http://schemas.openxmlformats.org/officeDocument/2006/relationships/slide" Target="slides/slide1.xml"/><Relationship Id="rId39" Type="http://schemas.openxmlformats.org/officeDocument/2006/relationships/slide" Target="slides/slide35.xml"/><Relationship Id="rId38" Type="http://schemas.openxmlformats.org/officeDocument/2006/relationships/slide" Target="slides/slide34.xml"/><Relationship Id="rId37" Type="http://schemas.openxmlformats.org/officeDocument/2006/relationships/slide" Target="slides/slide33.xml"/><Relationship Id="rId36" Type="http://schemas.openxmlformats.org/officeDocument/2006/relationships/slide" Target="slides/slide32.xml"/><Relationship Id="rId35" Type="http://schemas.openxmlformats.org/officeDocument/2006/relationships/slide" Target="slides/slide31.xml"/><Relationship Id="rId34" Type="http://schemas.openxmlformats.org/officeDocument/2006/relationships/slide" Target="slides/slide30.xml"/><Relationship Id="rId33" Type="http://schemas.openxmlformats.org/officeDocument/2006/relationships/slide" Target="slides/slide29.xml"/><Relationship Id="rId32" Type="http://schemas.openxmlformats.org/officeDocument/2006/relationships/slide" Target="slides/slide28.xml"/><Relationship Id="rId31" Type="http://schemas.openxmlformats.org/officeDocument/2006/relationships/slide" Target="slides/slide27.xml"/><Relationship Id="rId30" Type="http://schemas.openxmlformats.org/officeDocument/2006/relationships/slide" Target="slides/slide26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5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</a:fld>
            <a:endParaRPr lang="cs-CZ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3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4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5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6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尊敬的各位领导、专家，大家下午好。今天我将向大家汇报我们团队在装备软件研发领域的最新探索成果——“基于大模型智能体的装备软件研发新范式”。我们将其命名为AgentForSE，旨在通过五大智能体，实现对装备软件研发全生命周期的全栈赋能。这项工作不仅是技术上的革新，更是对未来软件研发模式的一次深刻思考。接下来，我将详细介绍这一创新范式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本次汇报将分为三个部分。首先，我们将深入分析当前装备软件研发面临的核心挑战，并提出我们基于智能体的应对思路。其次，我将详细介绍AgentForSE平台中的五大智能体，包括它们各自的功能定位、系统架构和核心能力。最后，我们将共同展望基于这些智能体构建的“软件工厂”蓝图，探讨其未来的发展方向和核心机制。</a:t>
            </a:r>
            <a:endParaRPr lang="en-US" sz="1200" b="0" i="0" u="none" strike="noStrik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现在，我们进入第一部分：装备软件研发痛点与智能体应对思路。在这一部分，我们将聚焦于当前装备软件研发过程中普遍存在的瓶颈和难题，并阐述我们如何利用大模型智能体技术来系统性地解决这些问题，从而引出我们的AgentForSE平台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装备软件的研发，尤其是在航天航空等高安全领域，面临着诸多严峻挑战。首先，安全性分析的门槛极高，像STPA、FTA这类复杂的分析方法，不仅需要工程师具备深厚的专业知识，而且人工分析的效率非常低下。其次，需求与测试之间的追溯关系往往难以建立，导致测试覆盖率无法得到精确度量。此外，代码走查成本高昂，静态分析工具的误报率居高不下，以及嵌入式软件单元测试覆盖率低等问题，都严重制约了研发效率和产品质量。这些痛点，正是我们研发AgentForSE平台的出发点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针对这些痛点，我们提出了基于智能体的应对思路。我们将装备软件研发的全生命周期，从需求分析到审查交付，进行了分解，并为每个关键环节配备了专门的智能体。例如，SafeWise负责系统安全分析，SafeMatrix负责功能安全分析，SmartInsight负责代码走查，SmartST和SmartUT则分别负责系统测试和单元测试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的核心理念是，利用大模型作为推理引擎，通过Agent流水线取代传统的人工串行流程，实现从文档到结构化数据再到自动输出的全程可追溯。最终，我们的目标是构建一个高效、智能的“软件工厂”，将MetaGPT的理念真正落地到装备软件研发领域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张图展示了我们AgentForSE平台的五大智能体全景。它们分别是：负责系统安全分析的SafeWise，它采用多Agent流水线执行STPA分析；负责功能安全分析的SafeMatrix，它集成了FTA和FMEA分析；负责代码走查的SmartInsight，它基于LangChain的Agentic能力；负责系统测试的SmartST，它构建了从需求到测试的全链路自动化；以及负责单元测试的SmartUT。这五大智能体各司其职，又相互协作，共同构成了我们智能研发平台的核心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接下来，我们进入第二部分，详细介绍每个智能体的具体功能。我们将逐一剖析SafeWise、SafeMatrix、SmartInsight、SmartUT和SmartST这五大智能体的产品定位、系统架构、核心能力以及未来的发展规划。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首先是SafeWise，我们的系统安全分析智能体。它的定位是一个面向航天航空等复杂系统的STPA多智能体安全分析平台。STPA是一种先进的系统理论过程分析方法，传统上需要数周时间，并且要求分析师具备极高的专业素养。SafeWise的核心价值就在于，通过AI技术，将这个过程从数周压缩到数小时，极大地提升了效率。它主要服务于系统安全工程师和飞行器、航天器的研制团队，适用于飞行控制、姿态控制等高安全等级的应用场景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这是SafeWise的系统架构。它采用了前后端分离的设计。前端基于Vue 3开发，提供了模型设置、系统管理、分析任务启动和结果展示等功能，特别是可追溯的详情抽屉，方便用户查看分析过程。后端基于Node.js和Express，核心是一个Agent编排器，负责调度不同阶段的Agent（如Phase1, Phase2, Phase3）以及一个专门的评审Agent。系统通过REST API和WebSocket与前端交互，支持实时推送分析进度。LLM服务兼容所有OpenAI接口，保证了模型选择的灵活性。所有数据最终存储在MySQL数据库中。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SafeWise的核心是它的三阶段Agent流水线。第一阶段，我们通过一系列Agent，从损失分析开始，逐步推导出危险、安全约束和安全需求。第二阶段，Agent会进行控制结构建模，并分析不安全控制行为（UCA），进而生成设计约束。第三阶段，Agent会进行致因分析和场景分析，并最终生成测试用例。每个阶段结束后，都会有一个评审Agent进行质量把关。整个过程形成了一个完整的追溯链，例如，我们可以从一个测试用例，追溯到它所覆盖的损失场景、不安全控制行为、危险，甚至最初的损失定义，以及相关的安全约束和需求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目前，SafeWise已经具备了多Agent协同流水线、实时进度推送、完整的追溯链以及对主流大模型的支持等核心能力。在未来，我们计划进一步增强其功能，包括增加STAMP因果图的可视化，实现与SafeMatrix的联动，支持国军标格式报告的导出，并引入专家经验库来持续提升分析的质量和准确性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接下来是SafeMatrix，我们的软件功能安全分析智能体。它专注于软件层面的功能安全，覆盖了从需求到设计阶段的SFTA（软件故障树分析）和FMEA（软件失效模式与影响分析）全流程。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它的核心价值在于能够根据需求规格（SRS）和设计文档（SDD）自动生成故障树和FMEA表格，并通过多轮人机协作来精化分析质量，最终输出满足交付要求的标准Word报告。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其独特之处在于实现了三阶段的串联分析，并支持版本追踪和增量更新，大大提高了迭代效率。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SafeMatrix的系统架构同样采用前后端分离。前端使用React构建，提供了可视化的故障树画布，支持拖拽操作，非常直观。后端同样基于Node.js和Express，核心是一个多智能体流水线，模拟了需求分析师、FTA工程师、FMEA工程师和审查员等多个角色。系统通过SSE（Server-Sent Events）实现流式数据传输，保证了分析过程的实时反馈。LLM服务兼容Anthropic Claude和OpenAI等多种模型。数据存储使用PostgreSQL，并通过Prisma ORM进行管理。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SafeMatrix的分析流程分为两个主要阶段。第一阶段是基于需求文档（SRS）进行SFTA分析，生成系统级的故障树。第二阶段是基于设计文档（SDD），将故障树扩展到模块级，并进行FMEA分析，包括严重度、发生率、探测度和风险优先数（RPN）的评分。我们特别设计了版本追踪与增量更新机制，当需求变更时，系统能自动检测并提示设计阶段的分析结果已过期，并提供自动结构同步和仅对受影响部分进行增量分析的能力，这极大地节省了重复劳动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SafeMatrix目前已经实现了两阶段SFTA和FMEA的一体化分析、可视化的故障树画布、版本管理以及一键导出Word报告等核心功能。未来，我们将致力于支持更多标准化的报告模板，如GJB和DO-178C，并实现与SafeWise的深度联动，让STPA的分析结果能够自动驱动SFTA的生成。同时，引入历史项目经验库和支持FMECA扩展也是我们的重要发展方向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三个智能体是SmartInsight，一个面向嵌入式和装备软件的AI代码走查平台。它的核心能力主要有四项：首先是设计一致性验证，确保代码实现与设计文档保持一致；其次是需求满足性确认，验证代码是否满足了需求规格；第三是基于故障模式库进行已知故障检查；最后，也是非常实用的一点，是对静态分析工具的误报进行AI确认和消除，帮助工程师聚焦于真正的问题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SmartInsight的后端基于Python FastAPI构建，其核心是一个基于LangChain的Agentic Search引擎。这个引擎采用ReAct风格，能够自主地在代码仓库中进行搜索，从列出目录、模式匹配，到关键词搜索，再到读取文件内容，最终形成结构化的分析结果。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此外，我们还构建了一个强大的扫描报告归一化导入层，支持超过12种主流的静态分析工具，如Coverity、CodeSonar等，解决了不同工具输出格式不一致的问题。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所有的分析经验、项目配置和历史缺陷数据都统一存储在MySQL集群中，形成了宝贵的知识库，为后续的智能分析提供了坚实的数据基础。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SmartInsight的工作流充分体现了Agent的智能性。当需要验证一条需求或设计项时，Agent会像一个资深工程师一样，首先通过list_dir了解代码结构，然后用glob_search和grep_code逐步缩小范围，最后通过read_source_file读取具体文件内容来确认实现细节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种“先粗搜、再细读、最后归纳”的动态搜索策略，与传统的一次性把所有代码塞进Prompt的方式有本质区别，它不依赖完整的代码上下文，效率更高，也更准确。所有分析结果都附有可追溯到具体代码行的证据链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SmartInsight目前已经具备了强大的Agentic搜索能力、对多种静态分析工具的兼容性、误报消除以及报告自动生成等功能。未来，我们计划将其接入CI/CD流水线，实现代码提交即触发走查。同时，利用历史走查经验反哺经验库，实现持续的自我优化。支持增量走查和可视化的进度追踪看板也是我们下一步的重点工作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接下来是SmartUT，我们的单元测试智能体。它的定位是为嵌入式和装备软件自动生成符合标准的单元测试用例。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其核心价值在于降低单元测试的编写门槛，提升C/C++代码的测试覆盖率，并与SmartST在系统测试层面形成互补。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目前，SmartUT还处于早期研发阶段，我们正在规划其核心能力，包括函数级测试用例的自动生成、覆盖率分析、边界值推断，以及与SmartInsight的联动，实现基于走查结果的针对性测试补充。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是我们为SmartUT规划的系统架构。前端部分正在规划中。后端将是一个基于Python的Agent，它将负责代码解析、测试策略生成、测试用例生成和评审等一系列任务。它将利用兼容OpenAI的LLM作为推理引擎，并与现有的代码仓库和测试框架（如C++TEST、GoogleTest）进行集成，以实现测试用例的自动生成和执行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最后一个智能体是SmartST，系统测试智能体。它是一个面向配置项测试场景的、基于浏览器的需求驱动测试平台。其核心目标是打通从需求文档到测试报告的全链路自动化。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它的核心价值在于，通过需求驱动测试设计，确保测试的全覆盖；利用AI自动生成测试用例草稿，极大提升设计效率；实现执行结果与需求的双向追溯；并且支持私有化部署，保证数据安全。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SmartST的系统架构同样是前后端分离。前端基于Vue，提供了项目工作台、需求管理、用例管理等完整的功能模块。后端基于Python FastAPI，采用了异步Worker架构，能够高并发地处理文档解析、需求解析、用例生成和报告生成等耗时任务。智能能力部分支持兼容OpenAI的模型端点，包括私有化部署的模型，确保了数据安全。数据存储采用关系数据库和文件对象存储相结合的方式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SmartST的核心业务链路设计得非常清晰。从用户上传需求文档开始，系统会自动解析并结构化需求。工程师在确认需求后，AI才会基于这些已确认的需求生成测试用例草稿。这种“质量门禁”设计确保了测试用例的准确性。用例发布后，测试人员可以进行执行回填，并最终导出包含覆盖率统计的测试报告。整个流程实现了需求的增量重解析和用例的定向重生成，保证了变更的高效管理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SmartST目前已经实现了文档解析、需求提取、用例生成、执行回填和报告导出等全链路核心功能。未来，我们将加强与SmartInsight的联动，实现走查问题到测试用例的自动关联。同时，支持GJB 5000A等标准报告、接入CI/CD实现自动化回归测试，以及实现测试执行的自动化，将是我们下一步的重点发展方向。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介绍完五大智能体的具体功能后，我们进入第三部分，共同展望基于这些智能体的软件工厂蓝图。在这一部分，我们将探讨如何将这些独立的智能体连接起来，形成一个高效协作的“软件工厂”，实现从“工具”到“智能体”，再到“软件工厂”的范式转变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我们的软件工厂蓝图，深受MetaGPT理念的启发。其核心思想就是用大模型驱动多个智能体，模拟一个完整的软件工程团队，像工厂流水线一样生产高质量的软件。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在传统开发模式中，从需求分析到测试评审，每个环节都依赖人工，效率低且容易出错。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而在我们的AI软件工厂中，这些角色将被SafeWise、SafeMatrix、SmartInsight、SmartST和SmartUT等智能体所取代或增强。它们分工明确，协同工作，实现了自动化的需求分析、架构设计、代码生成以及测试评审。这就是MetaGPT带给我们的，从单Agent到真正软件工厂的进化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接下来，我将为大家详细介绍我们构想的装备软件智能工厂的总体架构。这个架构借鉴了MetaGPT的多智能体协同思想，并结合了航天装备软件的全流程工程化要求。它分为六个层次：底层的基础设施层，提供安全合规的算力和存储；第二层是大模型服务层，为智能体提供智能引擎；第三层是核心的智能体编排层，负责调度和管理所有智能体；第四层是我们的五大领域智能体；第五层是覆盖研发全生命周期的工程过程层；最顶层是应用交付层，为用户提供一站式的工作台和标准化的交付物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个软件工厂的高效运行，依赖于四大核心机制。首先是智能体流水线协同，我们的五大智能体可以按照预设的流程自动串联工作，实现从需求到交付的全流程自动化。其次是全域知识沉淀，所有Agent的分析结果和经验都会被存入共享的知识库，让整个系统越用越聪明。第三是质量闭环优化，通过“AI生成-专家评审-模型优化”的闭环，持续提升分析质量。最后是标准合规内嵌，系统内置了各类标准模板，能够自动生成符合要求的合规文档，大大减轻了工程师的负担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是我们描绘的装备软件智能体工厂蓝图。它分为四个层次：最上层是任务输入层，接收需求文档、设计文档、代码仓和历史项目经验等输入。中间是智能体协作层，五大智能体在此协同工作。它们的分析结果会汇聚到知识沉淀层，形成经验库、故障模式库等宝贵资产。最后，在输出交付层，系统会自动生成安全性分析报告、测试报告、走查报告等符合GJB标准的交付物。这个蓝图实现了从输入到输出的全流程自动化和智能化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一种独特的架构是“市场驱动的Agent生态架构”。它的核心思想是将软件开发过程看作一个动态的服务市场。在这里，开发任务被视为“需求”，而我们的各类专业Agent则是“服务提供者”。一个智能的“市场调度中心”会负责将任务与最合适的Agent进行匹配，并根据任务复杂度、Agent信誉等因素进行动态定价。这种模式摒弃了传统的刚性流水线，实现了去中心化和自组织，能够极大地提升研发流程的灵活性和资源利用率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二种架构是“数字孪生驱动的Agent架构”。这种架构为每一个物理装备构建一个高保真的虚拟镜像，也就是数字孪生。我们所有的Agent，包括编码、测试、调试Agent，都在这个虚拟空间中工作。这意味着，所有的开发和测试活动都不会影响到真实的物理装备，从而从根本上保证了安全。我们可以在虚拟环境中模拟各种极端工况和故障场景，进行充分的验证，直到软件完美无瑕，再通过安全网关部署到物理世界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第三种架构是“知识图谱驱动的Agent协同架构”。它的核心是打造一个共享的“知识大脑”，也就是装备软件知识图谱。这个图谱整合了领域知识、设计模式、历史项目经验等所有宝贵信息。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我们的开发Agent在工作时，不再是孤立的，而是可以实时查询这个知识图谱，获取最相关的情境化知识。例如，架构师可以参考类似项目的成功经验，测试工程师可以针对历史缺陷设计测试用例。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这使得Agent的决策更加精准，并且项目结束后，新的知识又会沉淀回图谱，让整个系统变得越来越“聪明”。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软件工厂的高效运行依赖于三大核心机制，这些机制是支撑上述多元架构运行的核心。首先是流水线协作机制，例如，SafeWise的STPA分析结果可以自动传递给SafeMatrix，用于驱动FTA和FMEA分析，进而影响后续的测试用例生成和代码走查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其次是经验积累机制，每次分析的结果都会沉淀到经验库中，AI会从中提炼规律，为新项目提供参考。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最后是持续优化机制，通过工程师对分析结果的评审反馈，我们可以不断迭代优化Agent的Prompt，形成一个闭环，让系统的分析质量随着使用次数的增加而持续提升。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对软件工厂的发展有着清晰的规划。在近期，我们的五大Agent还是独立运行，需要人工上传文档触发，知识沉淀也局限在单个Agent内部。而我们的远期愿景是实现Agent间数据的自动流转，通过CI/CD流水线自动触发任务，构建跨Agent的统一知识图谱，实现跨阶段的自动质量门禁，并最终输出标准化的交付包。在这个过程中，人工参与将从目前较多的审核确认工作，逐步减少到只在关键决策点进行干预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最后，对本次汇报进行总结。AgentForSE平台通过五大智能体，全面覆盖了装备软件研制的各个环节。我们的核心理念非常明确：就是让大模型去承担那些繁重、重复的分析劳动，从而将工程师从这些工作中解放出来，让他们能够专注于更具创造性的判断和决策。我们坚信，从传统的工具，到智能的Agent，再到高效的软件工厂，这不仅是技术的演进，更是装备软件研发的下一个范式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我的汇报到此结束。非常感谢各位领导和专家的聆听，恳请大家批评指正。谢谢！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标题幻灯片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2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" name="Shape 31"/>
          <p:cNvSpPr txBox="1"/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4" name="Shape 32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" name="Shape 33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" name="Shape 34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标题和内容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" name="Shape 55"/>
          <p:cNvSpPr txBox="1"/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0" name="Shape 5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1" name="Shape 5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2" name="Shape 5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节标题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/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2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5" name="Shape 60"/>
          <p:cNvSpPr txBox="1"/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Shape 6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7" name="Shape 6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" name="Shape 6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两栏内容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" name="Shape 10"/>
          <p:cNvSpPr txBox="1"/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2" name="Shape 11"/>
          <p:cNvSpPr txBox="1"/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3" name="Shape 12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4" name="Shape 13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5" name="Shape 14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比较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/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8" name="Shape 36"/>
          <p:cNvSpPr txBox="1"/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/>
        </p:txBody>
      </p:sp>
      <p:sp>
        <p:nvSpPr>
          <p:cNvPr id="39" name="Shape 37"/>
          <p:cNvSpPr txBox="1"/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0" name="Shape 38"/>
          <p:cNvSpPr txBox="1"/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/>
        </p:txBody>
      </p:sp>
      <p:sp>
        <p:nvSpPr>
          <p:cNvPr id="41" name="Shape 39"/>
          <p:cNvSpPr txBox="1"/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2" name="Shape 40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3" name="Shape 41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4" name="Shape 42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仅标题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7" name="Shape 2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8" name="Shape 2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9" name="Shape 2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空白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2" name="Shape 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3" name="Shape 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内容与标题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" name="Shape 44"/>
          <p:cNvSpPr txBox="1"/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57" name="Shape 45"/>
          <p:cNvSpPr txBox="1"/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58" name="Shape 4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Shape 4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Shape 4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图片与标题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" name="Shape 25"/>
          <p:cNvSpPr/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/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65" name="Shape 27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Shape 28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Shape 29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标题和竖排文字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Shape 50"/>
          <p:cNvSpPr txBox="1"/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1" name="Shape 5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Shape 5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Shape 5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竖排标题与文本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/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Shape 16"/>
          <p:cNvSpPr txBox="1"/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7" name="Shape 17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8" name="Shape 18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Shape 19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 panose="020B0604020202020204"/>
              <a:buNone/>
              <a:defRPr sz="33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7" name="Shape 2"/>
          <p:cNvSpPr txBox="1"/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 panose="020B0604020202020204"/>
              <a:buChar char="•"/>
              <a:defRPr sz="2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Char char="•"/>
              <a:defRPr sz="15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8" name="Shape 3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9" name="Shape 4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10" name="Shape 5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12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11.svg"/><Relationship Id="rId8" Type="http://schemas.openxmlformats.org/officeDocument/2006/relationships/image" Target="../media/image10.png"/><Relationship Id="rId7" Type="http://schemas.openxmlformats.org/officeDocument/2006/relationships/image" Target="../media/image9.svg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4" Type="http://schemas.openxmlformats.org/officeDocument/2006/relationships/image" Target="../media/image6.png"/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3" Type="http://schemas.openxmlformats.org/officeDocument/2006/relationships/notesSlide" Target="../notesSlides/notesSlide4.xml"/><Relationship Id="rId12" Type="http://schemas.openxmlformats.org/officeDocument/2006/relationships/slideLayout" Target="../slideLayouts/slideLayout12.xml"/><Relationship Id="rId11" Type="http://schemas.openxmlformats.org/officeDocument/2006/relationships/image" Target="../media/image13.svg"/><Relationship Id="rId10" Type="http://schemas.openxmlformats.org/officeDocument/2006/relationships/image" Target="../media/image12.png"/><Relationship Id="rId1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image" Target="../media/image21.svg"/><Relationship Id="rId8" Type="http://schemas.openxmlformats.org/officeDocument/2006/relationships/image" Target="../media/image20.png"/><Relationship Id="rId7" Type="http://schemas.openxmlformats.org/officeDocument/2006/relationships/image" Target="../media/image19.svg"/><Relationship Id="rId6" Type="http://schemas.openxmlformats.org/officeDocument/2006/relationships/image" Target="../media/image18.png"/><Relationship Id="rId5" Type="http://schemas.openxmlformats.org/officeDocument/2006/relationships/image" Target="../media/image17.svg"/><Relationship Id="rId4" Type="http://schemas.openxmlformats.org/officeDocument/2006/relationships/image" Target="../media/image16.png"/><Relationship Id="rId3" Type="http://schemas.openxmlformats.org/officeDocument/2006/relationships/image" Target="../media/image15.svg"/><Relationship Id="rId21" Type="http://schemas.openxmlformats.org/officeDocument/2006/relationships/notesSlide" Target="../notesSlides/notesSlide5.xml"/><Relationship Id="rId20" Type="http://schemas.openxmlformats.org/officeDocument/2006/relationships/slideLayout" Target="../slideLayouts/slideLayout12.xml"/><Relationship Id="rId2" Type="http://schemas.openxmlformats.org/officeDocument/2006/relationships/image" Target="../media/image14.png"/><Relationship Id="rId19" Type="http://schemas.openxmlformats.org/officeDocument/2006/relationships/image" Target="../media/image31.svg"/><Relationship Id="rId18" Type="http://schemas.openxmlformats.org/officeDocument/2006/relationships/image" Target="../media/image30.png"/><Relationship Id="rId17" Type="http://schemas.openxmlformats.org/officeDocument/2006/relationships/image" Target="../media/image29.svg"/><Relationship Id="rId16" Type="http://schemas.openxmlformats.org/officeDocument/2006/relationships/image" Target="../media/image28.png"/><Relationship Id="rId15" Type="http://schemas.openxmlformats.org/officeDocument/2006/relationships/image" Target="../media/image27.svg"/><Relationship Id="rId14" Type="http://schemas.openxmlformats.org/officeDocument/2006/relationships/image" Target="../media/image26.png"/><Relationship Id="rId13" Type="http://schemas.openxmlformats.org/officeDocument/2006/relationships/image" Target="../media/image25.svg"/><Relationship Id="rId12" Type="http://schemas.openxmlformats.org/officeDocument/2006/relationships/image" Target="../media/image24.png"/><Relationship Id="rId11" Type="http://schemas.openxmlformats.org/officeDocument/2006/relationships/image" Target="../media/image23.svg"/><Relationship Id="rId10" Type="http://schemas.openxmlformats.org/officeDocument/2006/relationships/image" Target="../media/image22.png"/><Relationship Id="rId1" Type="http://schemas.openxmlformats.org/officeDocument/2006/relationships/image" Target="../media/image3.jpe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image" Target="../media/image39.svg"/><Relationship Id="rId8" Type="http://schemas.openxmlformats.org/officeDocument/2006/relationships/image" Target="../media/image38.png"/><Relationship Id="rId7" Type="http://schemas.openxmlformats.org/officeDocument/2006/relationships/image" Target="../media/image37.svg"/><Relationship Id="rId6" Type="http://schemas.openxmlformats.org/officeDocument/2006/relationships/image" Target="../media/image36.png"/><Relationship Id="rId5" Type="http://schemas.openxmlformats.org/officeDocument/2006/relationships/image" Target="../media/image35.svg"/><Relationship Id="rId4" Type="http://schemas.openxmlformats.org/officeDocument/2006/relationships/image" Target="../media/image34.png"/><Relationship Id="rId3" Type="http://schemas.openxmlformats.org/officeDocument/2006/relationships/image" Target="../media/image33.svg"/><Relationship Id="rId2" Type="http://schemas.openxmlformats.org/officeDocument/2006/relationships/image" Target="../media/image32.png"/><Relationship Id="rId13" Type="http://schemas.openxmlformats.org/officeDocument/2006/relationships/notesSlide" Target="../notesSlides/notesSlide6.xml"/><Relationship Id="rId12" Type="http://schemas.openxmlformats.org/officeDocument/2006/relationships/slideLayout" Target="../slideLayouts/slideLayout12.xml"/><Relationship Id="rId11" Type="http://schemas.openxmlformats.org/officeDocument/2006/relationships/image" Target="../media/image41.svg"/><Relationship Id="rId10" Type="http://schemas.openxmlformats.org/officeDocument/2006/relationships/image" Target="../media/image40.png"/><Relationship Id="rId1" Type="http://schemas.openxmlformats.org/officeDocument/2006/relationships/image" Target="../media/image3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3.jpe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image" Target="../media/image49.svg"/><Relationship Id="rId8" Type="http://schemas.openxmlformats.org/officeDocument/2006/relationships/image" Target="../media/image48.png"/><Relationship Id="rId7" Type="http://schemas.openxmlformats.org/officeDocument/2006/relationships/image" Target="../media/image47.svg"/><Relationship Id="rId6" Type="http://schemas.openxmlformats.org/officeDocument/2006/relationships/image" Target="../media/image46.png"/><Relationship Id="rId5" Type="http://schemas.openxmlformats.org/officeDocument/2006/relationships/image" Target="../media/image45.svg"/><Relationship Id="rId4" Type="http://schemas.openxmlformats.org/officeDocument/2006/relationships/image" Target="../media/image44.png"/><Relationship Id="rId3" Type="http://schemas.openxmlformats.org/officeDocument/2006/relationships/image" Target="../media/image43.svg"/><Relationship Id="rId2" Type="http://schemas.openxmlformats.org/officeDocument/2006/relationships/image" Target="../media/image42.png"/><Relationship Id="rId13" Type="http://schemas.openxmlformats.org/officeDocument/2006/relationships/notesSlide" Target="../notesSlides/notesSlide8.xml"/><Relationship Id="rId12" Type="http://schemas.openxmlformats.org/officeDocument/2006/relationships/slideLayout" Target="../slideLayouts/slideLayout12.xml"/><Relationship Id="rId11" Type="http://schemas.openxmlformats.org/officeDocument/2006/relationships/image" Target="../media/image51.svg"/><Relationship Id="rId10" Type="http://schemas.openxmlformats.org/officeDocument/2006/relationships/image" Target="../media/image50.png"/><Relationship Id="rId1" Type="http://schemas.openxmlformats.org/officeDocument/2006/relationships/image" Target="../media/image3.jpe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9.xml"/><Relationship Id="rId8" Type="http://schemas.openxmlformats.org/officeDocument/2006/relationships/slideLayout" Target="../slideLayouts/slideLayout12.xml"/><Relationship Id="rId7" Type="http://schemas.openxmlformats.org/officeDocument/2006/relationships/image" Target="../media/image57.svg"/><Relationship Id="rId6" Type="http://schemas.openxmlformats.org/officeDocument/2006/relationships/image" Target="../media/image56.png"/><Relationship Id="rId5" Type="http://schemas.openxmlformats.org/officeDocument/2006/relationships/image" Target="../media/image55.svg"/><Relationship Id="rId4" Type="http://schemas.openxmlformats.org/officeDocument/2006/relationships/image" Target="../media/image54.png"/><Relationship Id="rId3" Type="http://schemas.openxmlformats.org/officeDocument/2006/relationships/image" Target="../media/image53.svg"/><Relationship Id="rId2" Type="http://schemas.openxmlformats.org/officeDocument/2006/relationships/image" Target="../media/image52.png"/><Relationship Id="rId1" Type="http://schemas.openxmlformats.org/officeDocument/2006/relationships/image" Target="../media/image3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3.jpeg"/></Relationships>
</file>

<file path=ppt/slides/_rels/slide11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1.xml"/><Relationship Id="rId6" Type="http://schemas.openxmlformats.org/officeDocument/2006/relationships/slideLayout" Target="../slideLayouts/slideLayout12.xml"/><Relationship Id="rId5" Type="http://schemas.openxmlformats.org/officeDocument/2006/relationships/image" Target="../media/image61.svg"/><Relationship Id="rId4" Type="http://schemas.openxmlformats.org/officeDocument/2006/relationships/image" Target="../media/image60.png"/><Relationship Id="rId3" Type="http://schemas.openxmlformats.org/officeDocument/2006/relationships/image" Target="../media/image59.svg"/><Relationship Id="rId2" Type="http://schemas.openxmlformats.org/officeDocument/2006/relationships/image" Target="../media/image58.png"/><Relationship Id="rId1" Type="http://schemas.openxmlformats.org/officeDocument/2006/relationships/image" Target="../media/image3.jpeg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image" Target="../media/image69.svg"/><Relationship Id="rId8" Type="http://schemas.openxmlformats.org/officeDocument/2006/relationships/image" Target="../media/image68.png"/><Relationship Id="rId7" Type="http://schemas.openxmlformats.org/officeDocument/2006/relationships/image" Target="../media/image67.svg"/><Relationship Id="rId6" Type="http://schemas.openxmlformats.org/officeDocument/2006/relationships/image" Target="../media/image66.png"/><Relationship Id="rId5" Type="http://schemas.openxmlformats.org/officeDocument/2006/relationships/image" Target="../media/image65.svg"/><Relationship Id="rId4" Type="http://schemas.openxmlformats.org/officeDocument/2006/relationships/image" Target="../media/image64.png"/><Relationship Id="rId3" Type="http://schemas.openxmlformats.org/officeDocument/2006/relationships/image" Target="../media/image63.svg"/><Relationship Id="rId2" Type="http://schemas.openxmlformats.org/officeDocument/2006/relationships/image" Target="../media/image62.png"/><Relationship Id="rId15" Type="http://schemas.openxmlformats.org/officeDocument/2006/relationships/notesSlide" Target="../notesSlides/notesSlide12.xml"/><Relationship Id="rId14" Type="http://schemas.openxmlformats.org/officeDocument/2006/relationships/slideLayout" Target="../slideLayouts/slideLayout12.xml"/><Relationship Id="rId13" Type="http://schemas.openxmlformats.org/officeDocument/2006/relationships/image" Target="../media/image73.svg"/><Relationship Id="rId12" Type="http://schemas.openxmlformats.org/officeDocument/2006/relationships/image" Target="../media/image72.png"/><Relationship Id="rId11" Type="http://schemas.openxmlformats.org/officeDocument/2006/relationships/image" Target="../media/image71.svg"/><Relationship Id="rId10" Type="http://schemas.openxmlformats.org/officeDocument/2006/relationships/image" Target="../media/image70.png"/><Relationship Id="rId1" Type="http://schemas.openxmlformats.org/officeDocument/2006/relationships/image" Target="../media/image3.jpe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3.xml"/><Relationship Id="rId7" Type="http://schemas.openxmlformats.org/officeDocument/2006/relationships/slideLayout" Target="../slideLayouts/slideLayout12.xml"/><Relationship Id="rId6" Type="http://schemas.openxmlformats.org/officeDocument/2006/relationships/image" Target="../media/image77.svg"/><Relationship Id="rId5" Type="http://schemas.openxmlformats.org/officeDocument/2006/relationships/image" Target="../media/image76.png"/><Relationship Id="rId4" Type="http://schemas.openxmlformats.org/officeDocument/2006/relationships/image" Target="../media/image75.svg"/><Relationship Id="rId3" Type="http://schemas.openxmlformats.org/officeDocument/2006/relationships/image" Target="../media/image74.png"/><Relationship Id="rId2" Type="http://schemas.openxmlformats.org/officeDocument/2006/relationships/image" Target="../media/image52.png"/><Relationship Id="rId1" Type="http://schemas.openxmlformats.org/officeDocument/2006/relationships/image" Target="../media/image3.jpeg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14.xml"/><Relationship Id="rId8" Type="http://schemas.openxmlformats.org/officeDocument/2006/relationships/slideLayout" Target="../slideLayouts/slideLayout12.xml"/><Relationship Id="rId7" Type="http://schemas.openxmlformats.org/officeDocument/2006/relationships/image" Target="../media/image83.svg"/><Relationship Id="rId6" Type="http://schemas.openxmlformats.org/officeDocument/2006/relationships/image" Target="../media/image82.png"/><Relationship Id="rId5" Type="http://schemas.openxmlformats.org/officeDocument/2006/relationships/image" Target="../media/image81.svg"/><Relationship Id="rId4" Type="http://schemas.openxmlformats.org/officeDocument/2006/relationships/image" Target="../media/image80.png"/><Relationship Id="rId3" Type="http://schemas.openxmlformats.org/officeDocument/2006/relationships/image" Target="../media/image79.svg"/><Relationship Id="rId2" Type="http://schemas.openxmlformats.org/officeDocument/2006/relationships/image" Target="../media/image78.png"/><Relationship Id="rId1" Type="http://schemas.openxmlformats.org/officeDocument/2006/relationships/image" Target="../media/image3.jpeg"/></Relationships>
</file>

<file path=ppt/slides/_rels/slide15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5.xml"/><Relationship Id="rId6" Type="http://schemas.openxmlformats.org/officeDocument/2006/relationships/slideLayout" Target="../slideLayouts/slideLayout12.xml"/><Relationship Id="rId5" Type="http://schemas.openxmlformats.org/officeDocument/2006/relationships/image" Target="../media/image87.svg"/><Relationship Id="rId4" Type="http://schemas.openxmlformats.org/officeDocument/2006/relationships/image" Target="../media/image86.png"/><Relationship Id="rId3" Type="http://schemas.openxmlformats.org/officeDocument/2006/relationships/image" Target="../media/image85.svg"/><Relationship Id="rId2" Type="http://schemas.openxmlformats.org/officeDocument/2006/relationships/image" Target="../media/image84.png"/><Relationship Id="rId1" Type="http://schemas.openxmlformats.org/officeDocument/2006/relationships/image" Target="../media/image3.jpeg"/>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image" Target="../media/image95.svg"/><Relationship Id="rId8" Type="http://schemas.openxmlformats.org/officeDocument/2006/relationships/image" Target="../media/image94.png"/><Relationship Id="rId7" Type="http://schemas.openxmlformats.org/officeDocument/2006/relationships/image" Target="../media/image93.svg"/><Relationship Id="rId6" Type="http://schemas.openxmlformats.org/officeDocument/2006/relationships/image" Target="../media/image92.png"/><Relationship Id="rId5" Type="http://schemas.openxmlformats.org/officeDocument/2006/relationships/image" Target="../media/image91.svg"/><Relationship Id="rId4" Type="http://schemas.openxmlformats.org/officeDocument/2006/relationships/image" Target="../media/image90.png"/><Relationship Id="rId3" Type="http://schemas.openxmlformats.org/officeDocument/2006/relationships/image" Target="../media/image89.svg"/><Relationship Id="rId2" Type="http://schemas.openxmlformats.org/officeDocument/2006/relationships/image" Target="../media/image88.png"/><Relationship Id="rId11" Type="http://schemas.openxmlformats.org/officeDocument/2006/relationships/notesSlide" Target="../notesSlides/notesSlide16.xml"/><Relationship Id="rId10" Type="http://schemas.openxmlformats.org/officeDocument/2006/relationships/slideLayout" Target="../slideLayouts/slideLayout12.xml"/><Relationship Id="rId1" Type="http://schemas.openxmlformats.org/officeDocument/2006/relationships/image" Target="../media/image3.jpeg"/></Relationships>
</file>

<file path=ppt/slides/_rels/slide17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17.xml"/><Relationship Id="rId8" Type="http://schemas.openxmlformats.org/officeDocument/2006/relationships/slideLayout" Target="../slideLayouts/slideLayout12.xml"/><Relationship Id="rId7" Type="http://schemas.openxmlformats.org/officeDocument/2006/relationships/image" Target="../media/image101.svg"/><Relationship Id="rId6" Type="http://schemas.openxmlformats.org/officeDocument/2006/relationships/image" Target="../media/image100.png"/><Relationship Id="rId5" Type="http://schemas.openxmlformats.org/officeDocument/2006/relationships/image" Target="../media/image99.svg"/><Relationship Id="rId4" Type="http://schemas.openxmlformats.org/officeDocument/2006/relationships/image" Target="../media/image98.png"/><Relationship Id="rId3" Type="http://schemas.openxmlformats.org/officeDocument/2006/relationships/image" Target="../media/image97.svg"/><Relationship Id="rId2" Type="http://schemas.openxmlformats.org/officeDocument/2006/relationships/image" Target="../media/image96.png"/><Relationship Id="rId1" Type="http://schemas.openxmlformats.org/officeDocument/2006/relationships/image" Target="../media/image3.jpeg"/></Relationships>
</file>

<file path=ppt/slides/_rels/slide18.xml.rels><?xml version="1.0" encoding="UTF-8" standalone="yes"?>
<Relationships xmlns="http://schemas.openxmlformats.org/package/2006/relationships"><Relationship Id="rId9" Type="http://schemas.openxmlformats.org/officeDocument/2006/relationships/image" Target="../media/image107.svg"/><Relationship Id="rId8" Type="http://schemas.openxmlformats.org/officeDocument/2006/relationships/image" Target="../media/image106.png"/><Relationship Id="rId7" Type="http://schemas.openxmlformats.org/officeDocument/2006/relationships/image" Target="../media/image18.png"/><Relationship Id="rId6" Type="http://schemas.openxmlformats.org/officeDocument/2006/relationships/image" Target="../media/image105.svg"/><Relationship Id="rId5" Type="http://schemas.openxmlformats.org/officeDocument/2006/relationships/image" Target="../media/image104.png"/><Relationship Id="rId4" Type="http://schemas.openxmlformats.org/officeDocument/2006/relationships/image" Target="../media/image14.png"/><Relationship Id="rId3" Type="http://schemas.openxmlformats.org/officeDocument/2006/relationships/image" Target="../media/image103.svg"/><Relationship Id="rId2" Type="http://schemas.openxmlformats.org/officeDocument/2006/relationships/image" Target="../media/image102.png"/><Relationship Id="rId19" Type="http://schemas.openxmlformats.org/officeDocument/2006/relationships/notesSlide" Target="../notesSlides/notesSlide18.xml"/><Relationship Id="rId18" Type="http://schemas.openxmlformats.org/officeDocument/2006/relationships/slideLayout" Target="../slideLayouts/slideLayout12.xml"/><Relationship Id="rId17" Type="http://schemas.openxmlformats.org/officeDocument/2006/relationships/image" Target="../media/image115.svg"/><Relationship Id="rId16" Type="http://schemas.openxmlformats.org/officeDocument/2006/relationships/image" Target="../media/image114.png"/><Relationship Id="rId15" Type="http://schemas.openxmlformats.org/officeDocument/2006/relationships/image" Target="../media/image113.svg"/><Relationship Id="rId14" Type="http://schemas.openxmlformats.org/officeDocument/2006/relationships/image" Target="../media/image112.png"/><Relationship Id="rId13" Type="http://schemas.openxmlformats.org/officeDocument/2006/relationships/image" Target="../media/image111.svg"/><Relationship Id="rId12" Type="http://schemas.openxmlformats.org/officeDocument/2006/relationships/image" Target="../media/image110.png"/><Relationship Id="rId11" Type="http://schemas.openxmlformats.org/officeDocument/2006/relationships/image" Target="../media/image109.svg"/><Relationship Id="rId10" Type="http://schemas.openxmlformats.org/officeDocument/2006/relationships/image" Target="../media/image108.png"/><Relationship Id="rId1" Type="http://schemas.openxmlformats.org/officeDocument/2006/relationships/image" Target="../media/image3.jpeg"/></Relationships>
</file>

<file path=ppt/slides/_rels/slide19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9.xml"/><Relationship Id="rId6" Type="http://schemas.openxmlformats.org/officeDocument/2006/relationships/slideLayout" Target="../slideLayouts/slideLayout12.xml"/><Relationship Id="rId5" Type="http://schemas.openxmlformats.org/officeDocument/2006/relationships/image" Target="../media/image117.svg"/><Relationship Id="rId4" Type="http://schemas.openxmlformats.org/officeDocument/2006/relationships/image" Target="../media/image116.png"/><Relationship Id="rId3" Type="http://schemas.openxmlformats.org/officeDocument/2006/relationships/image" Target="../media/image59.svg"/><Relationship Id="rId2" Type="http://schemas.openxmlformats.org/officeDocument/2006/relationships/image" Target="../media/image58.png"/><Relationship Id="rId1" Type="http://schemas.openxmlformats.org/officeDocument/2006/relationships/image" Target="../media/image3.jpeg"/></Relationships>
</file>

<file path=ppt/slides/_rels/slide20.xml.rels><?xml version="1.0" encoding="UTF-8" standalone="yes"?>
<Relationships xmlns="http://schemas.openxmlformats.org/package/2006/relationships"><Relationship Id="rId9" Type="http://schemas.openxmlformats.org/officeDocument/2006/relationships/image" Target="../media/image125.svg"/><Relationship Id="rId8" Type="http://schemas.openxmlformats.org/officeDocument/2006/relationships/image" Target="../media/image124.png"/><Relationship Id="rId7" Type="http://schemas.openxmlformats.org/officeDocument/2006/relationships/image" Target="../media/image123.svg"/><Relationship Id="rId6" Type="http://schemas.openxmlformats.org/officeDocument/2006/relationships/image" Target="../media/image122.png"/><Relationship Id="rId5" Type="http://schemas.openxmlformats.org/officeDocument/2006/relationships/image" Target="../media/image121.svg"/><Relationship Id="rId4" Type="http://schemas.openxmlformats.org/officeDocument/2006/relationships/image" Target="../media/image120.png"/><Relationship Id="rId3" Type="http://schemas.openxmlformats.org/officeDocument/2006/relationships/image" Target="../media/image119.svg"/><Relationship Id="rId2" Type="http://schemas.openxmlformats.org/officeDocument/2006/relationships/image" Target="../media/image118.png"/><Relationship Id="rId13" Type="http://schemas.openxmlformats.org/officeDocument/2006/relationships/notesSlide" Target="../notesSlides/notesSlide20.xml"/><Relationship Id="rId12" Type="http://schemas.openxmlformats.org/officeDocument/2006/relationships/slideLayout" Target="../slideLayouts/slideLayout12.xml"/><Relationship Id="rId11" Type="http://schemas.openxmlformats.org/officeDocument/2006/relationships/image" Target="../media/image127.svg"/><Relationship Id="rId10" Type="http://schemas.openxmlformats.org/officeDocument/2006/relationships/image" Target="../media/image126.png"/><Relationship Id="rId1" Type="http://schemas.openxmlformats.org/officeDocument/2006/relationships/image" Target="../media/image3.jpeg"/></Relationships>
</file>

<file path=ppt/slides/_rels/slide21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21.xml"/><Relationship Id="rId8" Type="http://schemas.openxmlformats.org/officeDocument/2006/relationships/slideLayout" Target="../slideLayouts/slideLayout12.xml"/><Relationship Id="rId7" Type="http://schemas.openxmlformats.org/officeDocument/2006/relationships/image" Target="../media/image131.svg"/><Relationship Id="rId6" Type="http://schemas.openxmlformats.org/officeDocument/2006/relationships/image" Target="../media/image130.png"/><Relationship Id="rId5" Type="http://schemas.openxmlformats.org/officeDocument/2006/relationships/image" Target="../media/image75.svg"/><Relationship Id="rId4" Type="http://schemas.openxmlformats.org/officeDocument/2006/relationships/image" Target="../media/image74.png"/><Relationship Id="rId3" Type="http://schemas.openxmlformats.org/officeDocument/2006/relationships/image" Target="../media/image129.svg"/><Relationship Id="rId2" Type="http://schemas.openxmlformats.org/officeDocument/2006/relationships/image" Target="../media/image128.png"/><Relationship Id="rId1" Type="http://schemas.openxmlformats.org/officeDocument/2006/relationships/image" Target="../media/image3.jpeg"/></Relationships>
</file>

<file path=ppt/slides/_rels/slide22.xml.rels><?xml version="1.0" encoding="UTF-8" standalone="yes"?>
<Relationships xmlns="http://schemas.openxmlformats.org/package/2006/relationships"><Relationship Id="rId9" Type="http://schemas.openxmlformats.org/officeDocument/2006/relationships/image" Target="../media/image137.svg"/><Relationship Id="rId8" Type="http://schemas.openxmlformats.org/officeDocument/2006/relationships/image" Target="../media/image136.png"/><Relationship Id="rId7" Type="http://schemas.openxmlformats.org/officeDocument/2006/relationships/image" Target="../media/image135.svg"/><Relationship Id="rId6" Type="http://schemas.openxmlformats.org/officeDocument/2006/relationships/image" Target="../media/image134.png"/><Relationship Id="rId5" Type="http://schemas.openxmlformats.org/officeDocument/2006/relationships/image" Target="../media/image121.svg"/><Relationship Id="rId4" Type="http://schemas.openxmlformats.org/officeDocument/2006/relationships/image" Target="../media/image120.png"/><Relationship Id="rId3" Type="http://schemas.openxmlformats.org/officeDocument/2006/relationships/image" Target="../media/image133.svg"/><Relationship Id="rId2" Type="http://schemas.openxmlformats.org/officeDocument/2006/relationships/image" Target="../media/image132.png"/><Relationship Id="rId11" Type="http://schemas.openxmlformats.org/officeDocument/2006/relationships/notesSlide" Target="../notesSlides/notesSlide22.xml"/><Relationship Id="rId10" Type="http://schemas.openxmlformats.org/officeDocument/2006/relationships/slideLayout" Target="../slideLayouts/slideLayout12.xml"/><Relationship Id="rId1" Type="http://schemas.openxmlformats.org/officeDocument/2006/relationships/image" Target="../media/image3.jpeg"/></Relationships>
</file>

<file path=ppt/slides/_rels/slide23.xml.rels><?xml version="1.0" encoding="UTF-8" standalone="yes"?>
<Relationships xmlns="http://schemas.openxmlformats.org/package/2006/relationships"><Relationship Id="rId9" Type="http://schemas.openxmlformats.org/officeDocument/2006/relationships/image" Target="../media/image142.png"/><Relationship Id="rId8" Type="http://schemas.openxmlformats.org/officeDocument/2006/relationships/image" Target="../media/image141.svg"/><Relationship Id="rId7" Type="http://schemas.openxmlformats.org/officeDocument/2006/relationships/image" Target="../media/image140.png"/><Relationship Id="rId6" Type="http://schemas.openxmlformats.org/officeDocument/2006/relationships/image" Target="../media/image139.svg"/><Relationship Id="rId5" Type="http://schemas.openxmlformats.org/officeDocument/2006/relationships/image" Target="../media/image138.png"/><Relationship Id="rId4" Type="http://schemas.openxmlformats.org/officeDocument/2006/relationships/image" Target="../media/image99.svg"/><Relationship Id="rId3" Type="http://schemas.openxmlformats.org/officeDocument/2006/relationships/image" Target="../media/image98.png"/><Relationship Id="rId2" Type="http://schemas.openxmlformats.org/officeDocument/2006/relationships/image" Target="../media/image52.png"/><Relationship Id="rId12" Type="http://schemas.openxmlformats.org/officeDocument/2006/relationships/notesSlide" Target="../notesSlides/notesSlide23.xml"/><Relationship Id="rId11" Type="http://schemas.openxmlformats.org/officeDocument/2006/relationships/slideLayout" Target="../slideLayouts/slideLayout12.xml"/><Relationship Id="rId10" Type="http://schemas.openxmlformats.org/officeDocument/2006/relationships/image" Target="../media/image143.svg"/><Relationship Id="rId1" Type="http://schemas.openxmlformats.org/officeDocument/2006/relationships/image" Target="../media/image3.jpeg"/></Relationships>
</file>

<file path=ppt/slides/_rels/slide24.xml.rels><?xml version="1.0" encoding="UTF-8" standalone="yes"?>
<Relationships xmlns="http://schemas.openxmlformats.org/package/2006/relationships"><Relationship Id="rId9" Type="http://schemas.openxmlformats.org/officeDocument/2006/relationships/image" Target="../media/image147.svg"/><Relationship Id="rId8" Type="http://schemas.openxmlformats.org/officeDocument/2006/relationships/image" Target="../media/image146.png"/><Relationship Id="rId7" Type="http://schemas.openxmlformats.org/officeDocument/2006/relationships/image" Target="../media/image59.svg"/><Relationship Id="rId6" Type="http://schemas.openxmlformats.org/officeDocument/2006/relationships/image" Target="../media/image58.png"/><Relationship Id="rId5" Type="http://schemas.openxmlformats.org/officeDocument/2006/relationships/image" Target="../media/image89.svg"/><Relationship Id="rId4" Type="http://schemas.openxmlformats.org/officeDocument/2006/relationships/image" Target="../media/image88.png"/><Relationship Id="rId3" Type="http://schemas.openxmlformats.org/officeDocument/2006/relationships/image" Target="../media/image145.svg"/><Relationship Id="rId22" Type="http://schemas.openxmlformats.org/officeDocument/2006/relationships/notesSlide" Target="../notesSlides/notesSlide24.xml"/><Relationship Id="rId21" Type="http://schemas.openxmlformats.org/officeDocument/2006/relationships/slideLayout" Target="../slideLayouts/slideLayout12.xml"/><Relationship Id="rId20" Type="http://schemas.openxmlformats.org/officeDocument/2006/relationships/image" Target="../media/image157.svg"/><Relationship Id="rId2" Type="http://schemas.openxmlformats.org/officeDocument/2006/relationships/image" Target="../media/image144.png"/><Relationship Id="rId19" Type="http://schemas.openxmlformats.org/officeDocument/2006/relationships/image" Target="../media/image156.png"/><Relationship Id="rId18" Type="http://schemas.openxmlformats.org/officeDocument/2006/relationships/image" Target="../media/image155.svg"/><Relationship Id="rId17" Type="http://schemas.openxmlformats.org/officeDocument/2006/relationships/image" Target="../media/image154.png"/><Relationship Id="rId16" Type="http://schemas.openxmlformats.org/officeDocument/2006/relationships/image" Target="../media/image32.png"/><Relationship Id="rId15" Type="http://schemas.openxmlformats.org/officeDocument/2006/relationships/image" Target="../media/image153.svg"/><Relationship Id="rId14" Type="http://schemas.openxmlformats.org/officeDocument/2006/relationships/image" Target="../media/image152.png"/><Relationship Id="rId13" Type="http://schemas.openxmlformats.org/officeDocument/2006/relationships/image" Target="../media/image151.svg"/><Relationship Id="rId12" Type="http://schemas.openxmlformats.org/officeDocument/2006/relationships/image" Target="../media/image150.png"/><Relationship Id="rId11" Type="http://schemas.openxmlformats.org/officeDocument/2006/relationships/image" Target="../media/image149.svg"/><Relationship Id="rId10" Type="http://schemas.openxmlformats.org/officeDocument/2006/relationships/image" Target="../media/image148.png"/><Relationship Id="rId1" Type="http://schemas.openxmlformats.org/officeDocument/2006/relationships/image" Target="../media/image3.jpeg"/></Relationships>
</file>

<file path=ppt/slides/_rels/slide25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25.xml"/><Relationship Id="rId6" Type="http://schemas.openxmlformats.org/officeDocument/2006/relationships/slideLayout" Target="../slideLayouts/slideLayout12.xml"/><Relationship Id="rId5" Type="http://schemas.openxmlformats.org/officeDocument/2006/relationships/image" Target="../media/image159.svg"/><Relationship Id="rId4" Type="http://schemas.openxmlformats.org/officeDocument/2006/relationships/image" Target="../media/image158.png"/><Relationship Id="rId3" Type="http://schemas.openxmlformats.org/officeDocument/2006/relationships/image" Target="../media/image59.svg"/><Relationship Id="rId2" Type="http://schemas.openxmlformats.org/officeDocument/2006/relationships/image" Target="../media/image58.png"/><Relationship Id="rId1" Type="http://schemas.openxmlformats.org/officeDocument/2006/relationships/image" Target="../media/image3.jpe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6.xml"/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3.jpeg"/></Relationships>
</file>

<file path=ppt/slides/_rels/slide27.xml.rels><?xml version="1.0" encoding="UTF-8" standalone="yes"?>
<Relationships xmlns="http://schemas.openxmlformats.org/package/2006/relationships"><Relationship Id="rId9" Type="http://schemas.openxmlformats.org/officeDocument/2006/relationships/image" Target="../media/image167.svg"/><Relationship Id="rId8" Type="http://schemas.openxmlformats.org/officeDocument/2006/relationships/image" Target="../media/image166.png"/><Relationship Id="rId7" Type="http://schemas.openxmlformats.org/officeDocument/2006/relationships/image" Target="../media/image165.svg"/><Relationship Id="rId6" Type="http://schemas.openxmlformats.org/officeDocument/2006/relationships/image" Target="../media/image164.png"/><Relationship Id="rId5" Type="http://schemas.openxmlformats.org/officeDocument/2006/relationships/image" Target="../media/image163.svg"/><Relationship Id="rId4" Type="http://schemas.openxmlformats.org/officeDocument/2006/relationships/image" Target="../media/image162.png"/><Relationship Id="rId3" Type="http://schemas.openxmlformats.org/officeDocument/2006/relationships/image" Target="../media/image161.svg"/><Relationship Id="rId2" Type="http://schemas.openxmlformats.org/officeDocument/2006/relationships/image" Target="../media/image160.png"/><Relationship Id="rId19" Type="http://schemas.openxmlformats.org/officeDocument/2006/relationships/notesSlide" Target="../notesSlides/notesSlide27.xml"/><Relationship Id="rId18" Type="http://schemas.openxmlformats.org/officeDocument/2006/relationships/slideLayout" Target="../slideLayouts/slideLayout12.xml"/><Relationship Id="rId17" Type="http://schemas.openxmlformats.org/officeDocument/2006/relationships/image" Target="../media/image175.svg"/><Relationship Id="rId16" Type="http://schemas.openxmlformats.org/officeDocument/2006/relationships/image" Target="../media/image174.png"/><Relationship Id="rId15" Type="http://schemas.openxmlformats.org/officeDocument/2006/relationships/image" Target="../media/image173.svg"/><Relationship Id="rId14" Type="http://schemas.openxmlformats.org/officeDocument/2006/relationships/image" Target="../media/image172.png"/><Relationship Id="rId13" Type="http://schemas.openxmlformats.org/officeDocument/2006/relationships/image" Target="../media/image171.svg"/><Relationship Id="rId12" Type="http://schemas.openxmlformats.org/officeDocument/2006/relationships/image" Target="../media/image170.png"/><Relationship Id="rId11" Type="http://schemas.openxmlformats.org/officeDocument/2006/relationships/image" Target="../media/image169.svg"/><Relationship Id="rId10" Type="http://schemas.openxmlformats.org/officeDocument/2006/relationships/image" Target="../media/image168.png"/><Relationship Id="rId1" Type="http://schemas.openxmlformats.org/officeDocument/2006/relationships/image" Target="../media/image3.jpeg"/></Relationships>
</file>

<file path=ppt/slides/_rels/slide28.xml.rels><?xml version="1.0" encoding="UTF-8" standalone="yes"?>
<Relationships xmlns="http://schemas.openxmlformats.org/package/2006/relationships"><Relationship Id="rId9" Type="http://schemas.openxmlformats.org/officeDocument/2006/relationships/image" Target="../media/image181.svg"/><Relationship Id="rId8" Type="http://schemas.openxmlformats.org/officeDocument/2006/relationships/image" Target="../media/image180.png"/><Relationship Id="rId7" Type="http://schemas.openxmlformats.org/officeDocument/2006/relationships/image" Target="../media/image179.svg"/><Relationship Id="rId6" Type="http://schemas.openxmlformats.org/officeDocument/2006/relationships/image" Target="../media/image178.png"/><Relationship Id="rId5" Type="http://schemas.openxmlformats.org/officeDocument/2006/relationships/image" Target="../media/image177.svg"/><Relationship Id="rId4" Type="http://schemas.openxmlformats.org/officeDocument/2006/relationships/image" Target="../media/image176.png"/><Relationship Id="rId3" Type="http://schemas.openxmlformats.org/officeDocument/2006/relationships/image" Target="../media/image135.svg"/><Relationship Id="rId2" Type="http://schemas.openxmlformats.org/officeDocument/2006/relationships/image" Target="../media/image134.png"/><Relationship Id="rId15" Type="http://schemas.openxmlformats.org/officeDocument/2006/relationships/notesSlide" Target="../notesSlides/notesSlide28.xml"/><Relationship Id="rId14" Type="http://schemas.openxmlformats.org/officeDocument/2006/relationships/slideLayout" Target="../slideLayouts/slideLayout12.xml"/><Relationship Id="rId13" Type="http://schemas.openxmlformats.org/officeDocument/2006/relationships/image" Target="../media/image183.svg"/><Relationship Id="rId12" Type="http://schemas.openxmlformats.org/officeDocument/2006/relationships/image" Target="../media/image182.png"/><Relationship Id="rId11" Type="http://schemas.openxmlformats.org/officeDocument/2006/relationships/image" Target="../media/image175.svg"/><Relationship Id="rId10" Type="http://schemas.openxmlformats.org/officeDocument/2006/relationships/image" Target="../media/image174.png"/><Relationship Id="rId1" Type="http://schemas.openxmlformats.org/officeDocument/2006/relationships/image" Target="../media/image3.jpeg"/></Relationships>
</file>

<file path=ppt/slides/_rels/slide29.xml.rels><?xml version="1.0" encoding="UTF-8" standalone="yes"?>
<Relationships xmlns="http://schemas.openxmlformats.org/package/2006/relationships"><Relationship Id="rId9" Type="http://schemas.openxmlformats.org/officeDocument/2006/relationships/image" Target="../media/image191.svg"/><Relationship Id="rId8" Type="http://schemas.openxmlformats.org/officeDocument/2006/relationships/image" Target="../media/image190.png"/><Relationship Id="rId7" Type="http://schemas.openxmlformats.org/officeDocument/2006/relationships/image" Target="../media/image189.svg"/><Relationship Id="rId6" Type="http://schemas.openxmlformats.org/officeDocument/2006/relationships/image" Target="../media/image188.png"/><Relationship Id="rId5" Type="http://schemas.openxmlformats.org/officeDocument/2006/relationships/image" Target="../media/image187.svg"/><Relationship Id="rId4" Type="http://schemas.openxmlformats.org/officeDocument/2006/relationships/image" Target="../media/image186.png"/><Relationship Id="rId3" Type="http://schemas.openxmlformats.org/officeDocument/2006/relationships/image" Target="../media/image185.svg"/><Relationship Id="rId2" Type="http://schemas.openxmlformats.org/officeDocument/2006/relationships/image" Target="../media/image184.png"/><Relationship Id="rId11" Type="http://schemas.openxmlformats.org/officeDocument/2006/relationships/notesSlide" Target="../notesSlides/notesSlide29.xml"/><Relationship Id="rId10" Type="http://schemas.openxmlformats.org/officeDocument/2006/relationships/slideLayout" Target="../slideLayouts/slideLayout12.xml"/><Relationship Id="rId1" Type="http://schemas.openxmlformats.org/officeDocument/2006/relationships/image" Target="../media/image3.jpeg"/></Relationships>
</file>

<file path=ppt/slides/_rels/slide30.xml.rels><?xml version="1.0" encoding="UTF-8" standalone="yes"?>
<Relationships xmlns="http://schemas.openxmlformats.org/package/2006/relationships"><Relationship Id="rId9" Type="http://schemas.openxmlformats.org/officeDocument/2006/relationships/image" Target="../media/image199.svg"/><Relationship Id="rId8" Type="http://schemas.openxmlformats.org/officeDocument/2006/relationships/image" Target="../media/image198.png"/><Relationship Id="rId7" Type="http://schemas.openxmlformats.org/officeDocument/2006/relationships/image" Target="../media/image197.svg"/><Relationship Id="rId6" Type="http://schemas.openxmlformats.org/officeDocument/2006/relationships/image" Target="../media/image196.png"/><Relationship Id="rId5" Type="http://schemas.openxmlformats.org/officeDocument/2006/relationships/image" Target="../media/image195.svg"/><Relationship Id="rId4" Type="http://schemas.openxmlformats.org/officeDocument/2006/relationships/image" Target="../media/image194.png"/><Relationship Id="rId3" Type="http://schemas.openxmlformats.org/officeDocument/2006/relationships/image" Target="../media/image193.svg"/><Relationship Id="rId2" Type="http://schemas.openxmlformats.org/officeDocument/2006/relationships/image" Target="../media/image192.png"/><Relationship Id="rId11" Type="http://schemas.openxmlformats.org/officeDocument/2006/relationships/notesSlide" Target="../notesSlides/notesSlide30.xml"/><Relationship Id="rId10" Type="http://schemas.openxmlformats.org/officeDocument/2006/relationships/slideLayout" Target="../slideLayouts/slideLayout12.xml"/><Relationship Id="rId1" Type="http://schemas.openxmlformats.org/officeDocument/2006/relationships/image" Target="../media/image3.jpeg"/></Relationships>
</file>

<file path=ppt/slides/_rels/slide31.xml.rels><?xml version="1.0" encoding="UTF-8" standalone="yes"?>
<Relationships xmlns="http://schemas.openxmlformats.org/package/2006/relationships"><Relationship Id="rId9" Type="http://schemas.openxmlformats.org/officeDocument/2006/relationships/image" Target="../media/image157.svg"/><Relationship Id="rId8" Type="http://schemas.openxmlformats.org/officeDocument/2006/relationships/image" Target="../media/image156.png"/><Relationship Id="rId7" Type="http://schemas.openxmlformats.org/officeDocument/2006/relationships/image" Target="../media/image203.svg"/><Relationship Id="rId6" Type="http://schemas.openxmlformats.org/officeDocument/2006/relationships/image" Target="../media/image202.png"/><Relationship Id="rId5" Type="http://schemas.openxmlformats.org/officeDocument/2006/relationships/image" Target="../media/image169.svg"/><Relationship Id="rId4" Type="http://schemas.openxmlformats.org/officeDocument/2006/relationships/image" Target="../media/image168.png"/><Relationship Id="rId3" Type="http://schemas.openxmlformats.org/officeDocument/2006/relationships/image" Target="../media/image201.svg"/><Relationship Id="rId2" Type="http://schemas.openxmlformats.org/officeDocument/2006/relationships/image" Target="../media/image200.png"/><Relationship Id="rId15" Type="http://schemas.openxmlformats.org/officeDocument/2006/relationships/notesSlide" Target="../notesSlides/notesSlide31.xml"/><Relationship Id="rId14" Type="http://schemas.openxmlformats.org/officeDocument/2006/relationships/slideLayout" Target="../slideLayouts/slideLayout12.xml"/><Relationship Id="rId13" Type="http://schemas.openxmlformats.org/officeDocument/2006/relationships/image" Target="../media/image207.svg"/><Relationship Id="rId12" Type="http://schemas.openxmlformats.org/officeDocument/2006/relationships/image" Target="../media/image206.png"/><Relationship Id="rId11" Type="http://schemas.openxmlformats.org/officeDocument/2006/relationships/image" Target="../media/image205.svg"/><Relationship Id="rId10" Type="http://schemas.openxmlformats.org/officeDocument/2006/relationships/image" Target="../media/image204.png"/><Relationship Id="rId1" Type="http://schemas.openxmlformats.org/officeDocument/2006/relationships/image" Target="../media/image3.jpeg"/></Relationships>
</file>

<file path=ppt/slides/_rels/slide3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2.xml"/><Relationship Id="rId8" Type="http://schemas.openxmlformats.org/officeDocument/2006/relationships/image" Target="../media/image16.png"/><Relationship Id="rId7" Type="http://schemas.openxmlformats.org/officeDocument/2006/relationships/image" Target="../media/image213.svg"/><Relationship Id="rId6" Type="http://schemas.openxmlformats.org/officeDocument/2006/relationships/image" Target="../media/image212.png"/><Relationship Id="rId5" Type="http://schemas.openxmlformats.org/officeDocument/2006/relationships/image" Target="../media/image211.svg"/><Relationship Id="rId4" Type="http://schemas.openxmlformats.org/officeDocument/2006/relationships/image" Target="../media/image210.png"/><Relationship Id="rId3" Type="http://schemas.openxmlformats.org/officeDocument/2006/relationships/image" Target="../media/image209.svg"/><Relationship Id="rId2" Type="http://schemas.openxmlformats.org/officeDocument/2006/relationships/image" Target="../media/image208.png"/><Relationship Id="rId10" Type="http://schemas.openxmlformats.org/officeDocument/2006/relationships/notesSlide" Target="../notesSlides/notesSlide32.xml"/><Relationship Id="rId1" Type="http://schemas.openxmlformats.org/officeDocument/2006/relationships/image" Target="../media/image3.jpeg"/></Relationships>
</file>

<file path=ppt/slides/_rels/slide33.xml.rels><?xml version="1.0" encoding="UTF-8" standalone="yes"?>
<Relationships xmlns="http://schemas.openxmlformats.org/package/2006/relationships"><Relationship Id="rId9" Type="http://schemas.openxmlformats.org/officeDocument/2006/relationships/image" Target="../media/image221.svg"/><Relationship Id="rId8" Type="http://schemas.openxmlformats.org/officeDocument/2006/relationships/image" Target="../media/image220.png"/><Relationship Id="rId7" Type="http://schemas.openxmlformats.org/officeDocument/2006/relationships/image" Target="../media/image219.svg"/><Relationship Id="rId6" Type="http://schemas.openxmlformats.org/officeDocument/2006/relationships/image" Target="../media/image218.png"/><Relationship Id="rId5" Type="http://schemas.openxmlformats.org/officeDocument/2006/relationships/image" Target="../media/image217.svg"/><Relationship Id="rId4" Type="http://schemas.openxmlformats.org/officeDocument/2006/relationships/image" Target="../media/image216.png"/><Relationship Id="rId3" Type="http://schemas.openxmlformats.org/officeDocument/2006/relationships/image" Target="../media/image215.svg"/><Relationship Id="rId2" Type="http://schemas.openxmlformats.org/officeDocument/2006/relationships/image" Target="../media/image214.png"/><Relationship Id="rId13" Type="http://schemas.openxmlformats.org/officeDocument/2006/relationships/notesSlide" Target="../notesSlides/notesSlide33.xml"/><Relationship Id="rId12" Type="http://schemas.openxmlformats.org/officeDocument/2006/relationships/slideLayout" Target="../slideLayouts/slideLayout12.xml"/><Relationship Id="rId11" Type="http://schemas.openxmlformats.org/officeDocument/2006/relationships/image" Target="../media/image223.svg"/><Relationship Id="rId10" Type="http://schemas.openxmlformats.org/officeDocument/2006/relationships/image" Target="../media/image222.png"/><Relationship Id="rId1" Type="http://schemas.openxmlformats.org/officeDocument/2006/relationships/image" Target="../media/image3.jpeg"/></Relationships>
</file>

<file path=ppt/slides/_rels/slide34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34.xml"/><Relationship Id="rId8" Type="http://schemas.openxmlformats.org/officeDocument/2006/relationships/slideLayout" Target="../slideLayouts/slideLayout12.xml"/><Relationship Id="rId7" Type="http://schemas.openxmlformats.org/officeDocument/2006/relationships/image" Target="../media/image225.svg"/><Relationship Id="rId6" Type="http://schemas.openxmlformats.org/officeDocument/2006/relationships/image" Target="../media/image224.png"/><Relationship Id="rId5" Type="http://schemas.openxmlformats.org/officeDocument/2006/relationships/image" Target="../media/image195.svg"/><Relationship Id="rId4" Type="http://schemas.openxmlformats.org/officeDocument/2006/relationships/image" Target="../media/image194.png"/><Relationship Id="rId3" Type="http://schemas.openxmlformats.org/officeDocument/2006/relationships/image" Target="../media/image217.svg"/><Relationship Id="rId2" Type="http://schemas.openxmlformats.org/officeDocument/2006/relationships/image" Target="../media/image216.png"/><Relationship Id="rId1" Type="http://schemas.openxmlformats.org/officeDocument/2006/relationships/image" Target="../media/image3.jpeg"/></Relationships>
</file>

<file path=ppt/slides/_rels/slide35.xml.rels><?xml version="1.0" encoding="UTF-8" standalone="yes"?>
<Relationships xmlns="http://schemas.openxmlformats.org/package/2006/relationships"><Relationship Id="rId9" Type="http://schemas.openxmlformats.org/officeDocument/2006/relationships/image" Target="../media/image233.svg"/><Relationship Id="rId8" Type="http://schemas.openxmlformats.org/officeDocument/2006/relationships/image" Target="../media/image232.png"/><Relationship Id="rId7" Type="http://schemas.openxmlformats.org/officeDocument/2006/relationships/image" Target="../media/image231.svg"/><Relationship Id="rId6" Type="http://schemas.openxmlformats.org/officeDocument/2006/relationships/image" Target="../media/image230.png"/><Relationship Id="rId5" Type="http://schemas.openxmlformats.org/officeDocument/2006/relationships/image" Target="../media/image229.svg"/><Relationship Id="rId4" Type="http://schemas.openxmlformats.org/officeDocument/2006/relationships/image" Target="../media/image228.png"/><Relationship Id="rId3" Type="http://schemas.openxmlformats.org/officeDocument/2006/relationships/image" Target="../media/image227.svg"/><Relationship Id="rId26" Type="http://schemas.openxmlformats.org/officeDocument/2006/relationships/notesSlide" Target="../notesSlides/notesSlide35.xml"/><Relationship Id="rId25" Type="http://schemas.openxmlformats.org/officeDocument/2006/relationships/slideLayout" Target="../slideLayouts/slideLayout12.xml"/><Relationship Id="rId24" Type="http://schemas.openxmlformats.org/officeDocument/2006/relationships/image" Target="../media/image247.svg"/><Relationship Id="rId23" Type="http://schemas.openxmlformats.org/officeDocument/2006/relationships/image" Target="../media/image246.png"/><Relationship Id="rId22" Type="http://schemas.openxmlformats.org/officeDocument/2006/relationships/image" Target="../media/image245.svg"/><Relationship Id="rId21" Type="http://schemas.openxmlformats.org/officeDocument/2006/relationships/image" Target="../media/image244.png"/><Relationship Id="rId20" Type="http://schemas.openxmlformats.org/officeDocument/2006/relationships/image" Target="../media/image243.svg"/><Relationship Id="rId2" Type="http://schemas.openxmlformats.org/officeDocument/2006/relationships/image" Target="../media/image226.png"/><Relationship Id="rId19" Type="http://schemas.openxmlformats.org/officeDocument/2006/relationships/image" Target="../media/image242.png"/><Relationship Id="rId18" Type="http://schemas.openxmlformats.org/officeDocument/2006/relationships/image" Target="../media/image241.svg"/><Relationship Id="rId17" Type="http://schemas.openxmlformats.org/officeDocument/2006/relationships/image" Target="../media/image240.png"/><Relationship Id="rId16" Type="http://schemas.openxmlformats.org/officeDocument/2006/relationships/image" Target="../media/image239.svg"/><Relationship Id="rId15" Type="http://schemas.openxmlformats.org/officeDocument/2006/relationships/image" Target="../media/image238.png"/><Relationship Id="rId14" Type="http://schemas.openxmlformats.org/officeDocument/2006/relationships/image" Target="../media/image237.svg"/><Relationship Id="rId13" Type="http://schemas.openxmlformats.org/officeDocument/2006/relationships/image" Target="../media/image236.png"/><Relationship Id="rId12" Type="http://schemas.openxmlformats.org/officeDocument/2006/relationships/image" Target="../media/image28.png"/><Relationship Id="rId11" Type="http://schemas.openxmlformats.org/officeDocument/2006/relationships/image" Target="../media/image235.svg"/><Relationship Id="rId10" Type="http://schemas.openxmlformats.org/officeDocument/2006/relationships/image" Target="../media/image234.png"/><Relationship Id="rId1" Type="http://schemas.openxmlformats.org/officeDocument/2006/relationships/image" Target="../media/image3.jpeg"/></Relationships>
</file>

<file path=ppt/slides/_rels/slide36.xml.rels><?xml version="1.0" encoding="UTF-8" standalone="yes"?>
<Relationships xmlns="http://schemas.openxmlformats.org/package/2006/relationships"><Relationship Id="rId9" Type="http://schemas.openxmlformats.org/officeDocument/2006/relationships/image" Target="../media/image255.png"/><Relationship Id="rId8" Type="http://schemas.openxmlformats.org/officeDocument/2006/relationships/image" Target="../media/image254.svg"/><Relationship Id="rId7" Type="http://schemas.openxmlformats.org/officeDocument/2006/relationships/image" Target="../media/image253.png"/><Relationship Id="rId6" Type="http://schemas.openxmlformats.org/officeDocument/2006/relationships/image" Target="../media/image252.svg"/><Relationship Id="rId5" Type="http://schemas.openxmlformats.org/officeDocument/2006/relationships/image" Target="../media/image251.png"/><Relationship Id="rId4" Type="http://schemas.openxmlformats.org/officeDocument/2006/relationships/image" Target="../media/image250.svg"/><Relationship Id="rId3" Type="http://schemas.openxmlformats.org/officeDocument/2006/relationships/image" Target="../media/image249.png"/><Relationship Id="rId2" Type="http://schemas.openxmlformats.org/officeDocument/2006/relationships/image" Target="../media/image248.png"/><Relationship Id="rId14" Type="http://schemas.openxmlformats.org/officeDocument/2006/relationships/notesSlide" Target="../notesSlides/notesSlide36.xml"/><Relationship Id="rId13" Type="http://schemas.openxmlformats.org/officeDocument/2006/relationships/slideLayout" Target="../slideLayouts/slideLayout12.xml"/><Relationship Id="rId12" Type="http://schemas.openxmlformats.org/officeDocument/2006/relationships/image" Target="../media/image258.svg"/><Relationship Id="rId11" Type="http://schemas.openxmlformats.org/officeDocument/2006/relationships/image" Target="../media/image257.png"/><Relationship Id="rId10" Type="http://schemas.openxmlformats.org/officeDocument/2006/relationships/image" Target="../media/image256.svg"/><Relationship Id="rId1" Type="http://schemas.openxmlformats.org/officeDocument/2006/relationships/image" Target="../media/image3.jpeg"/></Relationships>
</file>

<file path=ppt/slides/_rels/slide3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7.xml"/><Relationship Id="rId3" Type="http://schemas.openxmlformats.org/officeDocument/2006/relationships/slideLayout" Target="../slideLayouts/slideLayout12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9F9F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1"/>
          <a:srcRect t="17" b="17"/>
          <a:stretch>
            <a:fillRect/>
          </a:stretch>
        </p:blipFill>
        <p:spPr>
          <a:xfrm>
            <a:off x="6934200" y="-1028700"/>
            <a:ext cx="8407400" cy="8407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4" name="AutoShape 4"/>
          <p:cNvSpPr/>
          <p:nvPr/>
        </p:nvSpPr>
        <p:spPr>
          <a:xfrm>
            <a:off x="0" y="2400300"/>
            <a:ext cx="12192000" cy="1930400"/>
          </a:xfrm>
          <a:prstGeom prst="roundRect">
            <a:avLst>
              <a:gd name="adj" fmla="val 0"/>
            </a:avLst>
          </a:prstGeom>
          <a:gradFill rotWithShape="0">
            <a:gsLst>
              <a:gs pos="0">
                <a:srgbClr val="F9F9F9">
                  <a:alpha val="100000"/>
                </a:srgbClr>
              </a:gs>
              <a:gs pos="88000">
                <a:srgbClr val="FFFFFF">
                  <a:alpha val="90000"/>
                </a:srgbClr>
              </a:gs>
            </a:gsLst>
            <a:lin ang="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2">
            <a:alphaModFix amt="46000"/>
          </a:blip>
          <a:srcRect l="123" r="123"/>
          <a:stretch>
            <a:fillRect/>
          </a:stretch>
        </p:blipFill>
        <p:spPr>
          <a:xfrm>
            <a:off x="10668000" y="2717800"/>
            <a:ext cx="1511300" cy="1193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6" name="AutoShape 6"/>
          <p:cNvSpPr/>
          <p:nvPr/>
        </p:nvSpPr>
        <p:spPr>
          <a:xfrm>
            <a:off x="1701800" y="4953000"/>
            <a:ext cx="10502900" cy="127000"/>
          </a:xfrm>
          <a:prstGeom prst="roundRect">
            <a:avLst>
              <a:gd name="adj" fmla="val 0"/>
            </a:avLst>
          </a:prstGeom>
          <a:gradFill rotWithShape="0">
            <a:gsLst>
              <a:gs pos="67000">
                <a:srgbClr val="4C67C3">
                  <a:alpha val="100000"/>
                </a:srgbClr>
              </a:gs>
              <a:gs pos="100000">
                <a:srgbClr val="FFFFFF">
                  <a:alpha val="60000"/>
                </a:srgbClr>
              </a:gs>
            </a:gsLst>
            <a:lin ang="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7" name="AutoShape 7"/>
          <p:cNvSpPr/>
          <p:nvPr/>
        </p:nvSpPr>
        <p:spPr>
          <a:xfrm rot="10800000" flipV="1">
            <a:off x="152400" y="2349500"/>
            <a:ext cx="12039600" cy="50800"/>
          </a:xfrm>
          <a:prstGeom prst="roundRect">
            <a:avLst>
              <a:gd name="adj" fmla="val 0"/>
            </a:avLst>
          </a:prstGeom>
          <a:gradFill rotWithShape="0">
            <a:gsLst>
              <a:gs pos="2000">
                <a:srgbClr val="FFFFFF">
                  <a:alpha val="100000"/>
                </a:srgbClr>
              </a:gs>
              <a:gs pos="67000">
                <a:srgbClr val="4C67C3">
                  <a:alpha val="100000"/>
                </a:srgbClr>
              </a:gs>
              <a:gs pos="100000">
                <a:srgbClr val="FFFFFF">
                  <a:alpha val="60000"/>
                </a:srgbClr>
              </a:gs>
            </a:gsLst>
            <a:lin ang="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1638300" y="4953000"/>
            <a:ext cx="127000" cy="127000"/>
          </a:xfrm>
          <a:prstGeom prst="ellipse">
            <a:avLst/>
          </a:prstGeom>
          <a:solidFill>
            <a:srgbClr val="4C67C4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/>
        </p:nvSpPr>
        <p:spPr>
          <a:xfrm>
            <a:off x="1460500" y="4953000"/>
            <a:ext cx="127000" cy="127000"/>
          </a:xfrm>
          <a:prstGeom prst="ellipse">
            <a:avLst/>
          </a:prstGeom>
          <a:solidFill>
            <a:srgbClr val="4C67C4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10"/>
          <p:cNvSpPr/>
          <p:nvPr/>
        </p:nvSpPr>
        <p:spPr>
          <a:xfrm>
            <a:off x="1257300" y="4953000"/>
            <a:ext cx="127000" cy="127000"/>
          </a:xfrm>
          <a:prstGeom prst="ellipse">
            <a:avLst/>
          </a:prstGeom>
          <a:solidFill>
            <a:srgbClr val="4C67C4">
              <a:alpha val="9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1" name="AutoShape 11"/>
          <p:cNvSpPr/>
          <p:nvPr/>
        </p:nvSpPr>
        <p:spPr>
          <a:xfrm>
            <a:off x="1054100" y="4953000"/>
            <a:ext cx="127000" cy="127000"/>
          </a:xfrm>
          <a:prstGeom prst="ellipse">
            <a:avLst/>
          </a:prstGeom>
          <a:solidFill>
            <a:srgbClr val="4C67C4">
              <a:alpha val="8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850900" y="4953000"/>
            <a:ext cx="127000" cy="127000"/>
          </a:xfrm>
          <a:prstGeom prst="ellipse">
            <a:avLst/>
          </a:prstGeom>
          <a:solidFill>
            <a:srgbClr val="4C67C4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3" name="AutoShape 13"/>
          <p:cNvSpPr/>
          <p:nvPr/>
        </p:nvSpPr>
        <p:spPr>
          <a:xfrm>
            <a:off x="647700" y="4953000"/>
            <a:ext cx="127000" cy="127000"/>
          </a:xfrm>
          <a:prstGeom prst="ellipse">
            <a:avLst/>
          </a:prstGeom>
          <a:solidFill>
            <a:srgbClr val="4C67C4">
              <a:alpha val="6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14"/>
          <p:cNvSpPr/>
          <p:nvPr/>
        </p:nvSpPr>
        <p:spPr>
          <a:xfrm>
            <a:off x="444500" y="4953000"/>
            <a:ext cx="127000" cy="127000"/>
          </a:xfrm>
          <a:prstGeom prst="ellipse">
            <a:avLst/>
          </a:prstGeom>
          <a:solidFill>
            <a:srgbClr val="4C67C4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5" name="AutoShape 15"/>
          <p:cNvSpPr/>
          <p:nvPr/>
        </p:nvSpPr>
        <p:spPr>
          <a:xfrm>
            <a:off x="241300" y="4953000"/>
            <a:ext cx="127000" cy="127000"/>
          </a:xfrm>
          <a:prstGeom prst="ellipse">
            <a:avLst/>
          </a:prstGeom>
          <a:solidFill>
            <a:srgbClr val="4C67C4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6" name="AutoShape 16"/>
          <p:cNvSpPr/>
          <p:nvPr/>
        </p:nvSpPr>
        <p:spPr>
          <a:xfrm>
            <a:off x="9994900" y="2209800"/>
            <a:ext cx="76200" cy="76200"/>
          </a:xfrm>
          <a:prstGeom prst="ellipse">
            <a:avLst/>
          </a:prstGeom>
          <a:solidFill>
            <a:srgbClr val="4B83C0">
              <a:alpha val="8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7" name="AutoShape 17"/>
          <p:cNvSpPr/>
          <p:nvPr/>
        </p:nvSpPr>
        <p:spPr>
          <a:xfrm>
            <a:off x="11912600" y="2247900"/>
            <a:ext cx="76200" cy="76200"/>
          </a:xfrm>
          <a:prstGeom prst="ellipse">
            <a:avLst/>
          </a:prstGeom>
          <a:solidFill>
            <a:srgbClr val="4B83C0">
              <a:alpha val="2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9" name="AutoShape 19"/>
          <p:cNvSpPr/>
          <p:nvPr/>
        </p:nvSpPr>
        <p:spPr>
          <a:xfrm>
            <a:off x="0" y="2476500"/>
            <a:ext cx="12192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4800" b="1" i="0" u="none" strike="noStrike">
                <a:solidFill>
                  <a:srgbClr val="4C67C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报告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0" y="3556000"/>
            <a:ext cx="12192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基于大模型智能体的装备软件研发新范式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0" y="4318000"/>
            <a:ext cx="12192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0" i="0" u="none" strike="noStrike">
                <a:solidFill>
                  <a:srgbClr val="64646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五大Agent全栈赋能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0" y="5588000"/>
            <a:ext cx="12192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0" i="0" u="none" strike="noStrike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2026年4月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10693400" y="6527800"/>
            <a:ext cx="9271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t" anchorCtr="0"/>
          <a:lstStyle/>
          <a:p>
            <a:pPr algn="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4826000" y="3797300"/>
            <a:ext cx="76200" cy="76200"/>
          </a:xfrm>
          <a:prstGeom prst="ellipse">
            <a:avLst/>
          </a:prstGeom>
          <a:solidFill>
            <a:srgbClr val="74DC8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5"/>
          <p:cNvSpPr/>
          <p:nvPr/>
        </p:nvSpPr>
        <p:spPr>
          <a:xfrm>
            <a:off x="1054100" y="2171700"/>
            <a:ext cx="3302000" cy="3314700"/>
          </a:xfrm>
          <a:prstGeom prst="ellipse">
            <a:avLst/>
          </a:prstGeom>
          <a:solidFill>
            <a:srgbClr val="4C67C3">
              <a:alpha val="2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6" name="Connector 6"/>
          <p:cNvCxnSpPr/>
          <p:nvPr/>
        </p:nvCxnSpPr>
        <p:spPr>
          <a:xfrm rot="2">
            <a:off x="3175000" y="3822700"/>
            <a:ext cx="1181168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sp>
        <p:nvSpPr>
          <p:cNvPr id="7" name="AutoShape 7"/>
          <p:cNvSpPr/>
          <p:nvPr/>
        </p:nvSpPr>
        <p:spPr>
          <a:xfrm>
            <a:off x="736600" y="1854200"/>
            <a:ext cx="3937000" cy="3962400"/>
          </a:xfrm>
          <a:prstGeom prst="ellipse">
            <a:avLst/>
          </a:prstGeom>
          <a:noFill/>
          <a:ln w="12700" cap="flat" cmpd="sng">
            <a:solidFill>
              <a:srgbClr val="4C67C3">
                <a:alpha val="100000"/>
              </a:srgbClr>
            </a:solidFill>
            <a:prstDash val="solid"/>
            <a:miter lim="10000000"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1625600" y="2743200"/>
            <a:ext cx="2146300" cy="2159000"/>
          </a:xfrm>
          <a:prstGeom prst="ellipse">
            <a:avLst/>
          </a:prstGeom>
          <a:solidFill>
            <a:srgbClr val="4C67C3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/>
        </p:nvSpPr>
        <p:spPr>
          <a:xfrm>
            <a:off x="2451100" y="3060700"/>
            <a:ext cx="533400" cy="13081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t" anchorCtr="0"/>
          <a:lstStyle/>
          <a:p>
            <a:pPr indent="0" algn="l">
              <a:lnSpc>
                <a:spcPct val="150000"/>
              </a:lnSpc>
              <a:spcBef>
                <a:spcPts val="600"/>
              </a:spcBef>
              <a:defRPr/>
            </a:pPr>
            <a:r>
              <a:rPr lang="en-US" sz="2800" b="1" i="0" u="none" strike="noStrike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目录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558800" y="1663700"/>
            <a:ext cx="4292600" cy="4318000"/>
          </a:xfrm>
          <a:prstGeom prst="ellipse">
            <a:avLst/>
          </a:prstGeom>
          <a:noFill/>
          <a:ln w="12700" cap="flat" cmpd="sng">
            <a:solidFill>
              <a:srgbClr val="74DC89">
                <a:alpha val="100000"/>
              </a:srgbClr>
            </a:solidFill>
            <a:prstDash val="solid"/>
            <a:miter lim="10000000"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1" name="AutoShape 11"/>
          <p:cNvSpPr/>
          <p:nvPr/>
        </p:nvSpPr>
        <p:spPr>
          <a:xfrm>
            <a:off x="4622800" y="3797300"/>
            <a:ext cx="76200" cy="76200"/>
          </a:xfrm>
          <a:prstGeom prst="ellipse">
            <a:avLst/>
          </a:prstGeom>
          <a:solidFill>
            <a:srgbClr val="4C67C3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12" name="Connector 12"/>
          <p:cNvCxnSpPr/>
          <p:nvPr/>
        </p:nvCxnSpPr>
        <p:spPr>
          <a:xfrm rot="-95468">
            <a:off x="4356188" y="3816350"/>
            <a:ext cx="4572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4C67C3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sp>
        <p:nvSpPr>
          <p:cNvPr id="13" name="AutoShape 13"/>
          <p:cNvSpPr/>
          <p:nvPr/>
        </p:nvSpPr>
        <p:spPr>
          <a:xfrm rot="2700000">
            <a:off x="355600" y="1409700"/>
            <a:ext cx="4762500" cy="4762500"/>
          </a:xfrm>
          <a:prstGeom prst="arc">
            <a:avLst>
              <a:gd name="adj1" fmla="val 16200000"/>
              <a:gd name="adj2" fmla="val 0"/>
            </a:avLst>
          </a:prstGeom>
          <a:solidFill>
            <a:srgbClr val="4C67C3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15" name="Connector 15"/>
          <p:cNvCxnSpPr/>
          <p:nvPr/>
        </p:nvCxnSpPr>
        <p:spPr>
          <a:xfrm rot="10720977">
            <a:off x="5118027" y="2108200"/>
            <a:ext cx="1104973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4C67C3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sp>
        <p:nvSpPr>
          <p:cNvPr id="16" name="AutoShape 16"/>
          <p:cNvSpPr/>
          <p:nvPr/>
        </p:nvSpPr>
        <p:spPr>
          <a:xfrm>
            <a:off x="5029200" y="2082800"/>
            <a:ext cx="88900" cy="76200"/>
          </a:xfrm>
          <a:prstGeom prst="ellipse">
            <a:avLst/>
          </a:prstGeom>
          <a:solidFill>
            <a:srgbClr val="4C67C3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7" name="AutoShape 17"/>
          <p:cNvSpPr/>
          <p:nvPr/>
        </p:nvSpPr>
        <p:spPr>
          <a:xfrm rot="5400000">
            <a:off x="5676900" y="1828800"/>
            <a:ext cx="444500" cy="533400"/>
          </a:xfrm>
          <a:prstGeom prst="roundRect">
            <a:avLst>
              <a:gd name="adj" fmla="val 0"/>
            </a:avLst>
          </a:prstGeom>
          <a:solidFill>
            <a:srgbClr val="4C67C3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8" name="AutoShape 18"/>
          <p:cNvSpPr/>
          <p:nvPr/>
        </p:nvSpPr>
        <p:spPr>
          <a:xfrm rot="5400000">
            <a:off x="5410200" y="1866900"/>
            <a:ext cx="444500" cy="444500"/>
          </a:xfrm>
          <a:prstGeom prst="ellipse">
            <a:avLst/>
          </a:prstGeom>
          <a:solidFill>
            <a:srgbClr val="4C67C3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19" name="Connector 19"/>
          <p:cNvCxnSpPr/>
          <p:nvPr/>
        </p:nvCxnSpPr>
        <p:spPr>
          <a:xfrm rot="5145555">
            <a:off x="6108587" y="2082917"/>
            <a:ext cx="343135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38100" cap="flat" cmpd="sng">
            <a:solidFill>
              <a:srgbClr val="4874CB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cxnSp>
        <p:nvCxnSpPr>
          <p:cNvPr id="20" name="Connector 20"/>
          <p:cNvCxnSpPr/>
          <p:nvPr/>
        </p:nvCxnSpPr>
        <p:spPr>
          <a:xfrm rot="-17406">
            <a:off x="5727700" y="2298700"/>
            <a:ext cx="5016516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4874CB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sp>
        <p:nvSpPr>
          <p:cNvPr id="21" name="AutoShape 21"/>
          <p:cNvSpPr/>
          <p:nvPr/>
        </p:nvSpPr>
        <p:spPr>
          <a:xfrm>
            <a:off x="5651500" y="1739900"/>
            <a:ext cx="355600" cy="584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t" anchorCtr="0"/>
          <a:lstStyle/>
          <a:p>
            <a:pPr indent="0" algn="l">
              <a:lnSpc>
                <a:spcPct val="150000"/>
              </a:lnSpc>
              <a:spcBef>
                <a:spcPts val="600"/>
              </a:spcBef>
              <a:defRPr/>
            </a:pPr>
            <a:r>
              <a:rPr lang="en-US" sz="2400" b="1" i="0" u="none" strike="noStrike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1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6362700" y="1651000"/>
            <a:ext cx="5486400" cy="736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t" anchorCtr="0"/>
          <a:lstStyle/>
          <a:p>
            <a:pPr indent="0" algn="l">
              <a:lnSpc>
                <a:spcPct val="150000"/>
              </a:lnSpc>
              <a:spcBef>
                <a:spcPts val="600"/>
              </a:spcBef>
              <a:defRPr/>
            </a:pPr>
            <a:r>
              <a:rPr lang="en-US" sz="2800" b="1" i="0" u="none" strike="noStrike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装备软件研发痛点与智能体应对思路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 rot="5400000">
            <a:off x="6337300" y="3530600"/>
            <a:ext cx="444500" cy="558800"/>
          </a:xfrm>
          <a:prstGeom prst="roundRect">
            <a:avLst>
              <a:gd name="adj" fmla="val 0"/>
            </a:avLst>
          </a:prstGeom>
          <a:solidFill>
            <a:srgbClr val="4C67C3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4" name="AutoShape 24"/>
          <p:cNvSpPr/>
          <p:nvPr/>
        </p:nvSpPr>
        <p:spPr>
          <a:xfrm rot="5400000">
            <a:off x="6057900" y="3581400"/>
            <a:ext cx="444500" cy="457200"/>
          </a:xfrm>
          <a:prstGeom prst="ellipse">
            <a:avLst/>
          </a:prstGeom>
          <a:solidFill>
            <a:srgbClr val="4C67C3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25" name="Connector 25"/>
          <p:cNvCxnSpPr/>
          <p:nvPr/>
        </p:nvCxnSpPr>
        <p:spPr>
          <a:xfrm rot="5145555">
            <a:off x="6768987" y="3797417"/>
            <a:ext cx="343135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38100" cap="flat" cmpd="sng">
            <a:solidFill>
              <a:srgbClr val="4874CB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cxnSp>
        <p:nvCxnSpPr>
          <p:cNvPr id="26" name="Connector 26"/>
          <p:cNvCxnSpPr/>
          <p:nvPr/>
        </p:nvCxnSpPr>
        <p:spPr>
          <a:xfrm>
            <a:off x="6375400" y="4025900"/>
            <a:ext cx="5016516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4874CB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sp>
        <p:nvSpPr>
          <p:cNvPr id="27" name="AutoShape 27"/>
          <p:cNvSpPr/>
          <p:nvPr/>
        </p:nvSpPr>
        <p:spPr>
          <a:xfrm>
            <a:off x="6311900" y="3454400"/>
            <a:ext cx="368300" cy="6477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t" anchorCtr="0"/>
          <a:lstStyle/>
          <a:p>
            <a:pPr indent="0" algn="l">
              <a:lnSpc>
                <a:spcPct val="150000"/>
              </a:lnSpc>
              <a:spcBef>
                <a:spcPts val="600"/>
              </a:spcBef>
              <a:defRPr/>
            </a:pPr>
            <a:r>
              <a:rPr lang="en-US" sz="2400" b="1" i="0" u="none" strike="noStrike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2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7035800" y="3365500"/>
            <a:ext cx="4851400" cy="736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t" anchorCtr="0"/>
          <a:lstStyle/>
          <a:p>
            <a:pPr indent="0" algn="l">
              <a:lnSpc>
                <a:spcPct val="150000"/>
              </a:lnSpc>
              <a:spcBef>
                <a:spcPts val="600"/>
              </a:spcBef>
              <a:defRPr/>
            </a:pPr>
            <a:r>
              <a:rPr lang="en-US" sz="2800" b="0" i="0" u="none" strike="noStrike">
                <a:solidFill>
                  <a:srgbClr val="4C67C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各Agent功能详细介绍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 rot="2700000">
            <a:off x="-762000" y="609600"/>
            <a:ext cx="6286500" cy="6286500"/>
          </a:xfrm>
          <a:prstGeom prst="arc">
            <a:avLst>
              <a:gd name="adj1" fmla="val 16200000"/>
              <a:gd name="adj2" fmla="val 0"/>
            </a:avLst>
          </a:prstGeom>
          <a:noFill/>
          <a:ln w="12700" cap="flat" cmpd="sng">
            <a:solidFill>
              <a:srgbClr val="4874CB">
                <a:alpha val="100000"/>
              </a:srgbClr>
            </a:solidFill>
            <a:prstDash val="solid"/>
            <a:miter lim="10000000"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0" name="AutoShape 30"/>
          <p:cNvSpPr/>
          <p:nvPr/>
        </p:nvSpPr>
        <p:spPr>
          <a:xfrm rot="5400000">
            <a:off x="5613400" y="5181600"/>
            <a:ext cx="444500" cy="546100"/>
          </a:xfrm>
          <a:prstGeom prst="roundRect">
            <a:avLst>
              <a:gd name="adj" fmla="val 0"/>
            </a:avLst>
          </a:prstGeom>
          <a:solidFill>
            <a:srgbClr val="4C67C3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1" name="AutoShape 31"/>
          <p:cNvSpPr/>
          <p:nvPr/>
        </p:nvSpPr>
        <p:spPr>
          <a:xfrm rot="5400000">
            <a:off x="5334000" y="5232400"/>
            <a:ext cx="444500" cy="457200"/>
          </a:xfrm>
          <a:prstGeom prst="ellipse">
            <a:avLst/>
          </a:prstGeom>
          <a:solidFill>
            <a:srgbClr val="4C67C3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2" name="Connector 32"/>
          <p:cNvCxnSpPr/>
          <p:nvPr/>
        </p:nvCxnSpPr>
        <p:spPr>
          <a:xfrm rot="5145555">
            <a:off x="6045087" y="5448417"/>
            <a:ext cx="343135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38100" cap="flat" cmpd="sng">
            <a:solidFill>
              <a:srgbClr val="4874CB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cxnSp>
        <p:nvCxnSpPr>
          <p:cNvPr id="33" name="Connector 33"/>
          <p:cNvCxnSpPr/>
          <p:nvPr/>
        </p:nvCxnSpPr>
        <p:spPr>
          <a:xfrm>
            <a:off x="5651500" y="5676900"/>
            <a:ext cx="4953016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4874CB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sp>
        <p:nvSpPr>
          <p:cNvPr id="34" name="AutoShape 34"/>
          <p:cNvSpPr/>
          <p:nvPr/>
        </p:nvSpPr>
        <p:spPr>
          <a:xfrm>
            <a:off x="5575300" y="5105400"/>
            <a:ext cx="368300" cy="584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t" anchorCtr="0"/>
          <a:lstStyle/>
          <a:p>
            <a:pPr indent="0" algn="l">
              <a:lnSpc>
                <a:spcPct val="150000"/>
              </a:lnSpc>
              <a:spcBef>
                <a:spcPts val="600"/>
              </a:spcBef>
              <a:defRPr/>
            </a:pPr>
            <a:r>
              <a:rPr lang="en-US" sz="2400" b="1" i="0" u="none" strike="noStrike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3</a:t>
            </a:r>
            <a:endParaRPr lang="en-US" sz="1100"/>
          </a:p>
        </p:txBody>
      </p:sp>
      <p:sp>
        <p:nvSpPr>
          <p:cNvPr id="35" name="AutoShape 35"/>
          <p:cNvSpPr/>
          <p:nvPr/>
        </p:nvSpPr>
        <p:spPr>
          <a:xfrm>
            <a:off x="6273800" y="5016500"/>
            <a:ext cx="5359400" cy="736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t" anchorCtr="0"/>
          <a:lstStyle/>
          <a:p>
            <a:pPr indent="0" algn="l">
              <a:lnSpc>
                <a:spcPct val="150000"/>
              </a:lnSpc>
              <a:spcBef>
                <a:spcPts val="600"/>
              </a:spcBef>
              <a:defRPr/>
            </a:pPr>
            <a:r>
              <a:rPr lang="en-US" sz="2800" b="0" i="0" u="none" strike="noStrike">
                <a:solidFill>
                  <a:srgbClr val="4C67C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基于智能体的软件工厂蓝图</a:t>
            </a:r>
            <a:endParaRPr lang="en-US" sz="1100"/>
          </a:p>
        </p:txBody>
      </p:sp>
      <p:cxnSp>
        <p:nvCxnSpPr>
          <p:cNvPr id="36" name="Connector 36"/>
          <p:cNvCxnSpPr/>
          <p:nvPr/>
        </p:nvCxnSpPr>
        <p:spPr>
          <a:xfrm rot="10736345">
            <a:off x="5067241" y="5454650"/>
            <a:ext cx="6858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4C67C3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sp>
        <p:nvSpPr>
          <p:cNvPr id="37" name="AutoShape 37"/>
          <p:cNvSpPr/>
          <p:nvPr/>
        </p:nvSpPr>
        <p:spPr>
          <a:xfrm>
            <a:off x="4978400" y="5435600"/>
            <a:ext cx="88900" cy="76200"/>
          </a:xfrm>
          <a:prstGeom prst="ellipse">
            <a:avLst/>
          </a:prstGeom>
          <a:solidFill>
            <a:srgbClr val="4C67C3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8" name="Connector 38"/>
          <p:cNvCxnSpPr/>
          <p:nvPr/>
        </p:nvCxnSpPr>
        <p:spPr>
          <a:xfrm rot="10677246">
            <a:off x="5524387" y="3810001"/>
            <a:ext cx="711313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4C67C3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sp>
        <p:nvSpPr>
          <p:cNvPr id="39" name="AutoShape 39"/>
          <p:cNvSpPr/>
          <p:nvPr/>
        </p:nvSpPr>
        <p:spPr>
          <a:xfrm>
            <a:off x="5461000" y="3771900"/>
            <a:ext cx="88900" cy="88900"/>
          </a:xfrm>
          <a:prstGeom prst="ellipse">
            <a:avLst/>
          </a:prstGeom>
          <a:solidFill>
            <a:srgbClr val="4C67C3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2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>
            <a:off x="0" y="685800"/>
            <a:ext cx="12192007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cxnSp>
        <p:nvCxnSpPr>
          <p:cNvPr id="4" name="Connector 4"/>
          <p:cNvCxnSpPr/>
          <p:nvPr/>
        </p:nvCxnSpPr>
        <p:spPr>
          <a:xfrm rot="5209099">
            <a:off x="10915564" y="400138"/>
            <a:ext cx="457376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lg" len="lg"/>
            <a:tailEnd type="none" w="lg" len="lg"/>
          </a:ln>
        </p:spPr>
      </p:cxnSp>
      <p:sp>
        <p:nvSpPr>
          <p:cNvPr id="6" name="AutoShape 6"/>
          <p:cNvSpPr/>
          <p:nvPr/>
        </p:nvSpPr>
        <p:spPr>
          <a:xfrm>
            <a:off x="469900" y="139700"/>
            <a:ext cx="9715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PART 01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0" y="2032000"/>
            <a:ext cx="12192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9600" b="1" i="0" u="none" strike="noStrike">
                <a:solidFill>
                  <a:srgbClr val="005AB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PART 1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0" y="3683000"/>
            <a:ext cx="1219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装备软件研发痛点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0" y="4572000"/>
            <a:ext cx="1219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与智能体应对思路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5207000" y="5715000"/>
            <a:ext cx="1778000" cy="76200"/>
          </a:xfrm>
          <a:prstGeom prst="roundRect">
            <a:avLst>
              <a:gd name="adj" fmla="val 0"/>
            </a:avLst>
          </a:prstGeom>
          <a:solidFill>
            <a:srgbClr val="005AB4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>
            <a:off x="0" y="685800"/>
            <a:ext cx="12192007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lg" len="lg"/>
            <a:tailEnd type="none" w="lg" len="lg"/>
          </a:ln>
        </p:spPr>
      </p:cxnSp>
      <p:cxnSp>
        <p:nvCxnSpPr>
          <p:cNvPr id="4" name="Connector 4"/>
          <p:cNvCxnSpPr/>
          <p:nvPr/>
        </p:nvCxnSpPr>
        <p:spPr>
          <a:xfrm rot="5209099">
            <a:off x="10915564" y="400138"/>
            <a:ext cx="457376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sp>
        <p:nvSpPr>
          <p:cNvPr id="6" name="AutoShape 6"/>
          <p:cNvSpPr/>
          <p:nvPr/>
        </p:nvSpPr>
        <p:spPr>
          <a:xfrm>
            <a:off x="469900" y="139700"/>
            <a:ext cx="2540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Part 01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469900" y="952500"/>
            <a:ext cx="10160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装备软件研发的核心挑战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508000" y="1778000"/>
            <a:ext cx="3556000" cy="1841500"/>
          </a:xfrm>
          <a:prstGeom prst="roundRect">
            <a:avLst>
              <a:gd name="adj" fmla="val 6896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/>
        </p:nvSpPr>
        <p:spPr>
          <a:xfrm>
            <a:off x="508000" y="1778000"/>
            <a:ext cx="76200" cy="1841500"/>
          </a:xfrm>
          <a:prstGeom prst="roundRect">
            <a:avLst>
              <a:gd name="adj" fmla="val 0"/>
            </a:avLst>
          </a:prstGeom>
          <a:solidFill>
            <a:srgbClr val="DC262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10"/>
          <p:cNvSpPr/>
          <p:nvPr/>
        </p:nvSpPr>
        <p:spPr>
          <a:xfrm>
            <a:off x="762000" y="2032000"/>
            <a:ext cx="711200" cy="711200"/>
          </a:xfrm>
          <a:prstGeom prst="ellipse">
            <a:avLst/>
          </a:prstGeom>
          <a:solidFill>
            <a:srgbClr val="FEE2E2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2184400"/>
            <a:ext cx="406400" cy="4064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1651000" y="2032000"/>
            <a:ext cx="228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63500" tIns="0" rIns="6350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安全性分析门槛高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1651000" y="2603500"/>
            <a:ext cx="22225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63500" tIns="0" rIns="6350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STPA/FTA/FMEA等分析需深厚专业积累，人工分析效率低且易出错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4318000" y="1778000"/>
            <a:ext cx="3556000" cy="1841500"/>
          </a:xfrm>
          <a:prstGeom prst="roundRect">
            <a:avLst>
              <a:gd name="adj" fmla="val 6896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5" name="AutoShape 15"/>
          <p:cNvSpPr/>
          <p:nvPr/>
        </p:nvSpPr>
        <p:spPr>
          <a:xfrm>
            <a:off x="4318000" y="1778000"/>
            <a:ext cx="76200" cy="1841500"/>
          </a:xfrm>
          <a:prstGeom prst="roundRect">
            <a:avLst>
              <a:gd name="adj" fmla="val 0"/>
            </a:avLst>
          </a:prstGeom>
          <a:solidFill>
            <a:srgbClr val="DC262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6" name="AutoShape 16"/>
          <p:cNvSpPr/>
          <p:nvPr/>
        </p:nvSpPr>
        <p:spPr>
          <a:xfrm>
            <a:off x="4572000" y="2032000"/>
            <a:ext cx="711200" cy="711200"/>
          </a:xfrm>
          <a:prstGeom prst="ellipse">
            <a:avLst/>
          </a:prstGeom>
          <a:solidFill>
            <a:srgbClr val="FEE2E2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724400" y="2184400"/>
            <a:ext cx="406400" cy="4064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5461000" y="2032000"/>
            <a:ext cx="228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63500" tIns="0" rIns="6350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需求-测试追溯难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5461000" y="2603500"/>
            <a:ext cx="22225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63500" tIns="0" rIns="6350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测试用例与需求规格脱节，覆盖率无法精准度量，变更影响难评估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8128000" y="1778000"/>
            <a:ext cx="3556000" cy="1841500"/>
          </a:xfrm>
          <a:prstGeom prst="roundRect">
            <a:avLst>
              <a:gd name="adj" fmla="val 6896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1" name="AutoShape 21"/>
          <p:cNvSpPr/>
          <p:nvPr/>
        </p:nvSpPr>
        <p:spPr>
          <a:xfrm>
            <a:off x="8128000" y="1778000"/>
            <a:ext cx="76200" cy="1841500"/>
          </a:xfrm>
          <a:prstGeom prst="roundRect">
            <a:avLst>
              <a:gd name="adj" fmla="val 0"/>
            </a:avLst>
          </a:prstGeom>
          <a:solidFill>
            <a:srgbClr val="DC262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2" name="AutoShape 22"/>
          <p:cNvSpPr/>
          <p:nvPr/>
        </p:nvSpPr>
        <p:spPr>
          <a:xfrm>
            <a:off x="8382000" y="2032000"/>
            <a:ext cx="711200" cy="711200"/>
          </a:xfrm>
          <a:prstGeom prst="ellipse">
            <a:avLst/>
          </a:prstGeom>
          <a:solidFill>
            <a:srgbClr val="FEE2E2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534400" y="2184400"/>
            <a:ext cx="406400" cy="406400"/>
          </a:xfrm>
          <a:prstGeom prst="rect">
            <a:avLst/>
          </a:prstGeom>
        </p:spPr>
      </p:pic>
      <p:sp>
        <p:nvSpPr>
          <p:cNvPr id="24" name="AutoShape 24"/>
          <p:cNvSpPr/>
          <p:nvPr/>
        </p:nvSpPr>
        <p:spPr>
          <a:xfrm>
            <a:off x="9271000" y="2032000"/>
            <a:ext cx="228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63500" tIns="0" rIns="6350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代码走查成本大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9271000" y="2603500"/>
            <a:ext cx="22225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63500" tIns="0" rIns="6350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依赖专家经验，走查人员配置多、周期长，且检查标准难以统一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508000" y="3937000"/>
            <a:ext cx="3556000" cy="1841500"/>
          </a:xfrm>
          <a:prstGeom prst="roundRect">
            <a:avLst>
              <a:gd name="adj" fmla="val 6896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7" name="AutoShape 27"/>
          <p:cNvSpPr/>
          <p:nvPr/>
        </p:nvSpPr>
        <p:spPr>
          <a:xfrm>
            <a:off x="508000" y="3937000"/>
            <a:ext cx="76200" cy="1841500"/>
          </a:xfrm>
          <a:prstGeom prst="roundRect">
            <a:avLst>
              <a:gd name="adj" fmla="val 0"/>
            </a:avLst>
          </a:prstGeom>
          <a:solidFill>
            <a:srgbClr val="DC262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8" name="AutoShape 28"/>
          <p:cNvSpPr/>
          <p:nvPr/>
        </p:nvSpPr>
        <p:spPr>
          <a:xfrm>
            <a:off x="762000" y="4191000"/>
            <a:ext cx="711200" cy="711200"/>
          </a:xfrm>
          <a:prstGeom prst="ellipse">
            <a:avLst/>
          </a:prstGeom>
          <a:solidFill>
            <a:srgbClr val="FEE2E2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9" name="Picture 29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14400" y="4343400"/>
            <a:ext cx="406400" cy="406400"/>
          </a:xfrm>
          <a:prstGeom prst="rect">
            <a:avLst/>
          </a:prstGeom>
        </p:spPr>
      </p:pic>
      <p:sp>
        <p:nvSpPr>
          <p:cNvPr id="30" name="AutoShape 30"/>
          <p:cNvSpPr/>
          <p:nvPr/>
        </p:nvSpPr>
        <p:spPr>
          <a:xfrm>
            <a:off x="1651000" y="4191000"/>
            <a:ext cx="228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63500" tIns="0" rIns="6350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静态分析误报多</a:t>
            </a:r>
            <a:endParaRPr lang="en-US" sz="1100"/>
          </a:p>
        </p:txBody>
      </p:sp>
      <p:sp>
        <p:nvSpPr>
          <p:cNvPr id="31" name="AutoShape 31"/>
          <p:cNvSpPr/>
          <p:nvPr/>
        </p:nvSpPr>
        <p:spPr>
          <a:xfrm>
            <a:off x="1651000" y="4762500"/>
            <a:ext cx="22225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63500" tIns="0" rIns="6350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传统扫描工具误报率高，大量无效告警消耗人工，确认耗时耗力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4318000" y="3937000"/>
            <a:ext cx="3556000" cy="1841500"/>
          </a:xfrm>
          <a:prstGeom prst="roundRect">
            <a:avLst>
              <a:gd name="adj" fmla="val 6896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3" name="AutoShape 33"/>
          <p:cNvSpPr/>
          <p:nvPr/>
        </p:nvSpPr>
        <p:spPr>
          <a:xfrm>
            <a:off x="4318000" y="3937000"/>
            <a:ext cx="76200" cy="1841500"/>
          </a:xfrm>
          <a:prstGeom prst="roundRect">
            <a:avLst>
              <a:gd name="adj" fmla="val 0"/>
            </a:avLst>
          </a:prstGeom>
          <a:solidFill>
            <a:srgbClr val="DC262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4" name="AutoShape 34"/>
          <p:cNvSpPr/>
          <p:nvPr/>
        </p:nvSpPr>
        <p:spPr>
          <a:xfrm>
            <a:off x="4572000" y="4191000"/>
            <a:ext cx="711200" cy="711200"/>
          </a:xfrm>
          <a:prstGeom prst="ellipse">
            <a:avLst/>
          </a:prstGeom>
          <a:solidFill>
            <a:srgbClr val="FEE2E2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5" name="Picture 35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724400" y="4343400"/>
            <a:ext cx="406400" cy="406400"/>
          </a:xfrm>
          <a:prstGeom prst="rect">
            <a:avLst/>
          </a:prstGeom>
        </p:spPr>
      </p:pic>
      <p:sp>
        <p:nvSpPr>
          <p:cNvPr id="36" name="AutoShape 36"/>
          <p:cNvSpPr/>
          <p:nvPr/>
        </p:nvSpPr>
        <p:spPr>
          <a:xfrm>
            <a:off x="5461000" y="4191000"/>
            <a:ext cx="228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63500" tIns="0" rIns="6350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单元测试覆盖低</a:t>
            </a:r>
            <a:endParaRPr lang="en-US" sz="1100"/>
          </a:p>
        </p:txBody>
      </p:sp>
      <p:sp>
        <p:nvSpPr>
          <p:cNvPr id="37" name="AutoShape 37"/>
          <p:cNvSpPr/>
          <p:nvPr/>
        </p:nvSpPr>
        <p:spPr>
          <a:xfrm>
            <a:off x="5461000" y="4762500"/>
            <a:ext cx="22225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63500" tIns="0" rIns="6350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嵌入式软件依赖硬件环境，单测编写难度大，整体自动化程度不足</a:t>
            </a:r>
            <a:endParaRPr lang="en-US" sz="1100"/>
          </a:p>
        </p:txBody>
      </p:sp>
      <p:sp>
        <p:nvSpPr>
          <p:cNvPr id="38" name="AutoShape 38"/>
          <p:cNvSpPr/>
          <p:nvPr/>
        </p:nvSpPr>
        <p:spPr>
          <a:xfrm>
            <a:off x="8128000" y="3937000"/>
            <a:ext cx="3556000" cy="1841500"/>
          </a:xfrm>
          <a:prstGeom prst="roundRect">
            <a:avLst>
              <a:gd name="adj" fmla="val 6896"/>
            </a:avLst>
          </a:prstGeom>
          <a:solidFill>
            <a:srgbClr val="005AB4">
              <a:alpha val="8000"/>
            </a:srgbClr>
          </a:solidFill>
          <a:ln w="12700" cap="flat" cmpd="sng">
            <a:solidFill>
              <a:srgbClr val="005AB4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9" name="AutoShape 39"/>
          <p:cNvSpPr/>
          <p:nvPr/>
        </p:nvSpPr>
        <p:spPr>
          <a:xfrm>
            <a:off x="8128000" y="4445000"/>
            <a:ext cx="3556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5AB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痛点直击 · 驱动研发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005AB4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针对上述核心挑战，打造 AgentForSE 智能研发平台</a:t>
            </a:r>
            <a:endParaRPr lang="en-US" sz="1200" b="0" i="0" u="none" strike="noStrike">
              <a:solidFill>
                <a:srgbClr val="005AB4">
                  <a:alpha val="80000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2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 rot="-3580">
            <a:off x="3" y="679450"/>
            <a:ext cx="1219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miter lim="8000000"/>
            <a:headEnd type="none" w="lg" len="lg"/>
            <a:tailEnd type="none" w="lg" len="lg"/>
          </a:ln>
        </p:spPr>
      </p:cxnSp>
      <p:cxnSp>
        <p:nvCxnSpPr>
          <p:cNvPr id="4" name="Connector 4"/>
          <p:cNvCxnSpPr/>
          <p:nvPr/>
        </p:nvCxnSpPr>
        <p:spPr>
          <a:xfrm rot="5304531">
            <a:off x="10909300" y="400138"/>
            <a:ext cx="4572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miter lim="8000000"/>
            <a:headEnd type="none" w="lg" len="lg"/>
            <a:tailEnd type="none" w="lg" len="lg"/>
          </a:ln>
        </p:spPr>
      </p:cxnSp>
      <p:sp>
        <p:nvSpPr>
          <p:cNvPr id="6" name="AutoShape 6"/>
          <p:cNvSpPr/>
          <p:nvPr/>
        </p:nvSpPr>
        <p:spPr>
          <a:xfrm>
            <a:off x="469900" y="139700"/>
            <a:ext cx="9715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智能体应对思路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469900" y="1016000"/>
            <a:ext cx="5461000" cy="5334000"/>
          </a:xfrm>
          <a:prstGeom prst="roundRect">
            <a:avLst>
              <a:gd name="adj" fmla="val 2380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  <a:effectLst>
            <a:outerShdw blurRad="190500" dist="50800" dir="5400000" algn="tl" rotWithShape="0">
              <a:srgbClr val="097DB7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723900" y="1206500"/>
            <a:ext cx="495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97DB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装备软件研发全生命周期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723900" y="1778000"/>
            <a:ext cx="4953000" cy="762000"/>
          </a:xfrm>
          <a:prstGeom prst="roundRect">
            <a:avLst>
              <a:gd name="adj" fmla="val 8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1968500"/>
            <a:ext cx="381000" cy="3810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1524000" y="1879600"/>
            <a:ext cx="3937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需求分析</a:t>
            </a: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| SafeWise (系统安全分析)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723900" y="2667000"/>
            <a:ext cx="4953000" cy="762000"/>
          </a:xfrm>
          <a:prstGeom prst="roundRect">
            <a:avLst>
              <a:gd name="adj" fmla="val 8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14400" y="2857500"/>
            <a:ext cx="381000" cy="3810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1524000" y="2768600"/>
            <a:ext cx="3937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安全性设计</a:t>
            </a: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| SafeMatrix (功能安全分析)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723900" y="3556000"/>
            <a:ext cx="4953000" cy="762000"/>
          </a:xfrm>
          <a:prstGeom prst="roundRect">
            <a:avLst>
              <a:gd name="adj" fmla="val 8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4400" y="3746500"/>
            <a:ext cx="381000" cy="3810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1524000" y="3657600"/>
            <a:ext cx="3937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编码实现</a:t>
            </a: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| SmartInsight (自动化代码走查)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723900" y="4445000"/>
            <a:ext cx="4953000" cy="762000"/>
          </a:xfrm>
          <a:prstGeom prst="roundRect">
            <a:avLst>
              <a:gd name="adj" fmla="val 8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14400" y="4635500"/>
            <a:ext cx="381000" cy="381000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1524000" y="4546600"/>
            <a:ext cx="3937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测试验证</a:t>
            </a: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| SmartST (系统测试) / SmartUT (单元测试)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723900" y="5334000"/>
            <a:ext cx="4953000" cy="762000"/>
          </a:xfrm>
          <a:prstGeom prst="roundRect">
            <a:avLst>
              <a:gd name="adj" fmla="val 8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14400" y="5524500"/>
            <a:ext cx="381000" cy="381000"/>
          </a:xfrm>
          <a:prstGeom prst="rect">
            <a:avLst/>
          </a:prstGeom>
        </p:spPr>
      </p:pic>
      <p:sp>
        <p:nvSpPr>
          <p:cNvPr id="23" name="AutoShape 23"/>
          <p:cNvSpPr/>
          <p:nvPr/>
        </p:nvSpPr>
        <p:spPr>
          <a:xfrm>
            <a:off x="1524000" y="5435600"/>
            <a:ext cx="3937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审查交付</a:t>
            </a: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| 数据全流程可追溯，质量闭环管理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6261100" y="1016000"/>
            <a:ext cx="5461000" cy="5334000"/>
          </a:xfrm>
          <a:prstGeom prst="roundRect">
            <a:avLst>
              <a:gd name="adj" fmla="val 2380"/>
            </a:avLst>
          </a:prstGeom>
          <a:solidFill>
            <a:srgbClr val="F8FAFC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  <a:effectLst>
            <a:outerShdw blurRad="190500" dist="50800" dir="54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5" name="AutoShape 25"/>
          <p:cNvSpPr/>
          <p:nvPr/>
        </p:nvSpPr>
        <p:spPr>
          <a:xfrm>
            <a:off x="6515100" y="1206500"/>
            <a:ext cx="495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97DB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核心设计理念 (MetaGPT落地)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6515100" y="1778000"/>
            <a:ext cx="4953000" cy="1016000"/>
          </a:xfrm>
          <a:prstGeom prst="roundRect">
            <a:avLst>
              <a:gd name="adj" fmla="val 625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7" name="Picture 27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705600" y="2032000"/>
            <a:ext cx="508000" cy="508000"/>
          </a:xfrm>
          <a:prstGeom prst="rect">
            <a:avLst/>
          </a:prstGeom>
        </p:spPr>
      </p:pic>
      <p:sp>
        <p:nvSpPr>
          <p:cNvPr id="28" name="AutoShape 28"/>
          <p:cNvSpPr/>
          <p:nvPr/>
        </p:nvSpPr>
        <p:spPr>
          <a:xfrm>
            <a:off x="7429500" y="1905000"/>
            <a:ext cx="381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双引擎驱动架构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以大模型为推理引擎，以规则引擎为质量门禁，确保结果合规。</a:t>
            </a:r>
            <a:endParaRPr lang="en-US" sz="1100" b="0" i="0" u="none" strike="noStrike">
              <a:solidFill>
                <a:srgbClr val="64748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9" name="AutoShape 29"/>
          <p:cNvSpPr/>
          <p:nvPr/>
        </p:nvSpPr>
        <p:spPr>
          <a:xfrm>
            <a:off x="6515100" y="2921000"/>
            <a:ext cx="4953000" cy="1016000"/>
          </a:xfrm>
          <a:prstGeom prst="roundRect">
            <a:avLst>
              <a:gd name="adj" fmla="val 625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0" name="Picture 30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705600" y="3175000"/>
            <a:ext cx="508000" cy="508000"/>
          </a:xfrm>
          <a:prstGeom prst="rect">
            <a:avLst/>
          </a:prstGeom>
        </p:spPr>
      </p:pic>
      <p:sp>
        <p:nvSpPr>
          <p:cNvPr id="31" name="AutoShape 31"/>
          <p:cNvSpPr/>
          <p:nvPr/>
        </p:nvSpPr>
        <p:spPr>
          <a:xfrm>
            <a:off x="7429500" y="3048000"/>
            <a:ext cx="381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Agent 流水线协作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多智能体并行取代人工串行流程，大幅提升研发与测试效率。</a:t>
            </a:r>
            <a:endParaRPr lang="en-US" sz="1100" b="0" i="0" u="none" strike="noStrike">
              <a:solidFill>
                <a:srgbClr val="64748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2" name="AutoShape 32"/>
          <p:cNvSpPr/>
          <p:nvPr/>
        </p:nvSpPr>
        <p:spPr>
          <a:xfrm>
            <a:off x="6515100" y="4064000"/>
            <a:ext cx="4953000" cy="1016000"/>
          </a:xfrm>
          <a:prstGeom prst="roundRect">
            <a:avLst>
              <a:gd name="adj" fmla="val 625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3" name="Picture 33"/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705600" y="4318000"/>
            <a:ext cx="508000" cy="508000"/>
          </a:xfrm>
          <a:prstGeom prst="rect">
            <a:avLst/>
          </a:prstGeom>
        </p:spPr>
      </p:pic>
      <p:sp>
        <p:nvSpPr>
          <p:cNvPr id="34" name="AutoShape 34"/>
          <p:cNvSpPr/>
          <p:nvPr/>
        </p:nvSpPr>
        <p:spPr>
          <a:xfrm>
            <a:off x="7429500" y="4191000"/>
            <a:ext cx="381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数据结构化与可追溯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文档 → 结构化数据 → 自动输出，实现研发资产的沉淀与复用。</a:t>
            </a:r>
            <a:endParaRPr lang="en-US" sz="1100" b="0" i="0" u="none" strike="noStrike">
              <a:solidFill>
                <a:srgbClr val="64748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5" name="AutoShape 35"/>
          <p:cNvSpPr/>
          <p:nvPr/>
        </p:nvSpPr>
        <p:spPr>
          <a:xfrm>
            <a:off x="6515100" y="5207000"/>
            <a:ext cx="4953000" cy="889000"/>
          </a:xfrm>
          <a:prstGeom prst="roundRect">
            <a:avLst>
              <a:gd name="adj" fmla="val 7142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6" name="Picture 36"/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705600" y="5397500"/>
            <a:ext cx="508000" cy="508000"/>
          </a:xfrm>
          <a:prstGeom prst="rect">
            <a:avLst/>
          </a:prstGeom>
        </p:spPr>
      </p:pic>
      <p:sp>
        <p:nvSpPr>
          <p:cNvPr id="37" name="AutoShape 37"/>
          <p:cNvSpPr/>
          <p:nvPr/>
        </p:nvSpPr>
        <p:spPr>
          <a:xfrm>
            <a:off x="7429500" y="5334000"/>
            <a:ext cx="381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最终目标：构建“装备软件工厂”</a:t>
            </a:r>
            <a:endParaRPr lang="en-US" sz="11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>
            <a:off x="0" y="685800"/>
            <a:ext cx="12192007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cxnSp>
        <p:nvCxnSpPr>
          <p:cNvPr id="4" name="Connector 4"/>
          <p:cNvCxnSpPr/>
          <p:nvPr/>
        </p:nvCxnSpPr>
        <p:spPr>
          <a:xfrm rot="5209099">
            <a:off x="10915564" y="400138"/>
            <a:ext cx="457376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lg" len="lg"/>
            <a:tailEnd type="none" w="lg" len="lg"/>
          </a:ln>
        </p:spPr>
      </p:cxnSp>
      <p:sp>
        <p:nvSpPr>
          <p:cNvPr id="6" name="AutoShape 6"/>
          <p:cNvSpPr/>
          <p:nvPr/>
        </p:nvSpPr>
        <p:spPr>
          <a:xfrm>
            <a:off x="469900" y="139700"/>
            <a:ext cx="9715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AgentForSE 五大智能体全景图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381000" y="1143000"/>
            <a:ext cx="2133600" cy="4953000"/>
          </a:xfrm>
          <a:prstGeom prst="roundRect">
            <a:avLst>
              <a:gd name="adj" fmla="val 7142"/>
            </a:avLst>
          </a:prstGeom>
          <a:solidFill>
            <a:srgbClr val="F0F9FF">
              <a:alpha val="100000"/>
            </a:srgbClr>
          </a:solidFill>
          <a:ln w="12700" cap="flat" cmpd="sng">
            <a:solidFill>
              <a:srgbClr val="005AB4">
                <a:alpha val="20000"/>
              </a:srgbClr>
            </a:solidFill>
            <a:prstDash val="solid"/>
            <a:round/>
          </a:ln>
          <a:effectLst>
            <a:outerShdw blurRad="152400" dist="508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6800" y="1524000"/>
            <a:ext cx="762000" cy="7620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508000" y="2540000"/>
            <a:ext cx="18796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SafeWise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508000" y="3302000"/>
            <a:ext cx="18796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系统安全分析</a:t>
            </a:r>
            <a:endParaRPr lang="en-US" sz="1100"/>
          </a:p>
        </p:txBody>
      </p:sp>
      <p:cxnSp>
        <p:nvCxnSpPr>
          <p:cNvPr id="11" name="Connector 11"/>
          <p:cNvCxnSpPr/>
          <p:nvPr/>
        </p:nvCxnSpPr>
        <p:spPr>
          <a:xfrm rot="-26856">
            <a:off x="635025" y="3930650"/>
            <a:ext cx="16256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" name="AutoShape 12"/>
          <p:cNvSpPr/>
          <p:nvPr/>
        </p:nvSpPr>
        <p:spPr>
          <a:xfrm>
            <a:off x="508000" y="4191000"/>
            <a:ext cx="18796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核心功能：</a:t>
            </a:r>
            <a:b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STPA 安全分析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508000" y="5207000"/>
            <a:ext cx="18796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技术特点：</a:t>
            </a:r>
            <a:b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STPA 多 Agent 流水线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2768600" y="1143000"/>
            <a:ext cx="2133600" cy="4953000"/>
          </a:xfrm>
          <a:prstGeom prst="roundRect">
            <a:avLst>
              <a:gd name="adj" fmla="val 7142"/>
            </a:avLst>
          </a:prstGeom>
          <a:solidFill>
            <a:srgbClr val="F0F9FF">
              <a:alpha val="100000"/>
            </a:srgbClr>
          </a:solidFill>
          <a:ln w="12700" cap="flat" cmpd="sng">
            <a:solidFill>
              <a:srgbClr val="005AB4">
                <a:alpha val="20000"/>
              </a:srgbClr>
            </a:solidFill>
            <a:prstDash val="solid"/>
            <a:round/>
          </a:ln>
          <a:effectLst>
            <a:outerShdw blurRad="152400" dist="508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454400" y="1524000"/>
            <a:ext cx="762000" cy="7620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2895600" y="2540000"/>
            <a:ext cx="18796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SafeMatrix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2895600" y="3302000"/>
            <a:ext cx="18796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功能安全分析</a:t>
            </a:r>
            <a:endParaRPr lang="en-US" sz="1100"/>
          </a:p>
        </p:txBody>
      </p:sp>
      <p:cxnSp>
        <p:nvCxnSpPr>
          <p:cNvPr id="18" name="Connector 18"/>
          <p:cNvCxnSpPr/>
          <p:nvPr/>
        </p:nvCxnSpPr>
        <p:spPr>
          <a:xfrm rot="-26856">
            <a:off x="3022625" y="3930650"/>
            <a:ext cx="16256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" name="AutoShape 19"/>
          <p:cNvSpPr/>
          <p:nvPr/>
        </p:nvSpPr>
        <p:spPr>
          <a:xfrm>
            <a:off x="2895600" y="4191000"/>
            <a:ext cx="18796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核心功能：</a:t>
            </a:r>
            <a:b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FTA + FMEA 综合分析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2895600" y="5207000"/>
            <a:ext cx="18796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技术特点：</a:t>
            </a:r>
            <a:b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故障分析多 Agent 流水线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5156200" y="1143000"/>
            <a:ext cx="2133600" cy="4953000"/>
          </a:xfrm>
          <a:prstGeom prst="roundRect">
            <a:avLst>
              <a:gd name="adj" fmla="val 7142"/>
            </a:avLst>
          </a:prstGeom>
          <a:solidFill>
            <a:srgbClr val="F0F9FF">
              <a:alpha val="100000"/>
            </a:srgbClr>
          </a:solidFill>
          <a:ln w="12700" cap="flat" cmpd="sng">
            <a:solidFill>
              <a:srgbClr val="005AB4">
                <a:alpha val="20000"/>
              </a:srgbClr>
            </a:solidFill>
            <a:prstDash val="solid"/>
            <a:round/>
          </a:ln>
          <a:effectLst>
            <a:outerShdw blurRad="152400" dist="508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842000" y="1524000"/>
            <a:ext cx="762000" cy="762000"/>
          </a:xfrm>
          <a:prstGeom prst="rect">
            <a:avLst/>
          </a:prstGeom>
        </p:spPr>
      </p:pic>
      <p:sp>
        <p:nvSpPr>
          <p:cNvPr id="23" name="AutoShape 23"/>
          <p:cNvSpPr/>
          <p:nvPr/>
        </p:nvSpPr>
        <p:spPr>
          <a:xfrm>
            <a:off x="5283200" y="2540000"/>
            <a:ext cx="18796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SmartInsight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5283200" y="3302000"/>
            <a:ext cx="18796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智能代码走查</a:t>
            </a:r>
            <a:endParaRPr lang="en-US" sz="1100"/>
          </a:p>
        </p:txBody>
      </p:sp>
      <p:cxnSp>
        <p:nvCxnSpPr>
          <p:cNvPr id="25" name="Connector 25"/>
          <p:cNvCxnSpPr/>
          <p:nvPr/>
        </p:nvCxnSpPr>
        <p:spPr>
          <a:xfrm rot="-26856">
            <a:off x="5410225" y="3930650"/>
            <a:ext cx="16256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" name="AutoShape 26"/>
          <p:cNvSpPr/>
          <p:nvPr/>
        </p:nvSpPr>
        <p:spPr>
          <a:xfrm>
            <a:off x="5283200" y="4191000"/>
            <a:ext cx="18796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核心功能：</a:t>
            </a:r>
            <a:b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代码质量深度确认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5283200" y="5207000"/>
            <a:ext cx="18796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技术特点：</a:t>
            </a:r>
            <a:b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LangChain Agentic 架构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7543800" y="1143000"/>
            <a:ext cx="2133600" cy="4953000"/>
          </a:xfrm>
          <a:prstGeom prst="roundRect">
            <a:avLst>
              <a:gd name="adj" fmla="val 7142"/>
            </a:avLst>
          </a:prstGeom>
          <a:solidFill>
            <a:srgbClr val="F0F9FF">
              <a:alpha val="100000"/>
            </a:srgbClr>
          </a:solidFill>
          <a:ln w="12700" cap="flat" cmpd="sng">
            <a:solidFill>
              <a:srgbClr val="005AB4">
                <a:alpha val="20000"/>
              </a:srgbClr>
            </a:solidFill>
            <a:prstDash val="solid"/>
            <a:round/>
          </a:ln>
          <a:effectLst>
            <a:outerShdw blurRad="152400" dist="508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9" name="Picture 29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229600" y="1524000"/>
            <a:ext cx="762000" cy="762000"/>
          </a:xfrm>
          <a:prstGeom prst="rect">
            <a:avLst/>
          </a:prstGeom>
        </p:spPr>
      </p:pic>
      <p:sp>
        <p:nvSpPr>
          <p:cNvPr id="30" name="AutoShape 30"/>
          <p:cNvSpPr/>
          <p:nvPr/>
        </p:nvSpPr>
        <p:spPr>
          <a:xfrm>
            <a:off x="7670800" y="2540000"/>
            <a:ext cx="18796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SmartST</a:t>
            </a:r>
            <a:endParaRPr lang="en-US" sz="1100"/>
          </a:p>
        </p:txBody>
      </p:sp>
      <p:sp>
        <p:nvSpPr>
          <p:cNvPr id="31" name="AutoShape 31"/>
          <p:cNvSpPr/>
          <p:nvPr/>
        </p:nvSpPr>
        <p:spPr>
          <a:xfrm>
            <a:off x="7670800" y="3302000"/>
            <a:ext cx="18796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系统自动化测试</a:t>
            </a:r>
            <a:endParaRPr lang="en-US" sz="1100"/>
          </a:p>
        </p:txBody>
      </p:sp>
      <p:cxnSp>
        <p:nvCxnSpPr>
          <p:cNvPr id="32" name="Connector 32"/>
          <p:cNvCxnSpPr/>
          <p:nvPr/>
        </p:nvCxnSpPr>
        <p:spPr>
          <a:xfrm rot="-26856">
            <a:off x="7797825" y="3930650"/>
            <a:ext cx="16256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" name="AutoShape 33"/>
          <p:cNvSpPr/>
          <p:nvPr/>
        </p:nvSpPr>
        <p:spPr>
          <a:xfrm>
            <a:off x="7670800" y="4191000"/>
            <a:ext cx="18796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核心功能：</a:t>
            </a:r>
            <a:b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需求驱动的测试生成</a:t>
            </a:r>
            <a:endParaRPr lang="en-US" sz="1100"/>
          </a:p>
        </p:txBody>
      </p:sp>
      <p:sp>
        <p:nvSpPr>
          <p:cNvPr id="34" name="AutoShape 34"/>
          <p:cNvSpPr/>
          <p:nvPr/>
        </p:nvSpPr>
        <p:spPr>
          <a:xfrm>
            <a:off x="7670800" y="5207000"/>
            <a:ext cx="18796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技术特点：</a:t>
            </a:r>
            <a:b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测试全链路闭环管理</a:t>
            </a:r>
            <a:endParaRPr lang="en-US" sz="1100"/>
          </a:p>
        </p:txBody>
      </p:sp>
      <p:sp>
        <p:nvSpPr>
          <p:cNvPr id="35" name="AutoShape 35"/>
          <p:cNvSpPr/>
          <p:nvPr/>
        </p:nvSpPr>
        <p:spPr>
          <a:xfrm>
            <a:off x="9931400" y="1143000"/>
            <a:ext cx="2133600" cy="4953000"/>
          </a:xfrm>
          <a:prstGeom prst="roundRect">
            <a:avLst>
              <a:gd name="adj" fmla="val 7142"/>
            </a:avLst>
          </a:prstGeom>
          <a:solidFill>
            <a:srgbClr val="F0F9FF">
              <a:alpha val="100000"/>
            </a:srgbClr>
          </a:solidFill>
          <a:ln w="12700" cap="flat" cmpd="sng">
            <a:solidFill>
              <a:srgbClr val="005AB4">
                <a:alpha val="20000"/>
              </a:srgbClr>
            </a:solidFill>
            <a:prstDash val="solid"/>
            <a:round/>
          </a:ln>
          <a:effectLst>
            <a:outerShdw blurRad="152400" dist="508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6" name="Picture 36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617200" y="1524000"/>
            <a:ext cx="762000" cy="762000"/>
          </a:xfrm>
          <a:prstGeom prst="rect">
            <a:avLst/>
          </a:prstGeom>
        </p:spPr>
      </p:pic>
      <p:sp>
        <p:nvSpPr>
          <p:cNvPr id="37" name="AutoShape 37"/>
          <p:cNvSpPr/>
          <p:nvPr/>
        </p:nvSpPr>
        <p:spPr>
          <a:xfrm>
            <a:off x="10058400" y="2540000"/>
            <a:ext cx="18796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SmartUT</a:t>
            </a:r>
            <a:endParaRPr lang="en-US" sz="1100"/>
          </a:p>
        </p:txBody>
      </p:sp>
      <p:sp>
        <p:nvSpPr>
          <p:cNvPr id="38" name="AutoShape 38"/>
          <p:cNvSpPr/>
          <p:nvPr/>
        </p:nvSpPr>
        <p:spPr>
          <a:xfrm>
            <a:off x="10058400" y="3302000"/>
            <a:ext cx="18796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单元测试生成</a:t>
            </a:r>
            <a:endParaRPr lang="en-US" sz="1100"/>
          </a:p>
        </p:txBody>
      </p:sp>
      <p:cxnSp>
        <p:nvCxnSpPr>
          <p:cNvPr id="39" name="Connector 39"/>
          <p:cNvCxnSpPr/>
          <p:nvPr/>
        </p:nvCxnSpPr>
        <p:spPr>
          <a:xfrm rot="-26856">
            <a:off x="10185425" y="3930650"/>
            <a:ext cx="16256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0" name="AutoShape 40"/>
          <p:cNvSpPr/>
          <p:nvPr/>
        </p:nvSpPr>
        <p:spPr>
          <a:xfrm>
            <a:off x="10058400" y="4191000"/>
            <a:ext cx="18796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核心功能：</a:t>
            </a:r>
            <a:b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自动化单元测试用例生成</a:t>
            </a:r>
            <a:endParaRPr lang="en-US" sz="1100"/>
          </a:p>
        </p:txBody>
      </p:sp>
      <p:sp>
        <p:nvSpPr>
          <p:cNvPr id="41" name="AutoShape 41"/>
          <p:cNvSpPr/>
          <p:nvPr/>
        </p:nvSpPr>
        <p:spPr>
          <a:xfrm>
            <a:off x="10058400" y="5207000"/>
            <a:ext cx="18796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技术特点：</a:t>
            </a:r>
            <a:b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专用单元测试 Agent</a:t>
            </a:r>
            <a:endParaRPr lang="en-US" sz="11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 rot="-3580">
            <a:off x="3" y="679450"/>
            <a:ext cx="1219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" name="Connector 4"/>
          <p:cNvCxnSpPr/>
          <p:nvPr/>
        </p:nvCxnSpPr>
        <p:spPr>
          <a:xfrm rot="5304531">
            <a:off x="10909300" y="400138"/>
            <a:ext cx="4572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AutoShape 6"/>
          <p:cNvSpPr/>
          <p:nvPr/>
        </p:nvSpPr>
        <p:spPr>
          <a:xfrm>
            <a:off x="469900" y="139700"/>
            <a:ext cx="9715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 spc="300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PART 02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0" y="2159000"/>
            <a:ext cx="12192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8000" b="1" i="0" u="none" strike="noStrike">
                <a:solidFill>
                  <a:srgbClr val="005AB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PART 2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0" y="3683000"/>
            <a:ext cx="1219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各Agent功能详细介绍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0" y="4826000"/>
            <a:ext cx="12192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DETAILED INTRODUCTION OF AGENT FUNCTIONS</a:t>
            </a:r>
            <a:endParaRPr lang="en-US" sz="11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>
            <a:off x="0" y="685800"/>
            <a:ext cx="12192007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cxnSp>
        <p:nvCxnSpPr>
          <p:cNvPr id="4" name="Connector 4"/>
          <p:cNvCxnSpPr/>
          <p:nvPr/>
        </p:nvCxnSpPr>
        <p:spPr>
          <a:xfrm rot="5209099">
            <a:off x="10915564" y="400138"/>
            <a:ext cx="457376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lg" len="lg"/>
            <a:tailEnd type="none" w="lg" len="lg"/>
          </a:ln>
        </p:spPr>
      </p:cxnSp>
      <p:sp>
        <p:nvSpPr>
          <p:cNvPr id="6" name="AutoShape 6"/>
          <p:cNvSpPr/>
          <p:nvPr/>
        </p:nvSpPr>
        <p:spPr>
          <a:xfrm>
            <a:off x="469900" y="139700"/>
            <a:ext cx="9715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2.1 SafeWise — 系统安全分析智能体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508000" y="1143000"/>
            <a:ext cx="3556000" cy="4953000"/>
          </a:xfrm>
          <a:prstGeom prst="roundRect">
            <a:avLst>
              <a:gd name="adj" fmla="val 5714"/>
            </a:avLst>
          </a:prstGeom>
          <a:solidFill>
            <a:srgbClr val="005AB4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52400" dist="76200" dir="2700000" algn="tl" rotWithShape="0">
              <a:srgbClr val="000000">
                <a:alpha val="1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2000" y="1524000"/>
            <a:ext cx="812800" cy="8128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762000" y="2540000"/>
            <a:ext cx="304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核心价值 · 效率飞跃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762000" y="3238500"/>
            <a:ext cx="3048000" cy="25400"/>
          </a:xfrm>
          <a:prstGeom prst="roundRect">
            <a:avLst>
              <a:gd name="adj" fmla="val 0"/>
            </a:avLst>
          </a:prstGeom>
          <a:solidFill>
            <a:srgbClr val="FFFFFF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1" name="AutoShape 11"/>
          <p:cNvSpPr/>
          <p:nvPr/>
        </p:nvSpPr>
        <p:spPr>
          <a:xfrm>
            <a:off x="762000" y="3556000"/>
            <a:ext cx="3048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FFFFFF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打破传统人工分析的效率瓶颈，利用AI多智能体协同能力，将原本需要</a:t>
            </a:r>
            <a:r>
              <a:rPr lang="en-US" sz="1600" b="1" i="0" u="none" strike="noStrike">
                <a:solidFill>
                  <a:srgbClr val="FFFFFF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数周</a:t>
            </a:r>
            <a:r>
              <a:rPr lang="en-US" sz="1200" b="0" i="0" u="none" strike="noStrike">
                <a:solidFill>
                  <a:srgbClr val="FFFFFF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的STPA分析工作，极致压缩至</a:t>
            </a:r>
            <a:r>
              <a:rPr lang="en-US" sz="2000" b="1" i="0" u="none" strike="noStrike">
                <a:solidFill>
                  <a:srgbClr val="FFFFFF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数小时</a:t>
            </a:r>
            <a:r>
              <a:rPr lang="en-US" sz="1200" b="0" i="0" u="none" strike="noStrike">
                <a:solidFill>
                  <a:srgbClr val="FFFFFF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内自动完成。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4318000" y="1143000"/>
            <a:ext cx="3683000" cy="2349500"/>
          </a:xfrm>
          <a:prstGeom prst="roundRect">
            <a:avLst>
              <a:gd name="adj" fmla="val 648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101600" dist="381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2000" y="1397000"/>
            <a:ext cx="508000" cy="5080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5334000" y="1422400"/>
            <a:ext cx="2540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产品定位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4572000" y="2095500"/>
            <a:ext cx="3175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面向航天航空等复杂系统，专为高安全等级需求打造的</a:t>
            </a:r>
            <a:r>
              <a:rPr lang="en-US" sz="1200" b="1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STPA多智能体安全分析平台</a:t>
            </a:r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8128000" y="1143000"/>
            <a:ext cx="3683000" cy="2349500"/>
          </a:xfrm>
          <a:prstGeom prst="roundRect">
            <a:avLst>
              <a:gd name="adj" fmla="val 648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101600" dist="381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382000" y="1397000"/>
            <a:ext cx="508000" cy="5080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9144000" y="1422400"/>
            <a:ext cx="2540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核心分析方法 STPA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8382000" y="2095500"/>
            <a:ext cx="3175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</a:t>
            </a:r>
            <a:r>
              <a:rPr lang="en-US" sz="1200" b="1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系统理论过程分析 (STPA)</a:t>
            </a:r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方法论，通过AI深度理解系统结构与控制约束，精准识别潜在的不安全控制行为。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4318000" y="3746500"/>
            <a:ext cx="3683000" cy="2349500"/>
          </a:xfrm>
          <a:prstGeom prst="roundRect">
            <a:avLst>
              <a:gd name="adj" fmla="val 648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101600" dist="381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572000" y="4000500"/>
            <a:ext cx="508000" cy="508000"/>
          </a:xfrm>
          <a:prstGeom prst="rect">
            <a:avLst/>
          </a:prstGeom>
        </p:spPr>
      </p:pic>
      <p:sp>
        <p:nvSpPr>
          <p:cNvPr id="22" name="AutoShape 22"/>
          <p:cNvSpPr/>
          <p:nvPr/>
        </p:nvSpPr>
        <p:spPr>
          <a:xfrm>
            <a:off x="5334000" y="4025900"/>
            <a:ext cx="2540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核心目标用户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4572000" y="4699000"/>
            <a:ext cx="3175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专业的系统安全工程师、飞行器/航天器总体研制团队，以及负责复杂系统可靠性验证的技术专家。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8128000" y="3746500"/>
            <a:ext cx="3683000" cy="2349500"/>
          </a:xfrm>
          <a:prstGeom prst="roundRect">
            <a:avLst>
              <a:gd name="adj" fmla="val 648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101600" dist="381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5" name="Picture 25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382000" y="4000500"/>
            <a:ext cx="508000" cy="508000"/>
          </a:xfrm>
          <a:prstGeom prst="rect">
            <a:avLst/>
          </a:prstGeom>
        </p:spPr>
      </p:pic>
      <p:sp>
        <p:nvSpPr>
          <p:cNvPr id="26" name="AutoShape 26"/>
          <p:cNvSpPr/>
          <p:nvPr/>
        </p:nvSpPr>
        <p:spPr>
          <a:xfrm>
            <a:off x="9144000" y="4025900"/>
            <a:ext cx="2540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典型应用场景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8382000" y="4699000"/>
            <a:ext cx="3175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覆盖飞行控制系统、航天器姿态控制、复杂机电系统等对安全完整性等级 (SIL) 要求极高的关键领域。</a:t>
            </a:r>
            <a:endParaRPr lang="en-US" sz="11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2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10693400" y="6527800"/>
            <a:ext cx="9271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t" anchorCtr="0"/>
          <a:lstStyle/>
          <a:p>
            <a:pPr indent="0" algn="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ARCH</a:t>
            </a:r>
            <a:endParaRPr lang="en-US" sz="1100"/>
          </a:p>
        </p:txBody>
      </p:sp>
      <p:cxnSp>
        <p:nvCxnSpPr>
          <p:cNvPr id="4" name="Connector 4"/>
          <p:cNvCxnSpPr/>
          <p:nvPr/>
        </p:nvCxnSpPr>
        <p:spPr>
          <a:xfrm rot="-3580">
            <a:off x="3" y="679450"/>
            <a:ext cx="1219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miter lim="8000000"/>
            <a:headEnd type="none" w="lg" len="lg"/>
            <a:tailEnd type="none" w="lg" len="lg"/>
          </a:ln>
        </p:spPr>
      </p:cxnSp>
      <p:cxnSp>
        <p:nvCxnSpPr>
          <p:cNvPr id="5" name="Connector 5"/>
          <p:cNvCxnSpPr/>
          <p:nvPr/>
        </p:nvCxnSpPr>
        <p:spPr>
          <a:xfrm rot="5304531">
            <a:off x="10909300" y="400138"/>
            <a:ext cx="4572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miter lim="8000000"/>
            <a:headEnd type="none" w="lg" len="lg"/>
            <a:tailEnd type="none" w="lg" len="lg"/>
          </a:ln>
        </p:spPr>
      </p:cxnSp>
      <p:sp>
        <p:nvSpPr>
          <p:cNvPr id="7" name="AutoShape 7"/>
          <p:cNvSpPr/>
          <p:nvPr/>
        </p:nvSpPr>
        <p:spPr>
          <a:xfrm>
            <a:off x="469900" y="139700"/>
            <a:ext cx="9715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 spc="200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SafeWise 系统架构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508000" y="1143000"/>
            <a:ext cx="3429000" cy="4953000"/>
          </a:xfrm>
          <a:prstGeom prst="roundRect">
            <a:avLst>
              <a:gd name="adj" fmla="val 4444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  <a:effectLst>
            <a:outerShdw blurRad="152400" dist="50800" dir="2700000" algn="tl" rotWithShape="0">
              <a:srgbClr val="003296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8500" y="1397000"/>
            <a:ext cx="558800" cy="5588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1397000" y="1397000"/>
            <a:ext cx="2413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E40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Frontend (Vue 3)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698500" y="2159000"/>
            <a:ext cx="3048000" cy="1206500"/>
          </a:xfrm>
          <a:prstGeom prst="roundRect">
            <a:avLst>
              <a:gd name="adj" fmla="val 842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825500" y="2286000"/>
            <a:ext cx="279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E40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核心功能视图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825500" y="2667000"/>
            <a:ext cx="2794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ModelSettings | SystemList | SystemCreate | Analysis Dashboard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698500" y="3556000"/>
            <a:ext cx="3048000" cy="1206500"/>
          </a:xfrm>
          <a:prstGeom prst="roundRect">
            <a:avLst>
              <a:gd name="adj" fmla="val 842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5" name="AutoShape 15"/>
          <p:cNvSpPr/>
          <p:nvPr/>
        </p:nvSpPr>
        <p:spPr>
          <a:xfrm>
            <a:off x="825500" y="3683000"/>
            <a:ext cx="279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E40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可视化交互面板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825500" y="4064000"/>
            <a:ext cx="2794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AgentPanel | StpaList |</a:t>
            </a:r>
            <a:r>
              <a:rPr lang="en-US" sz="1100" b="1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StpaDetail (可追溯抽屉)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698500" y="4953000"/>
            <a:ext cx="3048000" cy="889000"/>
          </a:xfrm>
          <a:prstGeom prst="roundRect">
            <a:avLst>
              <a:gd name="adj" fmla="val 11428"/>
            </a:avLst>
          </a:prstGeom>
          <a:solidFill>
            <a:srgbClr val="DBEAF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8" name="AutoShape 18"/>
          <p:cNvSpPr/>
          <p:nvPr/>
        </p:nvSpPr>
        <p:spPr>
          <a:xfrm>
            <a:off x="825500" y="5080000"/>
            <a:ext cx="2794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1E40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通信协议：REST API + WebSocket</a:t>
            </a:r>
            <a:br>
              <a:rPr lang="en-US" sz="1200" b="0" i="0" u="none" strike="noStrike">
                <a:solidFill>
                  <a:srgbClr val="1E40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000" b="0" i="0" u="none" strike="noStrike">
                <a:solidFill>
                  <a:srgbClr val="60A5F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实时推送分析进度与状态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4191000" y="1143000"/>
            <a:ext cx="3556000" cy="4953000"/>
          </a:xfrm>
          <a:prstGeom prst="roundRect">
            <a:avLst>
              <a:gd name="adj" fmla="val 4285"/>
            </a:avLst>
          </a:prstGeom>
          <a:solidFill>
            <a:srgbClr val="F0FDF4">
              <a:alpha val="100000"/>
            </a:srgbClr>
          </a:solidFill>
          <a:ln w="12700" cap="flat" cmpd="sng">
            <a:solidFill>
              <a:srgbClr val="BBF7D0">
                <a:alpha val="100000"/>
              </a:srgbClr>
            </a:solidFill>
            <a:prstDash val="solid"/>
            <a:round/>
          </a:ln>
          <a:effectLst>
            <a:outerShdw blurRad="152400" dist="50800" dir="2700000" algn="tl" rotWithShape="0">
              <a:srgbClr val="14532D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81500" y="1397000"/>
            <a:ext cx="558800" cy="558800"/>
          </a:xfrm>
          <a:prstGeom prst="rect">
            <a:avLst/>
          </a:prstGeom>
        </p:spPr>
      </p:pic>
      <p:sp>
        <p:nvSpPr>
          <p:cNvPr id="21" name="AutoShape 21"/>
          <p:cNvSpPr/>
          <p:nvPr/>
        </p:nvSpPr>
        <p:spPr>
          <a:xfrm>
            <a:off x="5080000" y="1397000"/>
            <a:ext cx="2540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4532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Backend (Node.js + Exp)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4381500" y="2159000"/>
            <a:ext cx="31750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3" name="AutoShape 23"/>
          <p:cNvSpPr/>
          <p:nvPr/>
        </p:nvSpPr>
        <p:spPr>
          <a:xfrm>
            <a:off x="4508500" y="2286000"/>
            <a:ext cx="2921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5803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Agent 任务编排器 (Orchestrator)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4508500" y="2667000"/>
            <a:ext cx="2921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负责多阶段调度与协同：</a:t>
            </a:r>
            <a:b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Phase1 → Phase2 → Phase3 → ReviewAgent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4381500" y="3746500"/>
            <a:ext cx="3175000" cy="1270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6" name="AutoShape 26"/>
          <p:cNvSpPr/>
          <p:nvPr/>
        </p:nvSpPr>
        <p:spPr>
          <a:xfrm>
            <a:off x="4508500" y="3873500"/>
            <a:ext cx="2921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5803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LLM Service (OpenAI Comp.)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4508500" y="4254500"/>
            <a:ext cx="2921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兼容标准 OpenAI API，灵活适配各类大模型，处理核心逻辑推理。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4381500" y="5207000"/>
            <a:ext cx="3175000" cy="762000"/>
          </a:xfrm>
          <a:prstGeom prst="roundRect">
            <a:avLst>
              <a:gd name="adj" fmla="val 13333"/>
            </a:avLst>
          </a:prstGeom>
          <a:solidFill>
            <a:srgbClr val="DCFCE7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9" name="AutoShape 29"/>
          <p:cNvSpPr/>
          <p:nvPr/>
        </p:nvSpPr>
        <p:spPr>
          <a:xfrm>
            <a:off x="4508500" y="5334000"/>
            <a:ext cx="2921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14532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核心逻辑处理与任务分发中心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8001000" y="1143000"/>
            <a:ext cx="3429000" cy="4953000"/>
          </a:xfrm>
          <a:prstGeom prst="roundRect">
            <a:avLst>
              <a:gd name="adj" fmla="val 4444"/>
            </a:avLst>
          </a:prstGeom>
          <a:solidFill>
            <a:srgbClr val="FFF7ED">
              <a:alpha val="100000"/>
            </a:srgbClr>
          </a:solidFill>
          <a:ln w="12700" cap="flat" cmpd="sng">
            <a:solidFill>
              <a:srgbClr val="FED7AA">
                <a:alpha val="100000"/>
              </a:srgbClr>
            </a:solidFill>
            <a:prstDash val="solid"/>
            <a:round/>
          </a:ln>
          <a:effectLst>
            <a:outerShdw blurRad="152400" dist="50800" dir="2700000" algn="tl" rotWithShape="0">
              <a:srgbClr val="9A3412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1" name="Picture 31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191500" y="1397000"/>
            <a:ext cx="558800" cy="558800"/>
          </a:xfrm>
          <a:prstGeom prst="rect">
            <a:avLst/>
          </a:prstGeom>
        </p:spPr>
      </p:pic>
      <p:sp>
        <p:nvSpPr>
          <p:cNvPr id="32" name="AutoShape 32"/>
          <p:cNvSpPr/>
          <p:nvPr/>
        </p:nvSpPr>
        <p:spPr>
          <a:xfrm>
            <a:off x="8890000" y="1397000"/>
            <a:ext cx="2413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9A341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MySQL 数据库</a:t>
            </a:r>
            <a:endParaRPr lang="en-US" sz="1100"/>
          </a:p>
        </p:txBody>
      </p:sp>
      <p:sp>
        <p:nvSpPr>
          <p:cNvPr id="33" name="AutoShape 33"/>
          <p:cNvSpPr/>
          <p:nvPr/>
        </p:nvSpPr>
        <p:spPr>
          <a:xfrm>
            <a:off x="8191500" y="2159000"/>
            <a:ext cx="3048000" cy="1651000"/>
          </a:xfrm>
          <a:prstGeom prst="roundRect">
            <a:avLst>
              <a:gd name="adj" fmla="val 615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4" name="AutoShape 34"/>
          <p:cNvSpPr/>
          <p:nvPr/>
        </p:nvSpPr>
        <p:spPr>
          <a:xfrm>
            <a:off x="8318500" y="2286000"/>
            <a:ext cx="279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C2410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核心数据持久化</a:t>
            </a:r>
            <a:endParaRPr lang="en-US" sz="1100"/>
          </a:p>
        </p:txBody>
      </p:sp>
      <p:sp>
        <p:nvSpPr>
          <p:cNvPr id="35" name="AutoShape 35"/>
          <p:cNvSpPr/>
          <p:nvPr/>
        </p:nvSpPr>
        <p:spPr>
          <a:xfrm>
            <a:off x="8318500" y="2667000"/>
            <a:ext cx="2794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系统配置与模型参数 (Settings)</a:t>
            </a:r>
            <a:b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分析任务全生命周期数据 (Tasks)</a:t>
            </a:r>
            <a:b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Agent 日志与 STPA 追溯链路 (Logs)</a:t>
            </a:r>
            <a:endParaRPr lang="en-US" sz="1100"/>
          </a:p>
        </p:txBody>
      </p:sp>
      <p:sp>
        <p:nvSpPr>
          <p:cNvPr id="36" name="AutoShape 36"/>
          <p:cNvSpPr/>
          <p:nvPr/>
        </p:nvSpPr>
        <p:spPr>
          <a:xfrm>
            <a:off x="8191500" y="4064000"/>
            <a:ext cx="3048000" cy="1270000"/>
          </a:xfrm>
          <a:prstGeom prst="roundRect">
            <a:avLst>
              <a:gd name="adj" fmla="val 8000"/>
            </a:avLst>
          </a:prstGeom>
          <a:solidFill>
            <a:srgbClr val="FFEDD5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7" name="AutoShape 37"/>
          <p:cNvSpPr/>
          <p:nvPr/>
        </p:nvSpPr>
        <p:spPr>
          <a:xfrm>
            <a:off x="8318500" y="4191000"/>
            <a:ext cx="279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C2410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存储特性</a:t>
            </a:r>
            <a:endParaRPr lang="en-US" sz="1100"/>
          </a:p>
        </p:txBody>
      </p:sp>
      <p:sp>
        <p:nvSpPr>
          <p:cNvPr id="38" name="AutoShape 38"/>
          <p:cNvSpPr/>
          <p:nvPr/>
        </p:nvSpPr>
        <p:spPr>
          <a:xfrm>
            <a:off x="8318500" y="4572000"/>
            <a:ext cx="2794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100" b="0" i="0" u="none" strike="noStrike">
                <a:solidFill>
                  <a:srgbClr val="43140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高效连接池交互，支持事务处理与数据实时读写，保障一致性。</a:t>
            </a:r>
            <a:endParaRPr lang="en-US" sz="1100"/>
          </a:p>
        </p:txBody>
      </p:sp>
      <p:sp>
        <p:nvSpPr>
          <p:cNvPr id="39" name="AutoShape 39"/>
          <p:cNvSpPr/>
          <p:nvPr/>
        </p:nvSpPr>
        <p:spPr>
          <a:xfrm>
            <a:off x="8191500" y="5461000"/>
            <a:ext cx="3048000" cy="508000"/>
          </a:xfrm>
          <a:prstGeom prst="roundRect">
            <a:avLst>
              <a:gd name="adj" fmla="val 0"/>
            </a:avLst>
          </a:prstGeom>
          <a:solidFill>
            <a:srgbClr val="FBBF24">
              <a:alpha val="2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0" name="AutoShape 40"/>
          <p:cNvSpPr/>
          <p:nvPr/>
        </p:nvSpPr>
        <p:spPr>
          <a:xfrm>
            <a:off x="8191500" y="5562600"/>
            <a:ext cx="3048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B4530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数据底座与持久层</a:t>
            </a:r>
            <a:endParaRPr lang="en-US" sz="11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469900" y="139700"/>
            <a:ext cx="9715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SafeWise 三阶段 Agent 流水线</a:t>
            </a:r>
            <a:endParaRPr lang="en-US" sz="1100"/>
          </a:p>
        </p:txBody>
      </p:sp>
      <p:cxnSp>
        <p:nvCxnSpPr>
          <p:cNvPr id="4" name="Connector 4"/>
          <p:cNvCxnSpPr/>
          <p:nvPr/>
        </p:nvCxnSpPr>
        <p:spPr>
          <a:xfrm rot="-3580">
            <a:off x="3" y="679450"/>
            <a:ext cx="1219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" name="Connector 5"/>
          <p:cNvCxnSpPr/>
          <p:nvPr/>
        </p:nvCxnSpPr>
        <p:spPr>
          <a:xfrm rot="5304531">
            <a:off x="10909300" y="400138"/>
            <a:ext cx="4572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AutoShape 7"/>
          <p:cNvSpPr/>
          <p:nvPr/>
        </p:nvSpPr>
        <p:spPr>
          <a:xfrm>
            <a:off x="381000" y="1016000"/>
            <a:ext cx="3556000" cy="2540000"/>
          </a:xfrm>
          <a:prstGeom prst="roundRect">
            <a:avLst>
              <a:gd name="adj" fmla="val 5000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3B82F6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571500" y="1206500"/>
            <a:ext cx="3175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E40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阶段：危险与需求分析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571500" y="1714500"/>
            <a:ext cx="3175000" cy="1524000"/>
          </a:xfrm>
          <a:prstGeom prst="roundRect">
            <a:avLst>
              <a:gd name="adj" fmla="val 416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10"/>
          <p:cNvSpPr/>
          <p:nvPr/>
        </p:nvSpPr>
        <p:spPr>
          <a:xfrm>
            <a:off x="698500" y="1841500"/>
            <a:ext cx="2921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从损失场景出发，层层推导约束与需求：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1" i="0" u="none" strike="noStrike">
                <a:solidFill>
                  <a:srgbClr val="2563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LossAgent → HazardAgent → SafetyConstraintAgent → RequirementAgent → ReviewAgent</a:t>
            </a:r>
            <a:endParaRPr lang="en-US" sz="1200" b="1" i="0" u="none" strike="noStrike">
              <a:solidFill>
                <a:srgbClr val="2563E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4191000" y="1016000"/>
            <a:ext cx="3556000" cy="2540000"/>
          </a:xfrm>
          <a:prstGeom prst="roundRect">
            <a:avLst>
              <a:gd name="adj" fmla="val 5000"/>
            </a:avLst>
          </a:prstGeom>
          <a:solidFill>
            <a:srgbClr val="F0FDF4">
              <a:alpha val="10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4381500" y="1206500"/>
            <a:ext cx="3175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5803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阶段：控制结构与UCA分析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4381500" y="1714500"/>
            <a:ext cx="3175000" cy="1524000"/>
          </a:xfrm>
          <a:prstGeom prst="roundRect">
            <a:avLst>
              <a:gd name="adj" fmla="val 416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14"/>
          <p:cNvSpPr/>
          <p:nvPr/>
        </p:nvSpPr>
        <p:spPr>
          <a:xfrm>
            <a:off x="4508500" y="1841500"/>
            <a:ext cx="2921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构建系统控制模型，分析不安全控制行为：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1" i="0" u="none" strike="noStrike">
                <a:solidFill>
                  <a:srgbClr val="16A34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ControlStructureAgent → UCAAgent → DesignConstraintAgent → ReviewAgent</a:t>
            </a:r>
            <a:endParaRPr lang="en-US" sz="1200" b="1" i="0" u="none" strike="noStrike">
              <a:solidFill>
                <a:srgbClr val="16A34A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8001000" y="1016000"/>
            <a:ext cx="3556000" cy="2540000"/>
          </a:xfrm>
          <a:prstGeom prst="roundRect">
            <a:avLst>
              <a:gd name="adj" fmla="val 5000"/>
            </a:avLst>
          </a:prstGeom>
          <a:solidFill>
            <a:srgbClr val="FFF7ED">
              <a:alpha val="100000"/>
            </a:srgbClr>
          </a:solidFill>
          <a:ln w="12700" cap="flat" cmpd="sng">
            <a:solidFill>
              <a:srgbClr val="F97316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6" name="AutoShape 16"/>
          <p:cNvSpPr/>
          <p:nvPr/>
        </p:nvSpPr>
        <p:spPr>
          <a:xfrm>
            <a:off x="8191500" y="1206500"/>
            <a:ext cx="3175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C2410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 阶段：致因与测试设计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8191500" y="1714500"/>
            <a:ext cx="3175000" cy="1524000"/>
          </a:xfrm>
          <a:prstGeom prst="roundRect">
            <a:avLst>
              <a:gd name="adj" fmla="val 416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8" name="AutoShape 18"/>
          <p:cNvSpPr/>
          <p:nvPr/>
        </p:nvSpPr>
        <p:spPr>
          <a:xfrm>
            <a:off x="8318500" y="1841500"/>
            <a:ext cx="2921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基于因果链生成测试场景与用例：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1" i="0" u="none" strike="noStrike">
                <a:solidFill>
                  <a:srgbClr val="EA580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CausalAgent → ScenarioAgent → TestCaseAgent → ReviewAgent</a:t>
            </a:r>
            <a:endParaRPr lang="en-US" sz="1200" b="1" i="0" u="none" strike="noStrike">
              <a:solidFill>
                <a:srgbClr val="EA580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9" name="AutoShape 19"/>
          <p:cNvSpPr/>
          <p:nvPr/>
        </p:nvSpPr>
        <p:spPr>
          <a:xfrm>
            <a:off x="381000" y="3810000"/>
            <a:ext cx="11430000" cy="2286000"/>
          </a:xfrm>
          <a:prstGeom prst="roundRect">
            <a:avLst>
              <a:gd name="adj" fmla="val 5555"/>
            </a:avLst>
          </a:prstGeom>
          <a:solidFill>
            <a:srgbClr val="F8FAFC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0" name="AutoShape 20"/>
          <p:cNvSpPr/>
          <p:nvPr/>
        </p:nvSpPr>
        <p:spPr>
          <a:xfrm>
            <a:off x="571500" y="4000500"/>
            <a:ext cx="11049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F17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🔗 全链路可追溯性示例 (Traceability)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571500" y="4572000"/>
            <a:ext cx="5397500" cy="1143000"/>
          </a:xfrm>
          <a:prstGeom prst="roundRect">
            <a:avLst>
              <a:gd name="adj" fmla="val 5555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2" name="AutoShape 22"/>
          <p:cNvSpPr/>
          <p:nvPr/>
        </p:nvSpPr>
        <p:spPr>
          <a:xfrm>
            <a:off x="762000" y="4699000"/>
            <a:ext cx="5080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正向推导链：</a:t>
            </a:r>
            <a:r>
              <a:rPr lang="en-US" sz="12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TC-001 (测试用例) → LS-001 (损失场景) → UCA-003 (不安全控制) → H-002 (危险源) → L-001 (核心损失)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6159500" y="4572000"/>
            <a:ext cx="5397500" cy="1143000"/>
          </a:xfrm>
          <a:prstGeom prst="roundRect">
            <a:avLst>
              <a:gd name="adj" fmla="val 5555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4" name="AutoShape 24"/>
          <p:cNvSpPr/>
          <p:nvPr/>
        </p:nvSpPr>
        <p:spPr>
          <a:xfrm>
            <a:off x="6350000" y="4699000"/>
            <a:ext cx="5080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需求关联链：</a:t>
            </a:r>
            <a:r>
              <a:rPr lang="en-US" sz="12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TC-001 (测试用例) → SC-002 (安全约束) → REQ-005 (功能需求) → SYS-001 (系统设计规范)</a:t>
            </a:r>
            <a:endParaRPr lang="en-US" sz="11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 rot="-3580">
            <a:off x="3" y="679450"/>
            <a:ext cx="1219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cxnSp>
        <p:nvCxnSpPr>
          <p:cNvPr id="4" name="Connector 4"/>
          <p:cNvCxnSpPr/>
          <p:nvPr/>
        </p:nvCxnSpPr>
        <p:spPr>
          <a:xfrm rot="5304531">
            <a:off x="10909300" y="400138"/>
            <a:ext cx="4572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sp>
        <p:nvSpPr>
          <p:cNvPr id="6" name="AutoShape 6"/>
          <p:cNvSpPr/>
          <p:nvPr/>
        </p:nvSpPr>
        <p:spPr>
          <a:xfrm>
            <a:off x="469900" y="139700"/>
            <a:ext cx="9715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SafeWise 核心能力与发展规划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469900" y="1016000"/>
            <a:ext cx="5461000" cy="5207000"/>
          </a:xfrm>
          <a:prstGeom prst="roundRect">
            <a:avLst>
              <a:gd name="adj" fmla="val 2926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723900" y="1206500"/>
            <a:ext cx="4953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E40A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当前核心能力 Current Capabilities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723900" y="1841500"/>
            <a:ext cx="49530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38100" dir="2700000" algn="tl" rotWithShape="0">
              <a:srgbClr val="3B82F6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2070100"/>
            <a:ext cx="304800" cy="3048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1397000" y="1930400"/>
            <a:ext cx="4064000" cy="584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多Agent协同流水线，支持一键启动全流程自动化分析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723900" y="2730500"/>
            <a:ext cx="49530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38100" dir="2700000" algn="tl" rotWithShape="0">
              <a:srgbClr val="3B82F6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2959100"/>
            <a:ext cx="304800" cy="3048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1397000" y="2819400"/>
            <a:ext cx="4064000" cy="584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基于WebSocket实时推送分析进度，状态可视化透明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723900" y="3619500"/>
            <a:ext cx="49530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38100" dir="2700000" algn="tl" rotWithShape="0">
              <a:srgbClr val="3B82F6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3848100"/>
            <a:ext cx="304800" cy="3048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1397000" y="3708400"/>
            <a:ext cx="4064000" cy="584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构建完整追溯链：损失→危险→约束→需求→UCA→测试用例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723900" y="4508500"/>
            <a:ext cx="49530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38100" dir="2700000" algn="tl" rotWithShape="0">
              <a:srgbClr val="3B82F6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4737100"/>
            <a:ext cx="304800" cy="304800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1397000" y="4597400"/>
            <a:ext cx="4064000" cy="584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全面兼容OpenAI生态模型 (DeepSeek / GPT-4o / Qwen / Claude)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723900" y="5397500"/>
            <a:ext cx="49530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38100" dir="2700000" algn="tl" rotWithShape="0">
              <a:srgbClr val="3B82F6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5626100"/>
            <a:ext cx="304800" cy="304800"/>
          </a:xfrm>
          <a:prstGeom prst="rect">
            <a:avLst/>
          </a:prstGeom>
        </p:spPr>
      </p:pic>
      <p:sp>
        <p:nvSpPr>
          <p:cNvPr id="23" name="AutoShape 23"/>
          <p:cNvSpPr/>
          <p:nvPr/>
        </p:nvSpPr>
        <p:spPr>
          <a:xfrm>
            <a:off x="1397000" y="5486400"/>
            <a:ext cx="4064000" cy="584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完善的系统工程配置：支持飞行阶段、控制链路及系统组成管理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6261100" y="1016000"/>
            <a:ext cx="5461000" cy="5207000"/>
          </a:xfrm>
          <a:prstGeom prst="roundRect">
            <a:avLst>
              <a:gd name="adj" fmla="val 2926"/>
            </a:avLst>
          </a:prstGeom>
          <a:solidFill>
            <a:srgbClr val="FFF7ED">
              <a:alpha val="100000"/>
            </a:srgbClr>
          </a:solidFill>
          <a:ln w="12700" cap="flat" cmpd="sng">
            <a:solidFill>
              <a:srgbClr val="FED7AA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5" name="AutoShape 25"/>
          <p:cNvSpPr/>
          <p:nvPr/>
        </p:nvSpPr>
        <p:spPr>
          <a:xfrm>
            <a:off x="6515100" y="1206500"/>
            <a:ext cx="4953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C2410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未来发展规划 Roadmap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6515100" y="1841500"/>
            <a:ext cx="4953000" cy="889000"/>
          </a:xfrm>
          <a:prstGeom prst="roundRect">
            <a:avLst>
              <a:gd name="adj" fmla="val 1142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38100" dir="2700000" algn="tl" rotWithShape="0">
              <a:srgbClr val="F97316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7" name="Picture 2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705600" y="2133600"/>
            <a:ext cx="304800" cy="304800"/>
          </a:xfrm>
          <a:prstGeom prst="rect">
            <a:avLst/>
          </a:prstGeom>
        </p:spPr>
      </p:pic>
      <p:sp>
        <p:nvSpPr>
          <p:cNvPr id="28" name="AutoShape 28"/>
          <p:cNvSpPr/>
          <p:nvPr/>
        </p:nvSpPr>
        <p:spPr>
          <a:xfrm>
            <a:off x="7188200" y="1968500"/>
            <a:ext cx="4064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增加 STAMP 因果图可视化功能，直观展示系统层级与反馈回路关系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6515100" y="2921000"/>
            <a:ext cx="4953000" cy="889000"/>
          </a:xfrm>
          <a:prstGeom prst="roundRect">
            <a:avLst>
              <a:gd name="adj" fmla="val 1142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38100" dir="2700000" algn="tl" rotWithShape="0">
              <a:srgbClr val="F97316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0" name="Picture 3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705600" y="3213100"/>
            <a:ext cx="304800" cy="304800"/>
          </a:xfrm>
          <a:prstGeom prst="rect">
            <a:avLst/>
          </a:prstGeom>
        </p:spPr>
      </p:pic>
      <p:sp>
        <p:nvSpPr>
          <p:cNvPr id="31" name="AutoShape 31"/>
          <p:cNvSpPr/>
          <p:nvPr/>
        </p:nvSpPr>
        <p:spPr>
          <a:xfrm>
            <a:off x="7188200" y="3048000"/>
            <a:ext cx="4064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实现与 SafeMatrix 深度联动，自动将 STPA 分析结果导入 FTA 进行量化分析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6515100" y="4000500"/>
            <a:ext cx="4953000" cy="889000"/>
          </a:xfrm>
          <a:prstGeom prst="roundRect">
            <a:avLst>
              <a:gd name="adj" fmla="val 1142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38100" dir="2700000" algn="tl" rotWithShape="0">
              <a:srgbClr val="F97316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3" name="Picture 3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705600" y="4292600"/>
            <a:ext cx="304800" cy="304800"/>
          </a:xfrm>
          <a:prstGeom prst="rect">
            <a:avLst/>
          </a:prstGeom>
        </p:spPr>
      </p:pic>
      <p:sp>
        <p:nvSpPr>
          <p:cNvPr id="34" name="AutoShape 34"/>
          <p:cNvSpPr/>
          <p:nvPr/>
        </p:nvSpPr>
        <p:spPr>
          <a:xfrm>
            <a:off x="7188200" y="4127500"/>
            <a:ext cx="4064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支持 GJB 900A 等国军标格式报告一键导出，满足军工领域标准化交付要求</a:t>
            </a:r>
            <a:endParaRPr lang="en-US" sz="1100"/>
          </a:p>
        </p:txBody>
      </p:sp>
      <p:sp>
        <p:nvSpPr>
          <p:cNvPr id="35" name="AutoShape 35"/>
          <p:cNvSpPr/>
          <p:nvPr/>
        </p:nvSpPr>
        <p:spPr>
          <a:xfrm>
            <a:off x="6515100" y="5080000"/>
            <a:ext cx="4953000" cy="889000"/>
          </a:xfrm>
          <a:prstGeom prst="roundRect">
            <a:avLst>
              <a:gd name="adj" fmla="val 1142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38100" dir="2700000" algn="tl" rotWithShape="0">
              <a:srgbClr val="F97316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6" name="Picture 3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705600" y="5372100"/>
            <a:ext cx="304800" cy="304800"/>
          </a:xfrm>
          <a:prstGeom prst="rect">
            <a:avLst/>
          </a:prstGeom>
        </p:spPr>
      </p:pic>
      <p:sp>
        <p:nvSpPr>
          <p:cNvPr id="37" name="AutoShape 37"/>
          <p:cNvSpPr/>
          <p:nvPr/>
        </p:nvSpPr>
        <p:spPr>
          <a:xfrm>
            <a:off x="7188200" y="5207000"/>
            <a:ext cx="4064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引入行业专家经验库，通过预定义规则与案例，持续提升约束生成与需求分析的质量</a:t>
            </a:r>
            <a:endParaRPr lang="en-US" sz="1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>
            <a:off x="0" y="685800"/>
            <a:ext cx="12192007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cxnSp>
        <p:nvCxnSpPr>
          <p:cNvPr id="4" name="Connector 4"/>
          <p:cNvCxnSpPr/>
          <p:nvPr/>
        </p:nvCxnSpPr>
        <p:spPr>
          <a:xfrm rot="5209099">
            <a:off x="10915564" y="400138"/>
            <a:ext cx="457376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lg" len="lg"/>
            <a:tailEnd type="none" w="lg" len="lg"/>
          </a:ln>
        </p:spPr>
      </p:cxnSp>
      <p:sp>
        <p:nvSpPr>
          <p:cNvPr id="6" name="AutoShape 6"/>
          <p:cNvSpPr/>
          <p:nvPr/>
        </p:nvSpPr>
        <p:spPr>
          <a:xfrm>
            <a:off x="469900" y="139700"/>
            <a:ext cx="97155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2.2 SafeMatrix — 软件功能安全分析智能体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508000" y="1016000"/>
            <a:ext cx="3556000" cy="1651000"/>
          </a:xfrm>
          <a:prstGeom prst="roundRect">
            <a:avLst>
              <a:gd name="adj" fmla="val 9230"/>
            </a:avLst>
          </a:prstGeom>
          <a:solidFill>
            <a:srgbClr val="EFF6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2000" y="1206500"/>
            <a:ext cx="457200" cy="4572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1397000" y="1206500"/>
            <a:ext cx="241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产品定位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762000" y="1778000"/>
            <a:ext cx="304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专注软件功能安全，覆盖需求-设计两阶段SFTA + FMEA全流程的智能化分析工具。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508000" y="2921000"/>
            <a:ext cx="3556000" cy="1651000"/>
          </a:xfrm>
          <a:prstGeom prst="roundRect">
            <a:avLst>
              <a:gd name="adj" fmla="val 9230"/>
            </a:avLst>
          </a:prstGeom>
          <a:solidFill>
            <a:srgbClr val="EFF6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2000" y="3111500"/>
            <a:ext cx="457200" cy="4572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1397000" y="3111500"/>
            <a:ext cx="241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分析方法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762000" y="3683000"/>
            <a:ext cx="304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核心融合两大权威方法：软件故障树分析 (SFTA) + 软件失效模式与影响分析 (FMEA)。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508000" y="4826000"/>
            <a:ext cx="3556000" cy="1397000"/>
          </a:xfrm>
          <a:prstGeom prst="roundRect">
            <a:avLst>
              <a:gd name="adj" fmla="val 10909"/>
            </a:avLst>
          </a:prstGeom>
          <a:solidFill>
            <a:srgbClr val="EFF6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2000" y="5016500"/>
            <a:ext cx="457200" cy="4572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1397000" y="5016500"/>
            <a:ext cx="241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目标用户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762000" y="5588000"/>
            <a:ext cx="304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软件可靠性工程师、功能安全专家及研发管理人员。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4318000" y="1016000"/>
            <a:ext cx="3556000" cy="2794000"/>
          </a:xfrm>
          <a:prstGeom prst="roundRect">
            <a:avLst>
              <a:gd name="adj" fmla="val 5454"/>
            </a:avLst>
          </a:prstGeom>
          <a:solidFill>
            <a:srgbClr val="F0FDF4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572000" y="1206500"/>
            <a:ext cx="457200" cy="457200"/>
          </a:xfrm>
          <a:prstGeom prst="rect">
            <a:avLst/>
          </a:prstGeom>
        </p:spPr>
      </p:pic>
      <p:sp>
        <p:nvSpPr>
          <p:cNvPr id="21" name="AutoShape 21"/>
          <p:cNvSpPr/>
          <p:nvPr/>
        </p:nvSpPr>
        <p:spPr>
          <a:xfrm>
            <a:off x="5207000" y="1206500"/>
            <a:ext cx="241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5803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核心价值赋能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4572000" y="1841500"/>
            <a:ext cx="3048000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</a:t>
            </a:r>
            <a:r>
              <a:rPr lang="en-US" sz="1200" b="1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自动生成：</a:t>
            </a:r>
            <a:r>
              <a:rPr lang="en-US" sz="12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基于SRS/SDD文档一键生成故障树与FMEA表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</a:t>
            </a:r>
            <a:r>
              <a:rPr lang="en-US" sz="1200" b="1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人机协作：</a:t>
            </a:r>
            <a:r>
              <a:rPr lang="en-US" sz="12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多轮交互迭代，持续精化分析质量</a:t>
            </a:r>
            <a:endParaRPr lang="en-US" sz="1200" b="0" i="0" u="none" strike="noStrike">
              <a:solidFill>
                <a:srgbClr val="3C3C3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</a:t>
            </a:r>
            <a:r>
              <a:rPr lang="en-US" sz="1200" b="1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标准交付：</a:t>
            </a:r>
            <a:r>
              <a:rPr lang="en-US" sz="12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自动输出满足要求的Word格式分析报告</a:t>
            </a:r>
            <a:endParaRPr lang="en-US" sz="1200" b="0" i="0" u="none" strike="noStrike">
              <a:solidFill>
                <a:srgbClr val="3C3C3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3" name="AutoShape 23"/>
          <p:cNvSpPr/>
          <p:nvPr/>
        </p:nvSpPr>
        <p:spPr>
          <a:xfrm>
            <a:off x="4318000" y="4064000"/>
            <a:ext cx="3556000" cy="2159000"/>
          </a:xfrm>
          <a:prstGeom prst="roundRect">
            <a:avLst>
              <a:gd name="adj" fmla="val 7058"/>
            </a:avLst>
          </a:prstGeom>
          <a:solidFill>
            <a:srgbClr val="FFF7ED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572000" y="4254500"/>
            <a:ext cx="457200" cy="457200"/>
          </a:xfrm>
          <a:prstGeom prst="rect">
            <a:avLst/>
          </a:prstGeom>
        </p:spPr>
      </p:pic>
      <p:sp>
        <p:nvSpPr>
          <p:cNvPr id="25" name="AutoShape 25"/>
          <p:cNvSpPr/>
          <p:nvPr/>
        </p:nvSpPr>
        <p:spPr>
          <a:xfrm>
            <a:off x="5207000" y="4254500"/>
            <a:ext cx="241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EA580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差异化竞争力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4572000" y="4953000"/>
            <a:ext cx="3048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实现“三阶段串联分析”闭环，支持分析过程的</a:t>
            </a:r>
            <a:r>
              <a:rPr lang="en-US" sz="1200" b="1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版本追踪</a:t>
            </a:r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与</a:t>
            </a:r>
            <a:r>
              <a:rPr lang="en-US" sz="1200" b="1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增量更新</a:t>
            </a:r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，大幅提升迭代效率。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8128000" y="1016000"/>
            <a:ext cx="3302000" cy="5207000"/>
          </a:xfrm>
          <a:prstGeom prst="roundRect">
            <a:avLst>
              <a:gd name="adj" fmla="val 4615"/>
            </a:avLst>
          </a:prstGeom>
          <a:solidFill>
            <a:srgbClr val="005AB4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90500" dist="76200" dir="2700000" algn="tl" rotWithShape="0">
              <a:srgbClr val="000000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8" name="Picture 28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763000" y="1778000"/>
            <a:ext cx="2032000" cy="2032000"/>
          </a:xfrm>
          <a:prstGeom prst="rect">
            <a:avLst/>
          </a:prstGeom>
        </p:spPr>
      </p:pic>
      <p:sp>
        <p:nvSpPr>
          <p:cNvPr id="29" name="AutoShape 29"/>
          <p:cNvSpPr/>
          <p:nvPr/>
        </p:nvSpPr>
        <p:spPr>
          <a:xfrm>
            <a:off x="8255000" y="4191000"/>
            <a:ext cx="304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AI AGENT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8255000" y="4953000"/>
            <a:ext cx="304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0" i="0" u="none" strike="noStrike" spc="200">
                <a:solidFill>
                  <a:srgbClr val="FFFFFF">
                    <a:alpha val="80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INTELLIGENCE</a:t>
            </a:r>
            <a:endParaRPr lang="en-US" sz="1100"/>
          </a:p>
        </p:txBody>
      </p:sp>
      <p:sp>
        <p:nvSpPr>
          <p:cNvPr id="31" name="AutoShape 31"/>
          <p:cNvSpPr/>
          <p:nvPr/>
        </p:nvSpPr>
        <p:spPr>
          <a:xfrm>
            <a:off x="8255000" y="55880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FFFFFF">
                    <a:alpha val="6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智能驱动 · 安全同行</a:t>
            </a:r>
            <a:endParaRPr lang="en-US" sz="11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 rot="-3580">
            <a:off x="3" y="679450"/>
            <a:ext cx="1219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4" name="AutoShape 4"/>
          <p:cNvSpPr/>
          <p:nvPr/>
        </p:nvSpPr>
        <p:spPr>
          <a:xfrm>
            <a:off x="469900" y="127000"/>
            <a:ext cx="762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SafeMatrix 系统架构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508000" y="1143000"/>
            <a:ext cx="3556000" cy="5080000"/>
          </a:xfrm>
          <a:prstGeom prst="roundRect">
            <a:avLst>
              <a:gd name="adj" fmla="val 3571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1397000"/>
            <a:ext cx="609600" cy="6096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524000" y="1460500"/>
            <a:ext cx="228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1E40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Frontend 前端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762000" y="21590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B82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React + CRA 核心框架</a:t>
            </a:r>
            <a:endParaRPr lang="en-US" sz="1100"/>
          </a:p>
        </p:txBody>
      </p:sp>
      <p:cxnSp>
        <p:nvCxnSpPr>
          <p:cNvPr id="9" name="Connector 9"/>
          <p:cNvCxnSpPr/>
          <p:nvPr/>
        </p:nvCxnSpPr>
        <p:spPr>
          <a:xfrm rot="-14323">
            <a:off x="762013" y="2660650"/>
            <a:ext cx="3048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0" name="AutoShape 10"/>
          <p:cNvSpPr/>
          <p:nvPr/>
        </p:nvSpPr>
        <p:spPr>
          <a:xfrm>
            <a:off x="762000" y="2921000"/>
            <a:ext cx="3048000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</a:t>
            </a:r>
            <a:r>
              <a:rPr lang="en-US" sz="1200" b="1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核心页面：</a:t>
            </a: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InputPage / FTAPage / FMEAPage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</a:t>
            </a:r>
            <a:r>
              <a:rPr lang="en-US" sz="1200" b="1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交互组件：</a:t>
            </a: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ReviewPanel 审查面板</a:t>
            </a:r>
            <a:endParaRPr lang="en-US" sz="12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</a:t>
            </a:r>
            <a:r>
              <a:rPr lang="en-US" sz="1200" b="1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可视化：</a:t>
            </a: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FaultTreeCanvas (拖拽/实时渲染)</a:t>
            </a:r>
            <a:endParaRPr lang="en-US" sz="12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762000" y="4826000"/>
            <a:ext cx="3048000" cy="762000"/>
          </a:xfrm>
          <a:prstGeom prst="roundRect">
            <a:avLst>
              <a:gd name="adj" fmla="val 8333"/>
            </a:avLst>
          </a:prstGeom>
          <a:solidFill>
            <a:srgbClr val="DBEAF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127000" tIns="0" rIns="12700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1E40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用户交互层：提供直观的故障树构建体验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4318000" y="1143000"/>
            <a:ext cx="3556000" cy="5080000"/>
          </a:xfrm>
          <a:prstGeom prst="roundRect">
            <a:avLst>
              <a:gd name="adj" fmla="val 3571"/>
            </a:avLst>
          </a:prstGeom>
          <a:solidFill>
            <a:srgbClr val="ECFEFF">
              <a:alpha val="100000"/>
            </a:srgbClr>
          </a:solidFill>
          <a:ln w="12700" cap="flat" cmpd="sng">
            <a:solidFill>
              <a:srgbClr val="A5F3FC">
                <a:alpha val="100000"/>
              </a:srgbClr>
            </a:solidFill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00" y="1397000"/>
            <a:ext cx="609600" cy="6096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5334000" y="1460500"/>
            <a:ext cx="228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155E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Backend 后端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4572000" y="21590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EA5E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Node.js + Express + Agent</a:t>
            </a:r>
            <a:endParaRPr lang="en-US" sz="1100"/>
          </a:p>
        </p:txBody>
      </p:sp>
      <p:cxnSp>
        <p:nvCxnSpPr>
          <p:cNvPr id="16" name="Connector 16"/>
          <p:cNvCxnSpPr/>
          <p:nvPr/>
        </p:nvCxnSpPr>
        <p:spPr>
          <a:xfrm rot="-14323">
            <a:off x="4572013" y="2660650"/>
            <a:ext cx="3048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A5F3FC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7" name="AutoShape 17"/>
          <p:cNvSpPr/>
          <p:nvPr/>
        </p:nvSpPr>
        <p:spPr>
          <a:xfrm>
            <a:off x="4572000" y="2921000"/>
            <a:ext cx="3048000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</a:t>
            </a:r>
            <a:r>
              <a:rPr lang="en-US" sz="1200" b="1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通信：</a:t>
            </a: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REST API +</a:t>
            </a:r>
            <a:r>
              <a:rPr lang="en-US" sz="1200" b="1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SSE流式传输</a:t>
            </a: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(实时反馈)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</a:t>
            </a:r>
            <a:r>
              <a:rPr lang="en-US" sz="1200" b="1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智能流水线：</a:t>
            </a: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需求/设计分析 → FTA/FMEA工程 → 审查</a:t>
            </a:r>
            <a:endParaRPr lang="en-US" sz="12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</a:t>
            </a:r>
            <a:r>
              <a:rPr lang="en-US" sz="1200" b="1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核心服务：</a:t>
            </a: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兼容 Claude/OpenAI LLM 接口 | JWT 安全认证</a:t>
            </a:r>
            <a:endParaRPr lang="en-US" sz="12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8" name="AutoShape 18"/>
          <p:cNvSpPr/>
          <p:nvPr/>
        </p:nvSpPr>
        <p:spPr>
          <a:xfrm>
            <a:off x="4572000" y="4826000"/>
            <a:ext cx="3048000" cy="762000"/>
          </a:xfrm>
          <a:prstGeom prst="roundRect">
            <a:avLst>
              <a:gd name="adj" fmla="val 8333"/>
            </a:avLst>
          </a:prstGeom>
          <a:solidFill>
            <a:srgbClr val="CFFAF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127000" tIns="0" rIns="12700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155E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逻辑处理层：多智能体协作完成复杂安全分析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8128000" y="1143000"/>
            <a:ext cx="3556000" cy="5080000"/>
          </a:xfrm>
          <a:prstGeom prst="roundRect">
            <a:avLst>
              <a:gd name="adj" fmla="val 3571"/>
            </a:avLst>
          </a:prstGeom>
          <a:solidFill>
            <a:srgbClr val="F5F3FF">
              <a:alpha val="100000"/>
            </a:srgbClr>
          </a:solidFill>
          <a:ln w="12700" cap="flat" cmpd="sng">
            <a:solidFill>
              <a:srgbClr val="DDD6FE">
                <a:alpha val="100000"/>
              </a:srgbClr>
            </a:solidFill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82000" y="1397000"/>
            <a:ext cx="609600" cy="609600"/>
          </a:xfrm>
          <a:prstGeom prst="rect">
            <a:avLst/>
          </a:prstGeom>
        </p:spPr>
      </p:pic>
      <p:sp>
        <p:nvSpPr>
          <p:cNvPr id="21" name="AutoShape 21"/>
          <p:cNvSpPr/>
          <p:nvPr/>
        </p:nvSpPr>
        <p:spPr>
          <a:xfrm>
            <a:off x="9144000" y="1460500"/>
            <a:ext cx="228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5B21B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Database 存储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8382000" y="21590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8B5C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PostgreSQL + Prisma ORM</a:t>
            </a:r>
            <a:endParaRPr lang="en-US" sz="1100"/>
          </a:p>
        </p:txBody>
      </p:sp>
      <p:cxnSp>
        <p:nvCxnSpPr>
          <p:cNvPr id="23" name="Connector 23"/>
          <p:cNvCxnSpPr/>
          <p:nvPr/>
        </p:nvCxnSpPr>
        <p:spPr>
          <a:xfrm rot="-14323">
            <a:off x="8382013" y="2660650"/>
            <a:ext cx="3048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DD6FE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4" name="AutoShape 24"/>
          <p:cNvSpPr/>
          <p:nvPr/>
        </p:nvSpPr>
        <p:spPr>
          <a:xfrm>
            <a:off x="8382000" y="2921000"/>
            <a:ext cx="3048000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</a:t>
            </a:r>
            <a:r>
              <a:rPr lang="en-US" sz="1200" b="1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数据持久化：</a:t>
            </a: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存储项目配置、分析参数与历史结果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</a:t>
            </a:r>
            <a:r>
              <a:rPr lang="en-US" sz="1200" b="1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ORM管理：</a:t>
            </a: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Prisma 负责复杂 Schema 映射与查询优化</a:t>
            </a:r>
            <a:endParaRPr lang="en-US" sz="12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</a:t>
            </a:r>
            <a:r>
              <a:rPr lang="en-US" sz="1200" b="1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可靠性：</a:t>
            </a: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支持事务回滚，保障分析数据的一致性</a:t>
            </a:r>
            <a:endParaRPr lang="en-US" sz="12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5" name="AutoShape 25"/>
          <p:cNvSpPr/>
          <p:nvPr/>
        </p:nvSpPr>
        <p:spPr>
          <a:xfrm>
            <a:off x="8382000" y="4826000"/>
            <a:ext cx="3048000" cy="762000"/>
          </a:xfrm>
          <a:prstGeom prst="roundRect">
            <a:avLst>
              <a:gd name="adj" fmla="val 8333"/>
            </a:avLst>
          </a:prstGeom>
          <a:solidFill>
            <a:srgbClr val="EDE9F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127000" tIns="0" rIns="12700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5B21B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数据持久层：结构化存储所有安全分析资产</a:t>
            </a:r>
            <a:endParaRPr lang="en-US" sz="11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 rot="-3580">
            <a:off x="3" y="679450"/>
            <a:ext cx="1219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" name="Connector 4"/>
          <p:cNvCxnSpPr/>
          <p:nvPr/>
        </p:nvCxnSpPr>
        <p:spPr>
          <a:xfrm rot="5304531">
            <a:off x="10909300" y="400138"/>
            <a:ext cx="4572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AutoShape 6"/>
          <p:cNvSpPr/>
          <p:nvPr/>
        </p:nvSpPr>
        <p:spPr>
          <a:xfrm>
            <a:off x="469900" y="139700"/>
            <a:ext cx="9715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SafeMatrix 三阶段分析详解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381000" y="1143000"/>
            <a:ext cx="3556000" cy="4953000"/>
          </a:xfrm>
          <a:prstGeom prst="roundRect">
            <a:avLst>
              <a:gd name="adj" fmla="val 357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905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5000" y="1397000"/>
            <a:ext cx="609600" cy="6096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1397000" y="1524000"/>
            <a:ext cx="241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阶段一：需求阶段 SFTA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635000" y="2286000"/>
            <a:ext cx="3048000" cy="31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核心依据：软件需求规格说明书 (SRS)</a:t>
            </a:r>
            <a:endParaRPr lang="en-US" sz="1100"/>
          </a:p>
        </p:txBody>
      </p:sp>
      <p:cxnSp>
        <p:nvCxnSpPr>
          <p:cNvPr id="11" name="Connector 11"/>
          <p:cNvCxnSpPr/>
          <p:nvPr/>
        </p:nvCxnSpPr>
        <p:spPr>
          <a:xfrm rot="-14323">
            <a:off x="635013" y="2787650"/>
            <a:ext cx="3048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6EB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" name="AutoShape 12"/>
          <p:cNvSpPr/>
          <p:nvPr/>
        </p:nvSpPr>
        <p:spPr>
          <a:xfrm>
            <a:off x="635000" y="3048000"/>
            <a:ext cx="3048000" cy="1016000"/>
          </a:xfrm>
          <a:prstGeom prst="roundRect">
            <a:avLst>
              <a:gd name="adj" fmla="val 6250"/>
            </a:avLst>
          </a:prstGeom>
          <a:solidFill>
            <a:srgbClr val="F0F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3" name="AutoShape 13"/>
          <p:cNvSpPr/>
          <p:nvPr/>
        </p:nvSpPr>
        <p:spPr>
          <a:xfrm>
            <a:off x="762000" y="3175000"/>
            <a:ext cx="2794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100" b="1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执行流程：</a:t>
            </a:r>
            <a:br>
              <a:rPr lang="en-US" sz="11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SRS解析 → 故障树生成 → 质量评审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635000" y="4318000"/>
            <a:ext cx="3048000" cy="31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97DB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灵活的分析支持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635000" y="4762500"/>
            <a:ext cx="3048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1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针对单棵故障树，系统支持：</a:t>
            </a:r>
            <a:br>
              <a:rPr lang="en-US" sz="11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迭代改进分析 • 历史重新分析 • 版本 Diff 对比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4318000" y="1143000"/>
            <a:ext cx="3556000" cy="4953000"/>
          </a:xfrm>
          <a:prstGeom prst="roundRect">
            <a:avLst>
              <a:gd name="adj" fmla="val 357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905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2000" y="1397000"/>
            <a:ext cx="609600" cy="6096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5334000" y="1524000"/>
            <a:ext cx="241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阶段二：SFTA + FMEA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4572000" y="2286000"/>
            <a:ext cx="3048000" cy="31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核心依据：软件详细设计文档 (SDD)</a:t>
            </a:r>
            <a:endParaRPr lang="en-US" sz="1100"/>
          </a:p>
        </p:txBody>
      </p:sp>
      <p:cxnSp>
        <p:nvCxnSpPr>
          <p:cNvPr id="20" name="Connector 20"/>
          <p:cNvCxnSpPr/>
          <p:nvPr/>
        </p:nvCxnSpPr>
        <p:spPr>
          <a:xfrm rot="-14323">
            <a:off x="4572013" y="2787650"/>
            <a:ext cx="3048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6EB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1" name="AutoShape 21"/>
          <p:cNvSpPr/>
          <p:nvPr/>
        </p:nvSpPr>
        <p:spPr>
          <a:xfrm>
            <a:off x="4572000" y="3048000"/>
            <a:ext cx="3048000" cy="1143000"/>
          </a:xfrm>
          <a:prstGeom prst="roundRect">
            <a:avLst>
              <a:gd name="adj" fmla="val 5555"/>
            </a:avLst>
          </a:prstGeom>
          <a:solidFill>
            <a:srgbClr val="F0F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2" name="AutoShape 22"/>
          <p:cNvSpPr/>
          <p:nvPr/>
        </p:nvSpPr>
        <p:spPr>
          <a:xfrm>
            <a:off x="4699000" y="3175000"/>
            <a:ext cx="2794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100" b="1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执行流程：</a:t>
            </a:r>
            <a:br>
              <a:rPr lang="en-US" sz="11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SDD解析 → 模块级树扩展 → FMEA评分 → 审查与缓解措施制定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4572000" y="4445000"/>
            <a:ext cx="3048000" cy="31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97DB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多维度风险量化评估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4572000" y="4889500"/>
            <a:ext cx="3048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1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 S/O/D 计算 RPN 风险值，精准定位高风险点并输出优化方案。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8255000" y="1143000"/>
            <a:ext cx="3556000" cy="4953000"/>
          </a:xfrm>
          <a:prstGeom prst="roundRect">
            <a:avLst>
              <a:gd name="adj" fmla="val 357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905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509000" y="1397000"/>
            <a:ext cx="609600" cy="609600"/>
          </a:xfrm>
          <a:prstGeom prst="rect">
            <a:avLst/>
          </a:prstGeom>
        </p:spPr>
      </p:pic>
      <p:sp>
        <p:nvSpPr>
          <p:cNvPr id="27" name="AutoShape 27"/>
          <p:cNvSpPr/>
          <p:nvPr/>
        </p:nvSpPr>
        <p:spPr>
          <a:xfrm>
            <a:off x="9271000" y="1524000"/>
            <a:ext cx="241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版本追踪与增量更新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8509000" y="2286000"/>
            <a:ext cx="3048000" cy="31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智能化变更感知与自动同步机制</a:t>
            </a:r>
            <a:endParaRPr lang="en-US" sz="1100"/>
          </a:p>
        </p:txBody>
      </p:sp>
      <p:cxnSp>
        <p:nvCxnSpPr>
          <p:cNvPr id="29" name="Connector 29"/>
          <p:cNvCxnSpPr/>
          <p:nvPr/>
        </p:nvCxnSpPr>
        <p:spPr>
          <a:xfrm rot="-14323">
            <a:off x="8509013" y="2787650"/>
            <a:ext cx="3048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6EB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0" name="AutoShape 30"/>
          <p:cNvSpPr/>
          <p:nvPr/>
        </p:nvSpPr>
        <p:spPr>
          <a:xfrm>
            <a:off x="8509000" y="3048000"/>
            <a:ext cx="3048000" cy="1016000"/>
          </a:xfrm>
          <a:prstGeom prst="roundRect">
            <a:avLst>
              <a:gd name="adj" fmla="val 6250"/>
            </a:avLst>
          </a:prstGeom>
          <a:solidFill>
            <a:srgbClr val="F0F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1" name="AutoShape 31"/>
          <p:cNvSpPr/>
          <p:nvPr/>
        </p:nvSpPr>
        <p:spPr>
          <a:xfrm>
            <a:off x="8636000" y="3175000"/>
            <a:ext cx="2794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100" b="1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变更检测：</a:t>
            </a:r>
            <a:br>
              <a:rPr lang="en-US" sz="11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需求变更后，自动标记设计分析结果的“过期”状态。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8509000" y="4318000"/>
            <a:ext cx="3048000" cy="31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97DB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LLM 驱动的高效增量分析</a:t>
            </a:r>
            <a:endParaRPr lang="en-US" sz="1100"/>
          </a:p>
        </p:txBody>
      </p:sp>
      <p:sp>
        <p:nvSpPr>
          <p:cNvPr id="33" name="AutoShape 33"/>
          <p:cNvSpPr/>
          <p:nvPr/>
        </p:nvSpPr>
        <p:spPr>
          <a:xfrm>
            <a:off x="8509000" y="4762500"/>
            <a:ext cx="3048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1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支持分析结构自动同步，仅对变更影响的部分进行增量 LLM 扩展，避免重复劳动。</a:t>
            </a:r>
            <a:endParaRPr lang="en-US" sz="11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 rot="-3580">
            <a:off x="3" y="679450"/>
            <a:ext cx="1219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cxnSp>
        <p:nvCxnSpPr>
          <p:cNvPr id="4" name="Connector 4"/>
          <p:cNvCxnSpPr/>
          <p:nvPr/>
        </p:nvCxnSpPr>
        <p:spPr>
          <a:xfrm rot="5209099">
            <a:off x="10915564" y="400138"/>
            <a:ext cx="457376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lg" len="lg"/>
            <a:tailEnd type="none" w="lg" len="lg"/>
          </a:ln>
        </p:spPr>
      </p:cxnSp>
      <p:sp>
        <p:nvSpPr>
          <p:cNvPr id="6" name="AutoShape 6"/>
          <p:cNvSpPr/>
          <p:nvPr/>
        </p:nvSpPr>
        <p:spPr>
          <a:xfrm>
            <a:off x="469900" y="139700"/>
            <a:ext cx="9715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SafeMatrix 核心能力与发展规划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508000" y="1143000"/>
            <a:ext cx="5461000" cy="5334000"/>
          </a:xfrm>
          <a:prstGeom prst="roundRect">
            <a:avLst>
              <a:gd name="adj" fmla="val 3571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762000" y="1397000"/>
            <a:ext cx="495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E40A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当前核心能力 / Current Capabilities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762000" y="2159000"/>
            <a:ext cx="4953000" cy="635000"/>
          </a:xfrm>
          <a:prstGeom prst="roundRect">
            <a:avLst>
              <a:gd name="adj" fmla="val 2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508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2500" y="2324100"/>
            <a:ext cx="304800" cy="3048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1397000" y="2222500"/>
            <a:ext cx="4191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两阶段 SFTA + FMEA 一体化深度分析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762000" y="2921000"/>
            <a:ext cx="4953000" cy="635000"/>
          </a:xfrm>
          <a:prstGeom prst="roundRect">
            <a:avLst>
              <a:gd name="adj" fmla="val 2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508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2500" y="3086100"/>
            <a:ext cx="304800" cy="3048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1397000" y="2984500"/>
            <a:ext cx="4191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故障树可视化画布 (交互式支持 AND/OR/基本事件节点)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762000" y="3683000"/>
            <a:ext cx="4953000" cy="635000"/>
          </a:xfrm>
          <a:prstGeom prst="roundRect">
            <a:avLst>
              <a:gd name="adj" fmla="val 2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508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2500" y="3848100"/>
            <a:ext cx="304800" cy="3048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1397000" y="3746500"/>
            <a:ext cx="4191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项目版本管理与 Diff 差异对比面板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762000" y="4445000"/>
            <a:ext cx="4953000" cy="635000"/>
          </a:xfrm>
          <a:prstGeom prst="roundRect">
            <a:avLst>
              <a:gd name="adj" fmla="val 2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508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2500" y="4610100"/>
            <a:ext cx="304800" cy="304800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1397000" y="4508500"/>
            <a:ext cx="4191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智能体 Prompt 灵活配置 (支持多 Agent 独立调优)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762000" y="5207000"/>
            <a:ext cx="4953000" cy="762000"/>
          </a:xfrm>
          <a:prstGeom prst="roundRect">
            <a:avLst>
              <a:gd name="adj" fmla="val 1666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508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2500" y="5435600"/>
            <a:ext cx="304800" cy="304800"/>
          </a:xfrm>
          <a:prstGeom prst="rect">
            <a:avLst/>
          </a:prstGeom>
        </p:spPr>
      </p:pic>
      <p:sp>
        <p:nvSpPr>
          <p:cNvPr id="23" name="AutoShape 23"/>
          <p:cNvSpPr/>
          <p:nvPr/>
        </p:nvSpPr>
        <p:spPr>
          <a:xfrm>
            <a:off x="1397000" y="5308600"/>
            <a:ext cx="4191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一键导出 Word 报告 (含故障树 PNG + FMEA 表 + RPN 色标)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6223000" y="1143000"/>
            <a:ext cx="5461000" cy="5334000"/>
          </a:xfrm>
          <a:prstGeom prst="roundRect">
            <a:avLst>
              <a:gd name="adj" fmla="val 3571"/>
            </a:avLst>
          </a:prstGeom>
          <a:solidFill>
            <a:srgbClr val="F0FDF4">
              <a:alpha val="100000"/>
            </a:srgbClr>
          </a:solidFill>
          <a:ln w="12700" cap="flat" cmpd="sng">
            <a:solidFill>
              <a:srgbClr val="BBF7D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5" name="AutoShape 25"/>
          <p:cNvSpPr/>
          <p:nvPr/>
        </p:nvSpPr>
        <p:spPr>
          <a:xfrm>
            <a:off x="6477000" y="1397000"/>
            <a:ext cx="495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5803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未来发展规划 / Future Roadmap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6477000" y="2159000"/>
            <a:ext cx="4953000" cy="889000"/>
          </a:xfrm>
          <a:prstGeom prst="roundRect">
            <a:avLst>
              <a:gd name="adj" fmla="val 14285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508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7" name="Picture 2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67500" y="2451100"/>
            <a:ext cx="304800" cy="304800"/>
          </a:xfrm>
          <a:prstGeom prst="rect">
            <a:avLst/>
          </a:prstGeom>
        </p:spPr>
      </p:pic>
      <p:sp>
        <p:nvSpPr>
          <p:cNvPr id="28" name="AutoShape 28"/>
          <p:cNvSpPr/>
          <p:nvPr/>
        </p:nvSpPr>
        <p:spPr>
          <a:xfrm>
            <a:off x="7112000" y="2286000"/>
            <a:ext cx="4191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支持 GJB / DO-178C 等行业标准报告模板自动生成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6477000" y="3175000"/>
            <a:ext cx="4953000" cy="889000"/>
          </a:xfrm>
          <a:prstGeom prst="roundRect">
            <a:avLst>
              <a:gd name="adj" fmla="val 14285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508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0" name="Picture 3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67500" y="3467100"/>
            <a:ext cx="304800" cy="304800"/>
          </a:xfrm>
          <a:prstGeom prst="rect">
            <a:avLst/>
          </a:prstGeom>
        </p:spPr>
      </p:pic>
      <p:sp>
        <p:nvSpPr>
          <p:cNvPr id="31" name="AutoShape 31"/>
          <p:cNvSpPr/>
          <p:nvPr/>
        </p:nvSpPr>
        <p:spPr>
          <a:xfrm>
            <a:off x="7112000" y="3302000"/>
            <a:ext cx="4191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深度接入 SafeWise 平台，STPA 分析结果自动驱动 SFTA 生成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6477000" y="4191000"/>
            <a:ext cx="4953000" cy="889000"/>
          </a:xfrm>
          <a:prstGeom prst="roundRect">
            <a:avLst>
              <a:gd name="adj" fmla="val 14285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508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3" name="Picture 3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67500" y="4483100"/>
            <a:ext cx="304800" cy="304800"/>
          </a:xfrm>
          <a:prstGeom prst="rect">
            <a:avLst/>
          </a:prstGeom>
        </p:spPr>
      </p:pic>
      <p:sp>
        <p:nvSpPr>
          <p:cNvPr id="34" name="AutoShape 34"/>
          <p:cNvSpPr/>
          <p:nvPr/>
        </p:nvSpPr>
        <p:spPr>
          <a:xfrm>
            <a:off x="7112000" y="4318000"/>
            <a:ext cx="4191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引入历史项目经验库，基于 AI 推荐提升分析效率与准确率</a:t>
            </a:r>
            <a:endParaRPr lang="en-US" sz="1100"/>
          </a:p>
        </p:txBody>
      </p:sp>
      <p:sp>
        <p:nvSpPr>
          <p:cNvPr id="35" name="AutoShape 35"/>
          <p:cNvSpPr/>
          <p:nvPr/>
        </p:nvSpPr>
        <p:spPr>
          <a:xfrm>
            <a:off x="6477000" y="5207000"/>
            <a:ext cx="4953000" cy="889000"/>
          </a:xfrm>
          <a:prstGeom prst="roundRect">
            <a:avLst>
              <a:gd name="adj" fmla="val 14285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508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6" name="Picture 3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67500" y="5499100"/>
            <a:ext cx="304800" cy="304800"/>
          </a:xfrm>
          <a:prstGeom prst="rect">
            <a:avLst/>
          </a:prstGeom>
        </p:spPr>
      </p:pic>
      <p:sp>
        <p:nvSpPr>
          <p:cNvPr id="37" name="AutoShape 37"/>
          <p:cNvSpPr/>
          <p:nvPr/>
        </p:nvSpPr>
        <p:spPr>
          <a:xfrm>
            <a:off x="7112000" y="5334000"/>
            <a:ext cx="4191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功能扩展：全面支持 FMECA 分析标准 (增加 Criticality Analysis)</a:t>
            </a:r>
            <a:endParaRPr lang="en-US" sz="11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>
            <a:off x="0" y="685800"/>
            <a:ext cx="12192007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cxnSp>
        <p:nvCxnSpPr>
          <p:cNvPr id="4" name="Connector 4"/>
          <p:cNvCxnSpPr/>
          <p:nvPr/>
        </p:nvCxnSpPr>
        <p:spPr>
          <a:xfrm rot="5209099">
            <a:off x="10915564" y="400138"/>
            <a:ext cx="457376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lg" len="lg"/>
            <a:tailEnd type="none" w="lg" len="lg"/>
          </a:ln>
        </p:spPr>
      </p:cxnSp>
      <p:sp>
        <p:nvSpPr>
          <p:cNvPr id="6" name="AutoShape 6"/>
          <p:cNvSpPr/>
          <p:nvPr/>
        </p:nvSpPr>
        <p:spPr>
          <a:xfrm>
            <a:off x="469900" y="889000"/>
            <a:ext cx="1016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2.3 SmartInsight — 代码走查智能体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469900" y="1651000"/>
            <a:ext cx="11252200" cy="762000"/>
          </a:xfrm>
          <a:prstGeom prst="roundRect">
            <a:avLst>
              <a:gd name="adj" fmla="val 16666"/>
            </a:avLst>
          </a:prstGeom>
          <a:solidFill>
            <a:srgbClr val="EBF5FF">
              <a:alpha val="100000"/>
            </a:srgbClr>
          </a:solidFill>
          <a:ln w="12700" cap="flat" cmpd="sng">
            <a:solidFill>
              <a:srgbClr val="B4D2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635000" y="1778000"/>
            <a:ext cx="10922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产品定位：</a:t>
            </a:r>
            <a:r>
              <a:rPr lang="en-US" sz="14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面向嵌入式/装备软件领域，提供专业、自动化、深度的 AI 代码走查智能体平台，助力研发质量提升。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469900" y="2667000"/>
            <a:ext cx="5461000" cy="1651000"/>
          </a:xfrm>
          <a:prstGeom prst="roundRect">
            <a:avLst>
              <a:gd name="adj" fmla="val 9230"/>
            </a:avLst>
          </a:prstGeom>
          <a:solidFill>
            <a:srgbClr val="F8FB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10"/>
          <p:cNvSpPr/>
          <p:nvPr/>
        </p:nvSpPr>
        <p:spPr>
          <a:xfrm>
            <a:off x="469900" y="2667000"/>
            <a:ext cx="76200" cy="1651000"/>
          </a:xfrm>
          <a:prstGeom prst="roundRect">
            <a:avLst>
              <a:gd name="adj" fmla="val 0"/>
            </a:avLst>
          </a:prstGeom>
          <a:solidFill>
            <a:srgbClr val="097DB7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5500" y="2921000"/>
            <a:ext cx="609600" cy="6096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1651000" y="2921000"/>
            <a:ext cx="381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设计一致性验证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1651000" y="3429000"/>
            <a:ext cx="3937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智能比对代码实现逻辑与软件概要设计、详细设计报告的描述，确保开发过程严格遵循设计规范。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6261100" y="2667000"/>
            <a:ext cx="5461000" cy="1651000"/>
          </a:xfrm>
          <a:prstGeom prst="roundRect">
            <a:avLst>
              <a:gd name="adj" fmla="val 9230"/>
            </a:avLst>
          </a:prstGeom>
          <a:solidFill>
            <a:srgbClr val="F8FB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5" name="AutoShape 15"/>
          <p:cNvSpPr/>
          <p:nvPr/>
        </p:nvSpPr>
        <p:spPr>
          <a:xfrm>
            <a:off x="6261100" y="2667000"/>
            <a:ext cx="76200" cy="1651000"/>
          </a:xfrm>
          <a:prstGeom prst="roundRect">
            <a:avLst>
              <a:gd name="adj" fmla="val 0"/>
            </a:avLst>
          </a:prstGeom>
          <a:solidFill>
            <a:srgbClr val="097DB7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16700" y="2921000"/>
            <a:ext cx="609600" cy="6096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7442200" y="2921000"/>
            <a:ext cx="381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需求满足性确认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7442200" y="3429000"/>
            <a:ext cx="3937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深度解析代码功能，自动校验代码对软件需求规格说明书中各项指标、功能点的覆盖与满足程度。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469900" y="4572000"/>
            <a:ext cx="5461000" cy="1651000"/>
          </a:xfrm>
          <a:prstGeom prst="roundRect">
            <a:avLst>
              <a:gd name="adj" fmla="val 9230"/>
            </a:avLst>
          </a:prstGeom>
          <a:solidFill>
            <a:srgbClr val="F8FB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0" name="AutoShape 20"/>
          <p:cNvSpPr/>
          <p:nvPr/>
        </p:nvSpPr>
        <p:spPr>
          <a:xfrm>
            <a:off x="469900" y="4572000"/>
            <a:ext cx="76200" cy="1651000"/>
          </a:xfrm>
          <a:prstGeom prst="roundRect">
            <a:avLst>
              <a:gd name="adj" fmla="val 0"/>
            </a:avLst>
          </a:prstGeom>
          <a:solidFill>
            <a:srgbClr val="097DB7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5500" y="4826000"/>
            <a:ext cx="609600" cy="609600"/>
          </a:xfrm>
          <a:prstGeom prst="rect">
            <a:avLst/>
          </a:prstGeom>
        </p:spPr>
      </p:pic>
      <p:sp>
        <p:nvSpPr>
          <p:cNvPr id="22" name="AutoShape 22"/>
          <p:cNvSpPr/>
          <p:nvPr/>
        </p:nvSpPr>
        <p:spPr>
          <a:xfrm>
            <a:off x="1651000" y="4826000"/>
            <a:ext cx="381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已知故障模式检查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1651000" y="5334000"/>
            <a:ext cx="3937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基于行业沉淀的软件故障模式库，快速扫描代码，精准识别并定位代码中潜在的已知故障模式风险。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6261100" y="4572000"/>
            <a:ext cx="5461000" cy="1651000"/>
          </a:xfrm>
          <a:prstGeom prst="roundRect">
            <a:avLst>
              <a:gd name="adj" fmla="val 9230"/>
            </a:avLst>
          </a:prstGeom>
          <a:solidFill>
            <a:srgbClr val="F8FB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5" name="AutoShape 25"/>
          <p:cNvSpPr/>
          <p:nvPr/>
        </p:nvSpPr>
        <p:spPr>
          <a:xfrm>
            <a:off x="6261100" y="4572000"/>
            <a:ext cx="76200" cy="1651000"/>
          </a:xfrm>
          <a:prstGeom prst="roundRect">
            <a:avLst>
              <a:gd name="adj" fmla="val 0"/>
            </a:avLst>
          </a:prstGeom>
          <a:solidFill>
            <a:srgbClr val="097DB7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616700" y="4826000"/>
            <a:ext cx="609600" cy="609600"/>
          </a:xfrm>
          <a:prstGeom prst="rect">
            <a:avLst/>
          </a:prstGeom>
        </p:spPr>
      </p:pic>
      <p:sp>
        <p:nvSpPr>
          <p:cNvPr id="27" name="AutoShape 27"/>
          <p:cNvSpPr/>
          <p:nvPr/>
        </p:nvSpPr>
        <p:spPr>
          <a:xfrm>
            <a:off x="7442200" y="4826000"/>
            <a:ext cx="381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静态分析误报消除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7442200" y="5334000"/>
            <a:ext cx="3937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AI介入静态分析工具输出结果，自动确认告警的有效性，大幅消除误报干扰，帮助工程师聚焦真实问题。</a:t>
            </a:r>
            <a:endParaRPr lang="en-US" sz="11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>
            <a:off x="0" y="685800"/>
            <a:ext cx="12192007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cxnSp>
        <p:nvCxnSpPr>
          <p:cNvPr id="4" name="Connector 4"/>
          <p:cNvCxnSpPr/>
          <p:nvPr/>
        </p:nvCxnSpPr>
        <p:spPr>
          <a:xfrm rot="5209099">
            <a:off x="10915564" y="400138"/>
            <a:ext cx="457376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lg" len="lg"/>
            <a:tailEnd type="none" w="lg" len="lg"/>
          </a:ln>
        </p:spPr>
      </p:cxnSp>
      <p:sp>
        <p:nvSpPr>
          <p:cNvPr id="6" name="AutoShape 6"/>
          <p:cNvSpPr/>
          <p:nvPr/>
        </p:nvSpPr>
        <p:spPr>
          <a:xfrm>
            <a:off x="469900" y="139700"/>
            <a:ext cx="9715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SmartInsight 系统架构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508000" y="1143000"/>
            <a:ext cx="11176000" cy="1397000"/>
          </a:xfrm>
          <a:prstGeom prst="roundRect">
            <a:avLst>
              <a:gd name="adj" fmla="val 10909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2000" y="1460500"/>
            <a:ext cx="762000" cy="7620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1778000" y="1333500"/>
            <a:ext cx="9525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Web Frontend (HTML / JS / CSS)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1778000" y="1778000"/>
            <a:ext cx="9525000" cy="31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核心功能：项目全生命周期管理 | 自动化文档配置 | 代码扫描报告可视化配置 | 走查结果实时大屏展示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1778000" y="2159000"/>
            <a:ext cx="9525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通信协议：基于 HTTP 接口交互 + SSE (Server-Sent Events) 流式数据推送，实现实时状态更新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508000" y="2794000"/>
            <a:ext cx="11176000" cy="2032000"/>
          </a:xfrm>
          <a:prstGeom prst="roundRect">
            <a:avLst>
              <a:gd name="adj" fmla="val 7500"/>
            </a:avLst>
          </a:prstGeom>
          <a:solidFill>
            <a:srgbClr val="ECFDF5">
              <a:alpha val="100000"/>
            </a:srgbClr>
          </a:solidFill>
          <a:ln w="12700" cap="flat" cmpd="sng">
            <a:solidFill>
              <a:srgbClr val="A7F3D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2000" y="3175000"/>
            <a:ext cx="762000" cy="7620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1778000" y="2984500"/>
            <a:ext cx="4572000" cy="1651000"/>
          </a:xfrm>
          <a:prstGeom prst="roundRect">
            <a:avLst>
              <a:gd name="adj" fmla="val 6153"/>
            </a:avLst>
          </a:prstGeom>
          <a:solidFill>
            <a:srgbClr val="FFFFFF">
              <a:alpha val="8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5" name="AutoShape 15"/>
          <p:cNvSpPr/>
          <p:nvPr/>
        </p:nvSpPr>
        <p:spPr>
          <a:xfrm>
            <a:off x="1968500" y="3111500"/>
            <a:ext cx="4191000" cy="31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65F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🔍 LangChain Agentic Search 核心引擎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1968500" y="3556000"/>
            <a:ext cx="4191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执行逻辑 (ReAct Loop):</a:t>
            </a:r>
            <a:b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list_dir(列目录) → glob_search(模式匹配) → grep_code(关键字检索) → read_file(深度读取)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1968500" y="4191000"/>
            <a:ext cx="4191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特性：自主决策代码检索路径，具备长上下文理解能力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6477000" y="2984500"/>
            <a:ext cx="4953000" cy="1651000"/>
          </a:xfrm>
          <a:prstGeom prst="roundRect">
            <a:avLst>
              <a:gd name="adj" fmla="val 6153"/>
            </a:avLst>
          </a:prstGeom>
          <a:solidFill>
            <a:srgbClr val="FFFFFF">
              <a:alpha val="8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9" name="AutoShape 19"/>
          <p:cNvSpPr/>
          <p:nvPr/>
        </p:nvSpPr>
        <p:spPr>
          <a:xfrm>
            <a:off x="6667500" y="3111500"/>
            <a:ext cx="4572000" cy="31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65F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📊 扫描报告归一化 &amp; 微服务集群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6667500" y="3556000"/>
            <a:ext cx="4572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12+ 工具支持: Coverity / CodeSonar / C++TEST / CppCheck / Klocwork / SonarQube / SARIF 等</a:t>
            </a:r>
            <a:b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统一数据模型，消除工具间格式壁垒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6667500" y="4191000"/>
            <a:ext cx="4572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基础服务：文档智能解析服务 · 经验库推理服务 · 结果分析服务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508000" y="5080000"/>
            <a:ext cx="11176000" cy="1270000"/>
          </a:xfrm>
          <a:prstGeom prst="roundRect">
            <a:avLst>
              <a:gd name="adj" fmla="val 12000"/>
            </a:avLst>
          </a:prstGeom>
          <a:solidFill>
            <a:srgbClr val="FFF7ED">
              <a:alpha val="100000"/>
            </a:srgbClr>
          </a:solidFill>
          <a:ln w="12700" cap="flat" cmpd="sng">
            <a:solidFill>
              <a:srgbClr val="FED7AA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2000" y="5334000"/>
            <a:ext cx="762000" cy="762000"/>
          </a:xfrm>
          <a:prstGeom prst="rect">
            <a:avLst/>
          </a:prstGeom>
        </p:spPr>
      </p:pic>
      <p:sp>
        <p:nvSpPr>
          <p:cNvPr id="24" name="AutoShape 24"/>
          <p:cNvSpPr/>
          <p:nvPr/>
        </p:nvSpPr>
        <p:spPr>
          <a:xfrm>
            <a:off x="1778000" y="5270500"/>
            <a:ext cx="9525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9A341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Data Persistence Layer - MySQL Cluster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1778000" y="5715000"/>
            <a:ext cx="9525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核心存储库：项目配置库（Project Config）| 历史扫描经验库（Knowledge Base）| 缺陷闭环管理库（Issue Tracking）</a:t>
            </a:r>
            <a:br>
              <a:rPr lang="en-US" sz="12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支撑系统数据的持久化存储与高效关联查询。</a:t>
            </a:r>
            <a:endParaRPr lang="en-US" sz="11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 rot="-3580">
            <a:off x="3" y="679450"/>
            <a:ext cx="1219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cxnSp>
        <p:nvCxnSpPr>
          <p:cNvPr id="4" name="Connector 4"/>
          <p:cNvCxnSpPr/>
          <p:nvPr/>
        </p:nvCxnSpPr>
        <p:spPr>
          <a:xfrm rot="5304531">
            <a:off x="10909300" y="400138"/>
            <a:ext cx="4572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AutoShape 6"/>
          <p:cNvSpPr/>
          <p:nvPr/>
        </p:nvSpPr>
        <p:spPr>
          <a:xfrm>
            <a:off x="469900" y="139700"/>
            <a:ext cx="9715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SmartInsight Agentic Search 工作流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469900" y="1016000"/>
            <a:ext cx="5461000" cy="5334000"/>
          </a:xfrm>
          <a:prstGeom prst="roundRect">
            <a:avLst>
              <a:gd name="adj" fmla="val 2857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723900" y="1206500"/>
            <a:ext cx="495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🚀 Agent 自主搜索代码仓库流程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723900" y="1778000"/>
            <a:ext cx="4953000" cy="825500"/>
          </a:xfrm>
          <a:prstGeom prst="roundRect">
            <a:avLst>
              <a:gd name="adj" fmla="val 12307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9000" y="1930400"/>
            <a:ext cx="508000" cy="5080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1524000" y="1841500"/>
            <a:ext cx="39370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Step 1: 目录探索 (list_dir)</a:t>
            </a:r>
            <a:endParaRPr lang="en-US" sz="1100"/>
          </a:p>
          <a:p>
            <a:pPr indent="0" algn="l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遍历仓库根目录，快速建立整体代码结构的宏观认知</a:t>
            </a:r>
            <a:endParaRPr lang="en-US" sz="1100" b="0" i="0" u="none" strike="noStrike">
              <a:solidFill>
                <a:srgbClr val="64748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2" name="AutoShape 12"/>
          <p:cNvSpPr/>
          <p:nvPr/>
        </p:nvSpPr>
        <p:spPr>
          <a:xfrm>
            <a:off x="723900" y="2730500"/>
            <a:ext cx="4953000" cy="825500"/>
          </a:xfrm>
          <a:prstGeom prst="roundRect">
            <a:avLst>
              <a:gd name="adj" fmla="val 12307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000" y="2882900"/>
            <a:ext cx="508000" cy="5080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1524000" y="2794000"/>
            <a:ext cx="39370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Step 2: 范围筛选 (glob_search)</a:t>
            </a:r>
            <a:endParaRPr lang="en-US" sz="1100"/>
          </a:p>
          <a:p>
            <a:pPr indent="0" algn="l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按文件后缀或路径模式过滤，大幅缩小目标文件范围</a:t>
            </a:r>
            <a:endParaRPr lang="en-US" sz="1100" b="0" i="0" u="none" strike="noStrike">
              <a:solidFill>
                <a:srgbClr val="64748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723900" y="3683000"/>
            <a:ext cx="4953000" cy="825500"/>
          </a:xfrm>
          <a:prstGeom prst="roundRect">
            <a:avLst>
              <a:gd name="adj" fmla="val 12307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89000" y="3835400"/>
            <a:ext cx="508000" cy="5080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1524000" y="3746500"/>
            <a:ext cx="39370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Step 3: 内容检索 (grep_code)</a:t>
            </a:r>
            <a:endParaRPr lang="en-US" sz="1100"/>
          </a:p>
          <a:p>
            <a:pPr indent="0" algn="l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通过关键词或函数名正则匹配，精准定位核心代码片段</a:t>
            </a:r>
            <a:endParaRPr lang="en-US" sz="1100" b="0" i="0" u="none" strike="noStrike">
              <a:solidFill>
                <a:srgbClr val="64748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8" name="AutoShape 18"/>
          <p:cNvSpPr/>
          <p:nvPr/>
        </p:nvSpPr>
        <p:spPr>
          <a:xfrm>
            <a:off x="723900" y="4635500"/>
            <a:ext cx="4953000" cy="825500"/>
          </a:xfrm>
          <a:prstGeom prst="roundRect">
            <a:avLst>
              <a:gd name="adj" fmla="val 12307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000" y="4787900"/>
            <a:ext cx="508000" cy="508000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1524000" y="4699000"/>
            <a:ext cx="39370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Step 4: 细节确认 (read_source_file)</a:t>
            </a:r>
            <a:endParaRPr lang="en-US" sz="1100"/>
          </a:p>
          <a:p>
            <a:pPr indent="0" algn="l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读取候选文件完整内容，深度解析逻辑实现与业务细节</a:t>
            </a:r>
            <a:endParaRPr lang="en-US" sz="1100" b="0" i="0" u="none" strike="noStrike">
              <a:solidFill>
                <a:srgbClr val="64748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1" name="AutoShape 21"/>
          <p:cNvSpPr/>
          <p:nvPr/>
        </p:nvSpPr>
        <p:spPr>
          <a:xfrm>
            <a:off x="723900" y="5588000"/>
            <a:ext cx="4953000" cy="635000"/>
          </a:xfrm>
          <a:prstGeom prst="roundRect">
            <a:avLst>
              <a:gd name="adj" fmla="val 16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89000" y="5651500"/>
            <a:ext cx="508000" cy="508000"/>
          </a:xfrm>
          <a:prstGeom prst="rect">
            <a:avLst/>
          </a:prstGeom>
        </p:spPr>
      </p:pic>
      <p:sp>
        <p:nvSpPr>
          <p:cNvPr id="23" name="AutoShape 23"/>
          <p:cNvSpPr/>
          <p:nvPr/>
        </p:nvSpPr>
        <p:spPr>
          <a:xfrm>
            <a:off x="1524000" y="5588000"/>
            <a:ext cx="3937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Step 5: 结构化输出</a:t>
            </a:r>
            <a:r>
              <a:rPr lang="en-US" sz="11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(Status + Confidence + Evidence + Source)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6184900" y="1016000"/>
            <a:ext cx="5461000" cy="5334000"/>
          </a:xfrm>
          <a:prstGeom prst="roundRect">
            <a:avLst>
              <a:gd name="adj" fmla="val 2857"/>
            </a:avLst>
          </a:prstGeom>
          <a:solidFill>
            <a:srgbClr val="F0FDF4">
              <a:alpha val="100000"/>
            </a:srgbClr>
          </a:solidFill>
          <a:ln w="12700" cap="flat" cmpd="sng">
            <a:solidFill>
              <a:srgbClr val="BBF7D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5" name="AutoShape 25"/>
          <p:cNvSpPr/>
          <p:nvPr/>
        </p:nvSpPr>
        <p:spPr>
          <a:xfrm>
            <a:off x="6438900" y="1206500"/>
            <a:ext cx="495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5803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💡 核心优势与特点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6438900" y="1778000"/>
            <a:ext cx="4953000" cy="1016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7" name="Picture 27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629400" y="1968500"/>
            <a:ext cx="609600" cy="609600"/>
          </a:xfrm>
          <a:prstGeom prst="rect">
            <a:avLst/>
          </a:prstGeom>
        </p:spPr>
      </p:pic>
      <p:sp>
        <p:nvSpPr>
          <p:cNvPr id="28" name="AutoShape 28"/>
          <p:cNvSpPr/>
          <p:nvPr/>
        </p:nvSpPr>
        <p:spPr>
          <a:xfrm>
            <a:off x="7366000" y="1841500"/>
            <a:ext cx="3810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渐进式深度搜索</a:t>
            </a:r>
            <a:endParaRPr lang="en-US" sz="1100"/>
          </a:p>
          <a:p>
            <a:pPr indent="0" algn="l">
              <a:lnSpc>
                <a:spcPct val="108000"/>
              </a:lnSpc>
            </a:pPr>
            <a:r>
              <a:rPr lang="en-US" sz="11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遵循“先粗搜、再细读、最后归纳”的逻辑，避免无效遍历，效率更高。</a:t>
            </a:r>
            <a:endParaRPr lang="en-US" sz="1100" b="0" i="0" u="none" strike="noStrike">
              <a:solidFill>
                <a:srgbClr val="475569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9" name="AutoShape 29"/>
          <p:cNvSpPr/>
          <p:nvPr/>
        </p:nvSpPr>
        <p:spPr>
          <a:xfrm>
            <a:off x="6438900" y="2921000"/>
            <a:ext cx="4953000" cy="1016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0" name="Picture 30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629400" y="3111500"/>
            <a:ext cx="609600" cy="609600"/>
          </a:xfrm>
          <a:prstGeom prst="rect">
            <a:avLst/>
          </a:prstGeom>
        </p:spPr>
      </p:pic>
      <p:sp>
        <p:nvSpPr>
          <p:cNvPr id="31" name="AutoShape 31"/>
          <p:cNvSpPr/>
          <p:nvPr/>
        </p:nvSpPr>
        <p:spPr>
          <a:xfrm>
            <a:off x="7366000" y="2984500"/>
            <a:ext cx="3810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动态 ReAct 模式</a:t>
            </a:r>
            <a:endParaRPr lang="en-US" sz="1100"/>
          </a:p>
          <a:p>
            <a:pPr indent="0" algn="l">
              <a:lnSpc>
                <a:spcPct val="108000"/>
              </a:lnSpc>
            </a:pPr>
            <a:r>
              <a:rPr lang="en-US" sz="11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根据每一步的搜索结果，实时动态调整下一步的检索策略，而非机械执行固定脚本。</a:t>
            </a:r>
            <a:endParaRPr lang="en-US" sz="1100" b="0" i="0" u="none" strike="noStrike">
              <a:solidFill>
                <a:srgbClr val="475569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2" name="AutoShape 32"/>
          <p:cNvSpPr/>
          <p:nvPr/>
        </p:nvSpPr>
        <p:spPr>
          <a:xfrm>
            <a:off x="6438900" y="4064000"/>
            <a:ext cx="4953000" cy="1016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3" name="Picture 33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629400" y="4254500"/>
            <a:ext cx="609600" cy="609600"/>
          </a:xfrm>
          <a:prstGeom prst="rect">
            <a:avLst/>
          </a:prstGeom>
        </p:spPr>
      </p:pic>
      <p:sp>
        <p:nvSpPr>
          <p:cNvPr id="34" name="AutoShape 34"/>
          <p:cNvSpPr/>
          <p:nvPr/>
        </p:nvSpPr>
        <p:spPr>
          <a:xfrm>
            <a:off x="7366000" y="4127500"/>
            <a:ext cx="3810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证据链全链路可溯</a:t>
            </a:r>
            <a:endParaRPr lang="en-US" sz="1100"/>
          </a:p>
          <a:p>
            <a:pPr indent="0" algn="l">
              <a:lnSpc>
                <a:spcPct val="108000"/>
              </a:lnSpc>
            </a:pPr>
            <a:r>
              <a:rPr lang="en-US" sz="11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所有分析结论均附带具体的 Source File 及精确代码行号，支持人工复核验证。</a:t>
            </a:r>
            <a:endParaRPr lang="en-US" sz="1100" b="0" i="0" u="none" strike="noStrike">
              <a:solidFill>
                <a:srgbClr val="475569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5" name="AutoShape 35"/>
          <p:cNvSpPr/>
          <p:nvPr/>
        </p:nvSpPr>
        <p:spPr>
          <a:xfrm>
            <a:off x="6438900" y="5207000"/>
            <a:ext cx="4953000" cy="1016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6" name="Picture 36"/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629400" y="5397500"/>
            <a:ext cx="609600" cy="609600"/>
          </a:xfrm>
          <a:prstGeom prst="rect">
            <a:avLst/>
          </a:prstGeom>
        </p:spPr>
      </p:pic>
      <p:sp>
        <p:nvSpPr>
          <p:cNvPr id="37" name="AutoShape 37"/>
          <p:cNvSpPr/>
          <p:nvPr/>
        </p:nvSpPr>
        <p:spPr>
          <a:xfrm>
            <a:off x="7366000" y="5270500"/>
            <a:ext cx="3810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拒绝暴力 Prompt Stuffing</a:t>
            </a:r>
            <a:endParaRPr lang="en-US" sz="1100"/>
          </a:p>
          <a:p>
            <a:pPr indent="0" algn="l">
              <a:lnSpc>
                <a:spcPct val="108000"/>
              </a:lnSpc>
            </a:pPr>
            <a:r>
              <a:rPr lang="en-US" sz="11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不依赖将海量代码一次性塞入上下文，突破 Token 限制，实现对大型项目的有效分析。</a:t>
            </a:r>
            <a:endParaRPr lang="en-US" sz="1100" b="0" i="0" u="none" strike="noStrike">
              <a:solidFill>
                <a:srgbClr val="475569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 rot="-3580">
            <a:off x="3" y="679450"/>
            <a:ext cx="1219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miter lim="8000000"/>
            <a:headEnd type="none" w="lg" len="lg"/>
            <a:tailEnd type="none" w="lg" len="lg"/>
          </a:ln>
        </p:spPr>
      </p:cxnSp>
      <p:sp>
        <p:nvSpPr>
          <p:cNvPr id="4" name="AutoShape 4"/>
          <p:cNvSpPr/>
          <p:nvPr/>
        </p:nvSpPr>
        <p:spPr>
          <a:xfrm>
            <a:off x="469900" y="139700"/>
            <a:ext cx="9715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SmartInsight 核心能力与发展规划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469900" y="1079500"/>
            <a:ext cx="5334000" cy="5207000"/>
          </a:xfrm>
          <a:prstGeom prst="roundRect">
            <a:avLst>
              <a:gd name="adj" fmla="val 2439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  <a:effectLst>
            <a:outerShdw blurRad="1524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6" name="AutoShape 6"/>
          <p:cNvSpPr/>
          <p:nvPr/>
        </p:nvSpPr>
        <p:spPr>
          <a:xfrm>
            <a:off x="723900" y="1270000"/>
            <a:ext cx="4826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E40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当前核心能力 · Current Capabilities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723900" y="1905000"/>
            <a:ext cx="4826000" cy="635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2070100"/>
            <a:ext cx="304800" cy="3048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1397000" y="2006600"/>
            <a:ext cx="39370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LangChain ReAct风格 Agentic 自主搜索引擎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723900" y="2667000"/>
            <a:ext cx="4826000" cy="635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2832100"/>
            <a:ext cx="304800" cy="3048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1397000" y="2768600"/>
            <a:ext cx="39370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12+ 主流静态分析工具报告归一化自动导入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723900" y="3429000"/>
            <a:ext cx="4826000" cy="635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3594100"/>
            <a:ext cx="304800" cy="3048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1397000" y="3530600"/>
            <a:ext cx="39370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代码扫描误报 AI 智能确认与自动过滤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723900" y="4191000"/>
            <a:ext cx="4826000" cy="635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4356100"/>
            <a:ext cx="304800" cy="3048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1397000" y="4292600"/>
            <a:ext cx="39370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MySQL 经验库沉淀，支持历史知识复用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723900" y="4953000"/>
            <a:ext cx="4826000" cy="635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5118100"/>
            <a:ext cx="304800" cy="304800"/>
          </a:xfrm>
          <a:prstGeom prst="rect">
            <a:avLst/>
          </a:prstGeom>
        </p:spPr>
      </p:pic>
      <p:sp>
        <p:nvSpPr>
          <p:cNvPr id="21" name="AutoShape 21"/>
          <p:cNvSpPr/>
          <p:nvPr/>
        </p:nvSpPr>
        <p:spPr>
          <a:xfrm>
            <a:off x="1397000" y="5054600"/>
            <a:ext cx="39370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RepoMap 代码仓结构化地图智能生成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723900" y="5715000"/>
            <a:ext cx="4826000" cy="508000"/>
          </a:xfrm>
          <a:prstGeom prst="roundRect">
            <a:avLst>
              <a:gd name="adj" fmla="val 125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5816600"/>
            <a:ext cx="304800" cy="304800"/>
          </a:xfrm>
          <a:prstGeom prst="rect">
            <a:avLst/>
          </a:prstGeom>
        </p:spPr>
      </p:pic>
      <p:sp>
        <p:nvSpPr>
          <p:cNvPr id="24" name="AutoShape 24"/>
          <p:cNvSpPr/>
          <p:nvPr/>
        </p:nvSpPr>
        <p:spPr>
          <a:xfrm>
            <a:off x="1397000" y="5816600"/>
            <a:ext cx="3937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自动化生成 PPT/Word 可视化走查报告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6261100" y="1079500"/>
            <a:ext cx="5334000" cy="5207000"/>
          </a:xfrm>
          <a:prstGeom prst="roundRect">
            <a:avLst>
              <a:gd name="adj" fmla="val 2439"/>
            </a:avLst>
          </a:prstGeom>
          <a:solidFill>
            <a:srgbClr val="F0FDF4">
              <a:alpha val="100000"/>
            </a:srgbClr>
          </a:solidFill>
          <a:ln w="12700" cap="flat" cmpd="sng">
            <a:solidFill>
              <a:srgbClr val="BBF7D0">
                <a:alpha val="100000"/>
              </a:srgbClr>
            </a:solidFill>
            <a:prstDash val="solid"/>
            <a:round/>
          </a:ln>
          <a:effectLst>
            <a:outerShdw blurRad="1524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6" name="AutoShape 26"/>
          <p:cNvSpPr/>
          <p:nvPr/>
        </p:nvSpPr>
        <p:spPr>
          <a:xfrm>
            <a:off x="6515100" y="1270000"/>
            <a:ext cx="4826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5803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未来发展规划 · Future Roadmap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6515100" y="2032000"/>
            <a:ext cx="4826000" cy="825500"/>
          </a:xfrm>
          <a:prstGeom prst="roundRect">
            <a:avLst>
              <a:gd name="adj" fmla="val 769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8" name="Picture 2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705600" y="2286000"/>
            <a:ext cx="355600" cy="355600"/>
          </a:xfrm>
          <a:prstGeom prst="rect">
            <a:avLst/>
          </a:prstGeom>
        </p:spPr>
      </p:pic>
      <p:sp>
        <p:nvSpPr>
          <p:cNvPr id="29" name="AutoShape 29"/>
          <p:cNvSpPr/>
          <p:nvPr/>
        </p:nvSpPr>
        <p:spPr>
          <a:xfrm>
            <a:off x="7239000" y="2159000"/>
            <a:ext cx="3937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深度接入 CI/CD 流水线，实现代码提交即自动触发安全走查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6515100" y="3048000"/>
            <a:ext cx="4826000" cy="825500"/>
          </a:xfrm>
          <a:prstGeom prst="roundRect">
            <a:avLst>
              <a:gd name="adj" fmla="val 769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1" name="Picture 3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705600" y="3302000"/>
            <a:ext cx="355600" cy="355600"/>
          </a:xfrm>
          <a:prstGeom prst="rect">
            <a:avLst/>
          </a:prstGeom>
        </p:spPr>
      </p:pic>
      <p:sp>
        <p:nvSpPr>
          <p:cNvPr id="32" name="AutoShape 32"/>
          <p:cNvSpPr/>
          <p:nvPr/>
        </p:nvSpPr>
        <p:spPr>
          <a:xfrm>
            <a:off x="7239000" y="3175000"/>
            <a:ext cx="3937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闭环反哺机制：利用历史走查经验持续优化经验库，提升AI精准度</a:t>
            </a:r>
            <a:endParaRPr lang="en-US" sz="1100"/>
          </a:p>
        </p:txBody>
      </p:sp>
      <p:sp>
        <p:nvSpPr>
          <p:cNvPr id="33" name="AutoShape 33"/>
          <p:cNvSpPr/>
          <p:nvPr/>
        </p:nvSpPr>
        <p:spPr>
          <a:xfrm>
            <a:off x="6515100" y="4064000"/>
            <a:ext cx="4826000" cy="825500"/>
          </a:xfrm>
          <a:prstGeom prst="roundRect">
            <a:avLst>
              <a:gd name="adj" fmla="val 769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4" name="Picture 3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705600" y="4318000"/>
            <a:ext cx="355600" cy="355600"/>
          </a:xfrm>
          <a:prstGeom prst="rect">
            <a:avLst/>
          </a:prstGeom>
        </p:spPr>
      </p:pic>
      <p:sp>
        <p:nvSpPr>
          <p:cNvPr id="35" name="AutoShape 35"/>
          <p:cNvSpPr/>
          <p:nvPr/>
        </p:nvSpPr>
        <p:spPr>
          <a:xfrm>
            <a:off x="7239000" y="4191000"/>
            <a:ext cx="3937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支持代码变更增量走查，仅针对 Diff 部分分析，大幅提升效率</a:t>
            </a:r>
            <a:endParaRPr lang="en-US" sz="1100"/>
          </a:p>
        </p:txBody>
      </p:sp>
      <p:sp>
        <p:nvSpPr>
          <p:cNvPr id="36" name="AutoShape 36"/>
          <p:cNvSpPr/>
          <p:nvPr/>
        </p:nvSpPr>
        <p:spPr>
          <a:xfrm>
            <a:off x="6515100" y="5080000"/>
            <a:ext cx="4826000" cy="825500"/>
          </a:xfrm>
          <a:prstGeom prst="roundRect">
            <a:avLst>
              <a:gd name="adj" fmla="val 769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7" name="Picture 3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705600" y="5334000"/>
            <a:ext cx="355600" cy="355600"/>
          </a:xfrm>
          <a:prstGeom prst="rect">
            <a:avLst/>
          </a:prstGeom>
        </p:spPr>
      </p:pic>
      <p:sp>
        <p:nvSpPr>
          <p:cNvPr id="38" name="AutoShape 38"/>
          <p:cNvSpPr/>
          <p:nvPr/>
        </p:nvSpPr>
        <p:spPr>
          <a:xfrm>
            <a:off x="7239000" y="5207000"/>
            <a:ext cx="3937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建设可视化看板，支持走查进度追踪与项目安全覆盖率实时监控</a:t>
            </a:r>
            <a:endParaRPr lang="en-US" sz="11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 rot="-3580">
            <a:off x="3" y="679450"/>
            <a:ext cx="1219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cxnSp>
        <p:nvCxnSpPr>
          <p:cNvPr id="4" name="Connector 4"/>
          <p:cNvCxnSpPr/>
          <p:nvPr/>
        </p:nvCxnSpPr>
        <p:spPr>
          <a:xfrm rot="5304531">
            <a:off x="10909300" y="400138"/>
            <a:ext cx="4572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6" name="AutoShape 6"/>
          <p:cNvSpPr/>
          <p:nvPr/>
        </p:nvSpPr>
        <p:spPr>
          <a:xfrm>
            <a:off x="469900" y="127000"/>
            <a:ext cx="1016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2.4 SmartUT — 单元测试智能体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508000" y="1143000"/>
            <a:ext cx="3556000" cy="1524000"/>
          </a:xfrm>
          <a:prstGeom prst="roundRect">
            <a:avLst>
              <a:gd name="adj" fmla="val 8333"/>
            </a:avLst>
          </a:prstGeom>
          <a:solidFill>
            <a:srgbClr val="EBF5FF">
              <a:alpha val="100000"/>
            </a:srgbClr>
          </a:solidFill>
          <a:ln w="12700" cap="flat" cmpd="sng">
            <a:solidFill>
              <a:srgbClr val="097DB7">
                <a:alpha val="40000"/>
              </a:srgbClr>
            </a:solidFill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2000" y="1397000"/>
            <a:ext cx="508000" cy="5080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1524000" y="1397000"/>
            <a:ext cx="241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5AB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产品定位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1524000" y="1905000"/>
            <a:ext cx="2286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面向嵌入式与装备软件领域，专注于单元测试用例自动生成的智能体工具。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508000" y="2921000"/>
            <a:ext cx="3556000" cy="1524000"/>
          </a:xfrm>
          <a:prstGeom prst="roundRect">
            <a:avLst>
              <a:gd name="adj" fmla="val 8333"/>
            </a:avLst>
          </a:prstGeom>
          <a:solidFill>
            <a:srgbClr val="EBF5FF">
              <a:alpha val="100000"/>
            </a:srgbClr>
          </a:solidFill>
          <a:ln w="12700" cap="flat" cmpd="sng">
            <a:solidFill>
              <a:srgbClr val="097DB7">
                <a:alpha val="40000"/>
              </a:srgbClr>
            </a:solidFill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2000" y="3175000"/>
            <a:ext cx="508000" cy="5080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1524000" y="3175000"/>
            <a:ext cx="241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5AB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核心目标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1524000" y="3683000"/>
            <a:ext cx="2286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自动生成完全符合装备软件行业标准的高质量单元测试用例，减少人工投入。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508000" y="4699000"/>
            <a:ext cx="3556000" cy="1524000"/>
          </a:xfrm>
          <a:prstGeom prst="roundRect">
            <a:avLst>
              <a:gd name="adj" fmla="val 8333"/>
            </a:avLst>
          </a:prstGeom>
          <a:solidFill>
            <a:srgbClr val="EBF5FF">
              <a:alpha val="100000"/>
            </a:srgbClr>
          </a:solidFill>
          <a:ln w="12700" cap="flat" cmpd="sng">
            <a:solidFill>
              <a:srgbClr val="097DB7">
                <a:alpha val="40000"/>
              </a:srgbClr>
            </a:solidFill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2000" y="4953000"/>
            <a:ext cx="508000" cy="5080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1524000" y="4953000"/>
            <a:ext cx="241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5AB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当前研发状态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1524000" y="5461000"/>
            <a:ext cx="2286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处于早期研发与验证阶段，核心算法能力正在规划与原型开发中。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4318000" y="1143000"/>
            <a:ext cx="3683000" cy="2159000"/>
          </a:xfrm>
          <a:prstGeom prst="roundRect">
            <a:avLst>
              <a:gd name="adj" fmla="val 5882"/>
            </a:avLst>
          </a:prstGeom>
          <a:solidFill>
            <a:srgbClr val="FFFAF0">
              <a:alpha val="100000"/>
            </a:srgbClr>
          </a:solidFill>
          <a:ln w="12700" cap="flat" cmpd="sng">
            <a:solidFill>
              <a:srgbClr val="E6A000">
                <a:alpha val="40000"/>
              </a:srgbClr>
            </a:solidFill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572000" y="1397000"/>
            <a:ext cx="508000" cy="508000"/>
          </a:xfrm>
          <a:prstGeom prst="rect">
            <a:avLst/>
          </a:prstGeom>
        </p:spPr>
      </p:pic>
      <p:sp>
        <p:nvSpPr>
          <p:cNvPr id="21" name="AutoShape 21"/>
          <p:cNvSpPr/>
          <p:nvPr/>
        </p:nvSpPr>
        <p:spPr>
          <a:xfrm>
            <a:off x="5334000" y="13970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B478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核心价值与优势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4572000" y="2032000"/>
            <a:ext cx="3175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● 降低门槛：大幅降低嵌入式单元测试编写难度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● 提升覆盖：显著提升C/C++代码测试覆盖率</a:t>
            </a:r>
            <a:endParaRPr lang="en-US" sz="1200" b="0" i="0" u="none" strike="noStrike">
              <a:solidFill>
                <a:srgbClr val="3C3C3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● 层次互补：与SmartST系统测试形成完整闭环</a:t>
            </a:r>
            <a:endParaRPr lang="en-US" sz="1200" b="0" i="0" u="none" strike="noStrike">
              <a:solidFill>
                <a:srgbClr val="3C3C3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3" name="AutoShape 23"/>
          <p:cNvSpPr/>
          <p:nvPr/>
        </p:nvSpPr>
        <p:spPr>
          <a:xfrm>
            <a:off x="4318000" y="3556000"/>
            <a:ext cx="3683000" cy="2667000"/>
          </a:xfrm>
          <a:prstGeom prst="roundRect">
            <a:avLst>
              <a:gd name="adj" fmla="val 4761"/>
            </a:avLst>
          </a:prstGeom>
          <a:solidFill>
            <a:srgbClr val="F0FFF5">
              <a:alpha val="100000"/>
            </a:srgbClr>
          </a:solidFill>
          <a:ln w="12700" cap="flat" cmpd="sng">
            <a:solidFill>
              <a:srgbClr val="1E9650">
                <a:alpha val="40000"/>
              </a:srgbClr>
            </a:solidFill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572000" y="3810000"/>
            <a:ext cx="508000" cy="508000"/>
          </a:xfrm>
          <a:prstGeom prst="rect">
            <a:avLst/>
          </a:prstGeom>
        </p:spPr>
      </p:pic>
      <p:sp>
        <p:nvSpPr>
          <p:cNvPr id="25" name="AutoShape 25"/>
          <p:cNvSpPr/>
          <p:nvPr/>
        </p:nvSpPr>
        <p:spPr>
          <a:xfrm>
            <a:off x="5334000" y="38100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E96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未来核心能力规划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4572000" y="4445000"/>
            <a:ext cx="3175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● 自动化生成：函数级测试用例一键生成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● 深度分析：支持语句/分支/MC/DC覆盖率分析</a:t>
            </a:r>
            <a:endParaRPr lang="en-US" sz="1200" b="0" i="0" u="none" strike="noStrike">
              <a:solidFill>
                <a:srgbClr val="3C3C3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● 智能推断：基于代码逻辑的边界值自动推断</a:t>
            </a:r>
            <a:endParaRPr lang="en-US" sz="1200" b="0" i="0" u="none" strike="noStrike">
              <a:solidFill>
                <a:srgbClr val="3C3C3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● 生态联动：与SmartInsight实现数据互通</a:t>
            </a:r>
            <a:endParaRPr lang="en-US" sz="1200" b="0" i="0" u="none" strike="noStrike">
              <a:solidFill>
                <a:srgbClr val="3C3C3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7" name="AutoShape 27"/>
          <p:cNvSpPr/>
          <p:nvPr/>
        </p:nvSpPr>
        <p:spPr>
          <a:xfrm>
            <a:off x="8255000" y="1143000"/>
            <a:ext cx="3302000" cy="4953000"/>
          </a:xfrm>
          <a:prstGeom prst="roundRect">
            <a:avLst>
              <a:gd name="adj" fmla="val 3846"/>
            </a:avLst>
          </a:prstGeom>
          <a:solidFill>
            <a:srgbClr val="F5F7FA">
              <a:alpha val="100000"/>
            </a:srgbClr>
          </a:solidFill>
          <a:ln w="12700" cap="flat" cmpd="sng">
            <a:solidFill>
              <a:srgbClr val="C8C8C8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8" name="AutoShape 28"/>
          <p:cNvSpPr/>
          <p:nvPr/>
        </p:nvSpPr>
        <p:spPr>
          <a:xfrm>
            <a:off x="8509000" y="1524000"/>
            <a:ext cx="2794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97DB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SmartUT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8509000" y="2159000"/>
            <a:ext cx="2794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64646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UNIT TEST</a:t>
            </a:r>
            <a:br>
              <a:rPr lang="en-US" sz="1300" b="0" i="0" u="none" strike="noStrike">
                <a:solidFill>
                  <a:srgbClr val="64646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64646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INTELLIGENT AGENT</a:t>
            </a:r>
            <a:endParaRPr lang="en-US" sz="1100"/>
          </a:p>
        </p:txBody>
      </p:sp>
      <p:cxnSp>
        <p:nvCxnSpPr>
          <p:cNvPr id="30" name="Connector 30"/>
          <p:cNvCxnSpPr/>
          <p:nvPr/>
        </p:nvCxnSpPr>
        <p:spPr>
          <a:xfrm rot="-19098">
            <a:off x="8763018" y="3168650"/>
            <a:ext cx="2286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8C8C8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31" name="AutoShape 31"/>
          <p:cNvSpPr/>
          <p:nvPr/>
        </p:nvSpPr>
        <p:spPr>
          <a:xfrm>
            <a:off x="8509000" y="3556000"/>
            <a:ext cx="2794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致力于解决嵌入式软件单元测试中</a:t>
            </a:r>
            <a:b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“编写难、成本高、覆盖低”的痛点，</a:t>
            </a:r>
            <a:b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打造智能化的测试研发新范式。</a:t>
            </a:r>
            <a:endParaRPr lang="en-US" sz="11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2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 rot="-3580">
            <a:off x="3" y="679450"/>
            <a:ext cx="1219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cxnSp>
        <p:nvCxnSpPr>
          <p:cNvPr id="4" name="Connector 4"/>
          <p:cNvCxnSpPr/>
          <p:nvPr/>
        </p:nvCxnSpPr>
        <p:spPr>
          <a:xfrm rot="5209099">
            <a:off x="10915564" y="400138"/>
            <a:ext cx="457376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AutoShape 6"/>
          <p:cNvSpPr/>
          <p:nvPr/>
        </p:nvSpPr>
        <p:spPr>
          <a:xfrm>
            <a:off x="469900" y="139700"/>
            <a:ext cx="9906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SmartUT 系统架构（规划）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508000" y="1397000"/>
            <a:ext cx="3556000" cy="4572000"/>
          </a:xfrm>
          <a:prstGeom prst="roundRect">
            <a:avLst>
              <a:gd name="adj" fmla="val 4285"/>
            </a:avLst>
          </a:prstGeom>
          <a:solidFill>
            <a:srgbClr val="F0F9FF">
              <a:alpha val="100000"/>
            </a:srgbClr>
          </a:solidFill>
          <a:ln w="12700" cap="flat" cmpd="sng">
            <a:solidFill>
              <a:srgbClr val="BAE6FD">
                <a:alpha val="100000"/>
              </a:srgbClr>
            </a:solidFill>
            <a:prstDash val="solid"/>
            <a:round/>
          </a:ln>
          <a:effectLst>
            <a:outerShdw blurRad="190500" dist="50800" dir="5400000" algn="tl" rotWithShape="0">
              <a:srgbClr val="097DB7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1524000" y="1651000"/>
            <a:ext cx="1524000" cy="1524000"/>
          </a:xfrm>
          <a:prstGeom prst="ellipse">
            <a:avLst/>
          </a:prstGeom>
          <a:solidFill>
            <a:srgbClr val="DBEAF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78000" y="1905000"/>
            <a:ext cx="1016000" cy="10160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635000" y="3429000"/>
            <a:ext cx="3302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Frontend (规划中)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762000" y="4191000"/>
            <a:ext cx="3048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构建可视化交互界面，支持</a:t>
            </a:r>
            <a:b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任务配置、流程监控与结果展示</a:t>
            </a:r>
            <a:b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实现用户与后端 Agent 的友好交互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4318000" y="1397000"/>
            <a:ext cx="3556000" cy="4572000"/>
          </a:xfrm>
          <a:prstGeom prst="roundRect">
            <a:avLst>
              <a:gd name="adj" fmla="val 4285"/>
            </a:avLst>
          </a:prstGeom>
          <a:solidFill>
            <a:srgbClr val="ECFEFF">
              <a:alpha val="100000"/>
            </a:srgbClr>
          </a:solidFill>
          <a:ln w="12700" cap="flat" cmpd="sng">
            <a:solidFill>
              <a:srgbClr val="A5F3FC">
                <a:alpha val="100000"/>
              </a:srgbClr>
            </a:solidFill>
            <a:prstDash val="solid"/>
            <a:round/>
          </a:ln>
          <a:effectLst>
            <a:outerShdw blurRad="190500" dist="50800" dir="5400000" algn="tl" rotWithShape="0">
              <a:srgbClr val="0891B2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3" name="AutoShape 13"/>
          <p:cNvSpPr/>
          <p:nvPr/>
        </p:nvSpPr>
        <p:spPr>
          <a:xfrm>
            <a:off x="5334000" y="1651000"/>
            <a:ext cx="1524000" cy="1524000"/>
          </a:xfrm>
          <a:prstGeom prst="ellipse">
            <a:avLst/>
          </a:prstGeom>
          <a:solidFill>
            <a:srgbClr val="CFFAF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588000" y="1905000"/>
            <a:ext cx="1016000" cy="10160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4445000" y="3429000"/>
            <a:ext cx="3302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155E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Backend Agent (Python)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4572000" y="4191000"/>
            <a:ext cx="3048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核心任务处理引擎</a:t>
            </a:r>
            <a:b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流程：代码解析 → 策略生成 → 用例生成 → 评审</a:t>
            </a:r>
            <a:b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驱动：OpenAI 兼容的 LLM 推理引擎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8128000" y="1397000"/>
            <a:ext cx="3556000" cy="4572000"/>
          </a:xfrm>
          <a:prstGeom prst="roundRect">
            <a:avLst>
              <a:gd name="adj" fmla="val 4285"/>
            </a:avLst>
          </a:prstGeom>
          <a:solidFill>
            <a:srgbClr val="F0FDF4">
              <a:alpha val="100000"/>
            </a:srgbClr>
          </a:solidFill>
          <a:ln w="12700" cap="flat" cmpd="sng">
            <a:solidFill>
              <a:srgbClr val="BBF7D0">
                <a:alpha val="100000"/>
              </a:srgbClr>
            </a:solidFill>
            <a:prstDash val="solid"/>
            <a:round/>
          </a:ln>
          <a:effectLst>
            <a:outerShdw blurRad="190500" dist="50800" dir="5400000" algn="tl" rotWithShape="0">
              <a:srgbClr val="10B981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8" name="AutoShape 18"/>
          <p:cNvSpPr/>
          <p:nvPr/>
        </p:nvSpPr>
        <p:spPr>
          <a:xfrm>
            <a:off x="9144000" y="1651000"/>
            <a:ext cx="1524000" cy="1524000"/>
          </a:xfrm>
          <a:prstGeom prst="ellipse">
            <a:avLst/>
          </a:prstGeom>
          <a:solidFill>
            <a:srgbClr val="DCFCE7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398000" y="1905000"/>
            <a:ext cx="1016000" cy="1016000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8255000" y="3429000"/>
            <a:ext cx="3302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14532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集成层 Integration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8382000" y="4191000"/>
            <a:ext cx="3048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打通上下游工具链</a:t>
            </a:r>
            <a:b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代码仓无缝对接</a:t>
            </a:r>
            <a:b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支持 C++TEST / GoogleTest 等主流测试框架</a:t>
            </a:r>
            <a:endParaRPr lang="en-US" sz="11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 rot="-3580">
            <a:off x="3" y="679450"/>
            <a:ext cx="1219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" name="Connector 4"/>
          <p:cNvCxnSpPr/>
          <p:nvPr/>
        </p:nvCxnSpPr>
        <p:spPr>
          <a:xfrm rot="5304531">
            <a:off x="10909300" y="400138"/>
            <a:ext cx="4572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AutoShape 6"/>
          <p:cNvSpPr/>
          <p:nvPr/>
        </p:nvSpPr>
        <p:spPr>
          <a:xfrm>
            <a:off x="469900" y="139700"/>
            <a:ext cx="9715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Part2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469900" y="952500"/>
            <a:ext cx="112522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63500" tIns="25400" rIns="63500" bIns="254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2.5 SmartST — 系统测试智能体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469900" y="1778000"/>
            <a:ext cx="5461000" cy="2032000"/>
          </a:xfrm>
          <a:prstGeom prst="roundRect">
            <a:avLst>
              <a:gd name="adj" fmla="val 7500"/>
            </a:avLst>
          </a:prstGeom>
          <a:solidFill>
            <a:srgbClr val="EBF5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97DB7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/>
        </p:nvSpPr>
        <p:spPr>
          <a:xfrm>
            <a:off x="723900" y="2032000"/>
            <a:ext cx="812800" cy="812800"/>
          </a:xfrm>
          <a:prstGeom prst="ellipse">
            <a:avLst/>
          </a:prstGeom>
          <a:solidFill>
            <a:srgbClr val="097DB7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7100" y="2235200"/>
            <a:ext cx="406400" cy="4064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1778000" y="2032000"/>
            <a:ext cx="381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97DB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产品定位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1778000" y="2603500"/>
            <a:ext cx="3937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面向配置项测试场景的需求驱动系统测试B/S平台，为测试团队提供标准化的协作与执行环境。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6261100" y="1778000"/>
            <a:ext cx="5461000" cy="2032000"/>
          </a:xfrm>
          <a:prstGeom prst="roundRect">
            <a:avLst>
              <a:gd name="adj" fmla="val 7500"/>
            </a:avLst>
          </a:prstGeom>
          <a:solidFill>
            <a:srgbClr val="EBF5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97DB7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14"/>
          <p:cNvSpPr/>
          <p:nvPr/>
        </p:nvSpPr>
        <p:spPr>
          <a:xfrm>
            <a:off x="6515100" y="2032000"/>
            <a:ext cx="812800" cy="812800"/>
          </a:xfrm>
          <a:prstGeom prst="ellipse">
            <a:avLst/>
          </a:prstGeom>
          <a:solidFill>
            <a:srgbClr val="097DB7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718300" y="2235200"/>
            <a:ext cx="406400" cy="4064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7569200" y="2032000"/>
            <a:ext cx="381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97DB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核心目标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7569200" y="2603500"/>
            <a:ext cx="3937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实现从需求文档解析、用例设计到测试执行、报告生成的全链路自动化，打通测试流程数据孤岛。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469900" y="4064000"/>
            <a:ext cx="5461000" cy="2032000"/>
          </a:xfrm>
          <a:prstGeom prst="roundRect">
            <a:avLst>
              <a:gd name="adj" fmla="val 7500"/>
            </a:avLst>
          </a:prstGeom>
          <a:solidFill>
            <a:srgbClr val="EBF5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97DB7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9" name="AutoShape 19"/>
          <p:cNvSpPr/>
          <p:nvPr/>
        </p:nvSpPr>
        <p:spPr>
          <a:xfrm>
            <a:off x="723900" y="4318000"/>
            <a:ext cx="812800" cy="812800"/>
          </a:xfrm>
          <a:prstGeom prst="ellipse">
            <a:avLst/>
          </a:prstGeom>
          <a:solidFill>
            <a:srgbClr val="097DB7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27100" y="4521200"/>
            <a:ext cx="406400" cy="406400"/>
          </a:xfrm>
          <a:prstGeom prst="rect">
            <a:avLst/>
          </a:prstGeom>
        </p:spPr>
      </p:pic>
      <p:sp>
        <p:nvSpPr>
          <p:cNvPr id="21" name="AutoShape 21"/>
          <p:cNvSpPr/>
          <p:nvPr/>
        </p:nvSpPr>
        <p:spPr>
          <a:xfrm>
            <a:off x="1778000" y="4318000"/>
            <a:ext cx="381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97DB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适用场景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1778000" y="4889500"/>
            <a:ext cx="3937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专注于装备软件配置项级系统测试场景，特别适配国防军工、航空航天等高安全要求领域的测试验证。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6261100" y="4064000"/>
            <a:ext cx="5461000" cy="2032000"/>
          </a:xfrm>
          <a:prstGeom prst="roundRect">
            <a:avLst>
              <a:gd name="adj" fmla="val 7500"/>
            </a:avLst>
          </a:prstGeom>
          <a:solidFill>
            <a:srgbClr val="EBF5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97DB7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4" name="AutoShape 24"/>
          <p:cNvSpPr/>
          <p:nvPr/>
        </p:nvSpPr>
        <p:spPr>
          <a:xfrm>
            <a:off x="6515100" y="4318000"/>
            <a:ext cx="812800" cy="812800"/>
          </a:xfrm>
          <a:prstGeom prst="ellipse">
            <a:avLst/>
          </a:prstGeom>
          <a:solidFill>
            <a:srgbClr val="097DB7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5" name="Picture 25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718300" y="4521200"/>
            <a:ext cx="406400" cy="406400"/>
          </a:xfrm>
          <a:prstGeom prst="rect">
            <a:avLst/>
          </a:prstGeom>
        </p:spPr>
      </p:pic>
      <p:sp>
        <p:nvSpPr>
          <p:cNvPr id="26" name="AutoShape 26"/>
          <p:cNvSpPr/>
          <p:nvPr/>
        </p:nvSpPr>
        <p:spPr>
          <a:xfrm>
            <a:off x="7569200" y="4318000"/>
            <a:ext cx="381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97DB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核心价值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7569200" y="4889500"/>
            <a:ext cx="3937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1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需求驱动：确保测试点对需求的100%全覆盖</a:t>
            </a:r>
            <a:endParaRPr lang="en-US" sz="1100"/>
          </a:p>
          <a:p>
            <a:pPr indent="0" algn="l">
              <a:lnSpc>
                <a:spcPct val="108000"/>
              </a:lnSpc>
            </a:pPr>
            <a:r>
              <a:rPr lang="en-US" sz="11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AI赋能：自动生成用例草稿，设计效率提升60%+</a:t>
            </a:r>
            <a:endParaRPr lang="en-US" sz="1100" b="0" i="0" u="none" strike="noStrike">
              <a:solidFill>
                <a:srgbClr val="5050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08000"/>
              </a:lnSpc>
            </a:pPr>
            <a:r>
              <a:rPr lang="en-US" sz="11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安全可控：支持私有化部署，核心数据不出内网</a:t>
            </a:r>
            <a:endParaRPr lang="en-US" sz="1100" b="0" i="0" u="none" strike="noStrike">
              <a:solidFill>
                <a:srgbClr val="5050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>
            <a:off x="0" y="685800"/>
            <a:ext cx="12192007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lg" len="lg"/>
            <a:tailEnd type="none" w="lg" len="lg"/>
          </a:ln>
        </p:spPr>
      </p:cxnSp>
      <p:cxnSp>
        <p:nvCxnSpPr>
          <p:cNvPr id="4" name="Connector 4"/>
          <p:cNvCxnSpPr/>
          <p:nvPr/>
        </p:nvCxnSpPr>
        <p:spPr>
          <a:xfrm rot="5209099">
            <a:off x="10915564" y="400138"/>
            <a:ext cx="457376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lg" len="lg"/>
            <a:tailEnd type="none" w="lg" len="lg"/>
          </a:ln>
        </p:spPr>
      </p:cxnSp>
      <p:sp>
        <p:nvSpPr>
          <p:cNvPr id="6" name="AutoShape 6"/>
          <p:cNvSpPr/>
          <p:nvPr/>
        </p:nvSpPr>
        <p:spPr>
          <a:xfrm>
            <a:off x="469900" y="139700"/>
            <a:ext cx="9715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SmartST 系统架构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469900" y="1143000"/>
            <a:ext cx="3302000" cy="4953000"/>
          </a:xfrm>
          <a:prstGeom prst="roundRect">
            <a:avLst>
              <a:gd name="adj" fmla="val 4615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  <a:effectLst>
            <a:outerShdw blurRad="127000" dist="50800" dir="2700000" algn="tl" rotWithShape="0">
              <a:srgbClr val="3B82F6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900" y="1397000"/>
            <a:ext cx="609600" cy="6096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1524000" y="1498600"/>
            <a:ext cx="2032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Frontend Layer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1524000" y="1905000"/>
            <a:ext cx="2032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Web / Vue.js Framework</a:t>
            </a:r>
            <a:endParaRPr lang="en-US" sz="1100"/>
          </a:p>
        </p:txBody>
      </p:sp>
      <p:cxnSp>
        <p:nvCxnSpPr>
          <p:cNvPr id="11" name="Connector 11"/>
          <p:cNvCxnSpPr/>
          <p:nvPr/>
        </p:nvCxnSpPr>
        <p:spPr>
          <a:xfrm rot="-15626">
            <a:off x="723914" y="2406650"/>
            <a:ext cx="2794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" name="AutoShape 12"/>
          <p:cNvSpPr/>
          <p:nvPr/>
        </p:nvSpPr>
        <p:spPr>
          <a:xfrm>
            <a:off x="723900" y="2667000"/>
            <a:ext cx="2794000" cy="1270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DBEA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3" name="AutoShape 13"/>
          <p:cNvSpPr/>
          <p:nvPr/>
        </p:nvSpPr>
        <p:spPr>
          <a:xfrm>
            <a:off x="850900" y="2794000"/>
            <a:ext cx="254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3B82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Core Functional Modules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850900" y="3175000"/>
            <a:ext cx="254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1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项目工作台 · 需求管理 · 用例管理</a:t>
            </a:r>
            <a:br>
              <a:rPr lang="en-US" sz="11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执行监控 · 自动化报告中心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723900" y="4191000"/>
            <a:ext cx="2794000" cy="1016000"/>
          </a:xfrm>
          <a:prstGeom prst="roundRect">
            <a:avLst>
              <a:gd name="adj" fmla="val 10000"/>
            </a:avLst>
          </a:prstGeom>
          <a:solidFill>
            <a:srgbClr val="DBEAF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6" name="AutoShape 16"/>
          <p:cNvSpPr/>
          <p:nvPr/>
        </p:nvSpPr>
        <p:spPr>
          <a:xfrm>
            <a:off x="850900" y="4318000"/>
            <a:ext cx="254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E40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Communication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850900" y="46990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RESTful API Protocol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3937000" y="1143000"/>
            <a:ext cx="3937000" cy="4953000"/>
          </a:xfrm>
          <a:prstGeom prst="roundRect">
            <a:avLst>
              <a:gd name="adj" fmla="val 3870"/>
            </a:avLst>
          </a:prstGeom>
          <a:solidFill>
            <a:srgbClr val="ECFDF5">
              <a:alpha val="100000"/>
            </a:srgbClr>
          </a:solidFill>
          <a:ln w="12700" cap="flat" cmpd="sng">
            <a:solidFill>
              <a:srgbClr val="A7F3D0">
                <a:alpha val="100000"/>
              </a:srgbClr>
            </a:solidFill>
            <a:prstDash val="solid"/>
            <a:round/>
          </a:ln>
          <a:effectLst>
            <a:outerShdw blurRad="127000" dist="50800" dir="2700000" algn="tl" rotWithShape="0">
              <a:srgbClr val="10B981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91000" y="1397000"/>
            <a:ext cx="609600" cy="609600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4953000" y="1498600"/>
            <a:ext cx="2667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65F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Backend Core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4953000" y="1905000"/>
            <a:ext cx="2667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Python / FastAPI Async Service</a:t>
            </a:r>
            <a:endParaRPr lang="en-US" sz="1100"/>
          </a:p>
        </p:txBody>
      </p:sp>
      <p:cxnSp>
        <p:nvCxnSpPr>
          <p:cNvPr id="22" name="Connector 22"/>
          <p:cNvCxnSpPr/>
          <p:nvPr/>
        </p:nvCxnSpPr>
        <p:spPr>
          <a:xfrm rot="-12732">
            <a:off x="4191012" y="2406650"/>
            <a:ext cx="342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A7F3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3" name="AutoShape 23"/>
          <p:cNvSpPr/>
          <p:nvPr/>
        </p:nvSpPr>
        <p:spPr>
          <a:xfrm>
            <a:off x="4191000" y="2667000"/>
            <a:ext cx="3429000" cy="1079500"/>
          </a:xfrm>
          <a:prstGeom prst="roundRect">
            <a:avLst>
              <a:gd name="adj" fmla="val 9411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A7F3D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4" name="AutoShape 24"/>
          <p:cNvSpPr/>
          <p:nvPr/>
        </p:nvSpPr>
        <p:spPr>
          <a:xfrm>
            <a:off x="4318000" y="2768600"/>
            <a:ext cx="3175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0B98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Service Orchestration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4318000" y="3111500"/>
            <a:ext cx="3175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Auth · API Router · Data Models · Schemas</a:t>
            </a:r>
            <a:br>
              <a:rPr lang="en-US" sz="11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统一业务逻辑处理与参数校验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4191000" y="3873500"/>
            <a:ext cx="3429000" cy="1079500"/>
          </a:xfrm>
          <a:prstGeom prst="roundRect">
            <a:avLst>
              <a:gd name="adj" fmla="val 9411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A7F3D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7" name="AutoShape 27"/>
          <p:cNvSpPr/>
          <p:nvPr/>
        </p:nvSpPr>
        <p:spPr>
          <a:xfrm>
            <a:off x="4318000" y="3975100"/>
            <a:ext cx="3175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0B98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Async Worker (Jobs)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4318000" y="4318000"/>
            <a:ext cx="3175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文档解析 → 需求分析 → 用例生成 → 报告导出</a:t>
            </a:r>
            <a:br>
              <a:rPr lang="en-US" sz="11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高并发处理耗时任务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4191000" y="5080000"/>
            <a:ext cx="3429000" cy="762000"/>
          </a:xfrm>
          <a:prstGeom prst="roundRect">
            <a:avLst>
              <a:gd name="adj" fmla="val 13333"/>
            </a:avLst>
          </a:prstGeom>
          <a:solidFill>
            <a:srgbClr val="D1FAE5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0" name="AutoShape 30"/>
          <p:cNvSpPr/>
          <p:nvPr/>
        </p:nvSpPr>
        <p:spPr>
          <a:xfrm>
            <a:off x="4318000" y="5181600"/>
            <a:ext cx="3175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064E3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 Capability: OpenAI Compatible Endpoint (Private Model Supported)</a:t>
            </a:r>
            <a:endParaRPr lang="en-US" sz="1100"/>
          </a:p>
        </p:txBody>
      </p:sp>
      <p:sp>
        <p:nvSpPr>
          <p:cNvPr id="31" name="AutoShape 31"/>
          <p:cNvSpPr/>
          <p:nvPr/>
        </p:nvSpPr>
        <p:spPr>
          <a:xfrm>
            <a:off x="8064500" y="1143000"/>
            <a:ext cx="3302000" cy="4953000"/>
          </a:xfrm>
          <a:prstGeom prst="roundRect">
            <a:avLst>
              <a:gd name="adj" fmla="val 4615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127000" dist="50800" dir="2700000" algn="tl" rotWithShape="0">
              <a:srgbClr val="6B7280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2" name="Picture 3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18500" y="1397000"/>
            <a:ext cx="609600" cy="609600"/>
          </a:xfrm>
          <a:prstGeom prst="rect">
            <a:avLst/>
          </a:prstGeom>
        </p:spPr>
      </p:pic>
      <p:sp>
        <p:nvSpPr>
          <p:cNvPr id="33" name="AutoShape 33"/>
          <p:cNvSpPr/>
          <p:nvPr/>
        </p:nvSpPr>
        <p:spPr>
          <a:xfrm>
            <a:off x="9080500" y="1498600"/>
            <a:ext cx="2032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Data Storage</a:t>
            </a:r>
            <a:endParaRPr lang="en-US" sz="1100"/>
          </a:p>
        </p:txBody>
      </p:sp>
      <p:sp>
        <p:nvSpPr>
          <p:cNvPr id="34" name="AutoShape 34"/>
          <p:cNvSpPr/>
          <p:nvPr/>
        </p:nvSpPr>
        <p:spPr>
          <a:xfrm>
            <a:off x="9080500" y="1905000"/>
            <a:ext cx="2032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Persistent &amp; Object Storage</a:t>
            </a:r>
            <a:endParaRPr lang="en-US" sz="1100"/>
          </a:p>
        </p:txBody>
      </p:sp>
      <p:cxnSp>
        <p:nvCxnSpPr>
          <p:cNvPr id="35" name="Connector 35"/>
          <p:cNvCxnSpPr/>
          <p:nvPr/>
        </p:nvCxnSpPr>
        <p:spPr>
          <a:xfrm rot="-15626">
            <a:off x="8318514" y="2406650"/>
            <a:ext cx="2794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6" name="AutoShape 36"/>
          <p:cNvSpPr/>
          <p:nvPr/>
        </p:nvSpPr>
        <p:spPr>
          <a:xfrm>
            <a:off x="8318500" y="2667000"/>
            <a:ext cx="2794000" cy="1143000"/>
          </a:xfrm>
          <a:prstGeom prst="roundRect">
            <a:avLst>
              <a:gd name="adj" fmla="val 8888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7" name="Picture 37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45500" y="2857500"/>
            <a:ext cx="406400" cy="406400"/>
          </a:xfrm>
          <a:prstGeom prst="rect">
            <a:avLst/>
          </a:prstGeom>
        </p:spPr>
      </p:pic>
      <p:sp>
        <p:nvSpPr>
          <p:cNvPr id="38" name="AutoShape 38"/>
          <p:cNvSpPr/>
          <p:nvPr/>
        </p:nvSpPr>
        <p:spPr>
          <a:xfrm>
            <a:off x="9017000" y="2857500"/>
            <a:ext cx="1905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Relational Database</a:t>
            </a:r>
            <a:endParaRPr lang="en-US" sz="1100"/>
          </a:p>
        </p:txBody>
      </p:sp>
      <p:sp>
        <p:nvSpPr>
          <p:cNvPr id="39" name="AutoShape 39"/>
          <p:cNvSpPr/>
          <p:nvPr/>
        </p:nvSpPr>
        <p:spPr>
          <a:xfrm>
            <a:off x="9017000" y="3238500"/>
            <a:ext cx="1905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结构化数据存储 (MySQL/PG)</a:t>
            </a:r>
            <a:endParaRPr lang="en-US" sz="1100"/>
          </a:p>
        </p:txBody>
      </p:sp>
      <p:sp>
        <p:nvSpPr>
          <p:cNvPr id="40" name="AutoShape 40"/>
          <p:cNvSpPr/>
          <p:nvPr/>
        </p:nvSpPr>
        <p:spPr>
          <a:xfrm>
            <a:off x="8318500" y="4064000"/>
            <a:ext cx="2794000" cy="1143000"/>
          </a:xfrm>
          <a:prstGeom prst="roundRect">
            <a:avLst>
              <a:gd name="adj" fmla="val 8888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1" name="Picture 41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445500" y="4254500"/>
            <a:ext cx="406400" cy="406400"/>
          </a:xfrm>
          <a:prstGeom prst="rect">
            <a:avLst/>
          </a:prstGeom>
        </p:spPr>
      </p:pic>
      <p:sp>
        <p:nvSpPr>
          <p:cNvPr id="42" name="AutoShape 42"/>
          <p:cNvSpPr/>
          <p:nvPr/>
        </p:nvSpPr>
        <p:spPr>
          <a:xfrm>
            <a:off x="9017000" y="4254500"/>
            <a:ext cx="1905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Object Storage</a:t>
            </a:r>
            <a:endParaRPr lang="en-US" sz="1100"/>
          </a:p>
        </p:txBody>
      </p:sp>
      <p:sp>
        <p:nvSpPr>
          <p:cNvPr id="43" name="AutoShape 43"/>
          <p:cNvSpPr/>
          <p:nvPr/>
        </p:nvSpPr>
        <p:spPr>
          <a:xfrm>
            <a:off x="9017000" y="4635500"/>
            <a:ext cx="1905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非结构化文件 (文档/报告)</a:t>
            </a:r>
            <a:endParaRPr lang="en-US" sz="1100"/>
          </a:p>
        </p:txBody>
      </p:sp>
      <p:sp>
        <p:nvSpPr>
          <p:cNvPr id="44" name="AutoShape 44"/>
          <p:cNvSpPr/>
          <p:nvPr/>
        </p:nvSpPr>
        <p:spPr>
          <a:xfrm>
            <a:off x="8318500" y="5461000"/>
            <a:ext cx="279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Data Persistence Support</a:t>
            </a:r>
            <a:endParaRPr lang="en-US" sz="11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2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 rot="-3580">
            <a:off x="3" y="679450"/>
            <a:ext cx="1219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cxnSp>
        <p:nvCxnSpPr>
          <p:cNvPr id="4" name="Connector 4"/>
          <p:cNvCxnSpPr/>
          <p:nvPr/>
        </p:nvCxnSpPr>
        <p:spPr>
          <a:xfrm rot="5304531">
            <a:off x="10909300" y="400138"/>
            <a:ext cx="4572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6" name="AutoShape 6"/>
          <p:cNvSpPr/>
          <p:nvPr/>
        </p:nvSpPr>
        <p:spPr>
          <a:xfrm>
            <a:off x="508000" y="952500"/>
            <a:ext cx="889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SmartST 核心业务链路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508000" y="1714500"/>
            <a:ext cx="11176000" cy="1651000"/>
          </a:xfrm>
          <a:prstGeom prst="roundRect">
            <a:avLst>
              <a:gd name="adj" fmla="val 12307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698500" y="1968500"/>
            <a:ext cx="1333500" cy="1143000"/>
          </a:xfrm>
          <a:prstGeom prst="roundRect">
            <a:avLst>
              <a:gd name="adj" fmla="val 111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50800" dir="2700000" algn="tl" rotWithShape="0">
              <a:srgbClr val="005AB4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55700" y="2095500"/>
            <a:ext cx="406400" cy="4064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698500" y="2603500"/>
            <a:ext cx="1333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文档上传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2222500" y="1968500"/>
            <a:ext cx="1333500" cy="1143000"/>
          </a:xfrm>
          <a:prstGeom prst="roundRect">
            <a:avLst>
              <a:gd name="adj" fmla="val 111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50800" dir="2700000" algn="tl" rotWithShape="0">
              <a:srgbClr val="005AB4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79700" y="2095500"/>
            <a:ext cx="406400" cy="4064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2222500" y="2603500"/>
            <a:ext cx="1333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需求解析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3746500" y="1968500"/>
            <a:ext cx="1333500" cy="1143000"/>
          </a:xfrm>
          <a:prstGeom prst="roundRect">
            <a:avLst>
              <a:gd name="adj" fmla="val 111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50800" dir="2700000" algn="tl" rotWithShape="0">
              <a:srgbClr val="005AB4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203700" y="2095500"/>
            <a:ext cx="406400" cy="4064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3746500" y="2603500"/>
            <a:ext cx="1333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需求确认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5270500" y="1968500"/>
            <a:ext cx="1333500" cy="1143000"/>
          </a:xfrm>
          <a:prstGeom prst="roundRect">
            <a:avLst>
              <a:gd name="adj" fmla="val 111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50800" dir="2700000" algn="tl" rotWithShape="0">
              <a:srgbClr val="005AB4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727700" y="2095500"/>
            <a:ext cx="406400" cy="406400"/>
          </a:xfrm>
          <a:prstGeom prst="rect">
            <a:avLst/>
          </a:prstGeom>
        </p:spPr>
      </p:pic>
      <p:sp>
        <p:nvSpPr>
          <p:cNvPr id="19" name="AutoShape 19"/>
          <p:cNvSpPr/>
          <p:nvPr/>
        </p:nvSpPr>
        <p:spPr>
          <a:xfrm>
            <a:off x="5270500" y="2603500"/>
            <a:ext cx="1333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用例生成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6794500" y="1968500"/>
            <a:ext cx="1333500" cy="1143000"/>
          </a:xfrm>
          <a:prstGeom prst="roundRect">
            <a:avLst>
              <a:gd name="adj" fmla="val 111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50800" dir="2700000" algn="tl" rotWithShape="0">
              <a:srgbClr val="005AB4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251700" y="2095500"/>
            <a:ext cx="406400" cy="406400"/>
          </a:xfrm>
          <a:prstGeom prst="rect">
            <a:avLst/>
          </a:prstGeom>
        </p:spPr>
      </p:pic>
      <p:sp>
        <p:nvSpPr>
          <p:cNvPr id="22" name="AutoShape 22"/>
          <p:cNvSpPr/>
          <p:nvPr/>
        </p:nvSpPr>
        <p:spPr>
          <a:xfrm>
            <a:off x="6794500" y="2603500"/>
            <a:ext cx="1333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用例发布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8318500" y="1968500"/>
            <a:ext cx="1333500" cy="1143000"/>
          </a:xfrm>
          <a:prstGeom prst="roundRect">
            <a:avLst>
              <a:gd name="adj" fmla="val 111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50800" dir="2700000" algn="tl" rotWithShape="0">
              <a:srgbClr val="005AB4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775700" y="2095500"/>
            <a:ext cx="406400" cy="406400"/>
          </a:xfrm>
          <a:prstGeom prst="rect">
            <a:avLst/>
          </a:prstGeom>
        </p:spPr>
      </p:pic>
      <p:sp>
        <p:nvSpPr>
          <p:cNvPr id="25" name="AutoShape 25"/>
          <p:cNvSpPr/>
          <p:nvPr/>
        </p:nvSpPr>
        <p:spPr>
          <a:xfrm>
            <a:off x="8318500" y="2603500"/>
            <a:ext cx="1333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执行回填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9842500" y="1968500"/>
            <a:ext cx="1333500" cy="1143000"/>
          </a:xfrm>
          <a:prstGeom prst="roundRect">
            <a:avLst>
              <a:gd name="adj" fmla="val 111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50800" dir="2700000" algn="tl" rotWithShape="0">
              <a:srgbClr val="005AB4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7" name="Picture 27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0299700" y="2095500"/>
            <a:ext cx="406400" cy="406400"/>
          </a:xfrm>
          <a:prstGeom prst="rect">
            <a:avLst/>
          </a:prstGeom>
        </p:spPr>
      </p:pic>
      <p:sp>
        <p:nvSpPr>
          <p:cNvPr id="28" name="AutoShape 28"/>
          <p:cNvSpPr/>
          <p:nvPr/>
        </p:nvSpPr>
        <p:spPr>
          <a:xfrm>
            <a:off x="9842500" y="2603500"/>
            <a:ext cx="1333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报告导出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508000" y="3683000"/>
            <a:ext cx="1117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🛡️ 质量门禁设计 Quality Gate Design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508000" y="4318000"/>
            <a:ext cx="3556000" cy="1778000"/>
          </a:xfrm>
          <a:prstGeom prst="roundRect">
            <a:avLst>
              <a:gd name="adj" fmla="val 8571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DBEAFE">
                <a:alpha val="100000"/>
              </a:srgbClr>
            </a:solidFill>
            <a:prstDash val="solid"/>
            <a:round/>
          </a:ln>
          <a:effectLst>
            <a:outerShdw blurRad="152400" dist="635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1" name="Picture 31"/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500" y="4508500"/>
            <a:ext cx="457200" cy="457200"/>
          </a:xfrm>
          <a:prstGeom prst="rect">
            <a:avLst/>
          </a:prstGeom>
        </p:spPr>
      </p:pic>
      <p:sp>
        <p:nvSpPr>
          <p:cNvPr id="32" name="AutoShape 32"/>
          <p:cNvSpPr/>
          <p:nvPr/>
        </p:nvSpPr>
        <p:spPr>
          <a:xfrm>
            <a:off x="1333500" y="45466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输入源严格准入</a:t>
            </a:r>
            <a:endParaRPr lang="en-US" sz="1100"/>
          </a:p>
        </p:txBody>
      </p:sp>
      <p:sp>
        <p:nvSpPr>
          <p:cNvPr id="33" name="AutoShape 33"/>
          <p:cNvSpPr/>
          <p:nvPr/>
        </p:nvSpPr>
        <p:spPr>
          <a:xfrm>
            <a:off x="698500" y="5080000"/>
            <a:ext cx="3175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仅基于状态为 `confirmed` 的需求生成用例，从源头保证测试数据的准确性与有效性。</a:t>
            </a:r>
            <a:endParaRPr lang="en-US" sz="1100"/>
          </a:p>
        </p:txBody>
      </p:sp>
      <p:sp>
        <p:nvSpPr>
          <p:cNvPr id="34" name="AutoShape 34"/>
          <p:cNvSpPr/>
          <p:nvPr/>
        </p:nvSpPr>
        <p:spPr>
          <a:xfrm>
            <a:off x="4318000" y="4318000"/>
            <a:ext cx="3556000" cy="1778000"/>
          </a:xfrm>
          <a:prstGeom prst="roundRect">
            <a:avLst>
              <a:gd name="adj" fmla="val 8571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DBEAFE">
                <a:alpha val="100000"/>
              </a:srgbClr>
            </a:solidFill>
            <a:prstDash val="solid"/>
            <a:round/>
          </a:ln>
          <a:effectLst>
            <a:outerShdw blurRad="152400" dist="635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5" name="Picture 35"/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4508500" y="4508500"/>
            <a:ext cx="457200" cy="457200"/>
          </a:xfrm>
          <a:prstGeom prst="rect">
            <a:avLst/>
          </a:prstGeom>
        </p:spPr>
      </p:pic>
      <p:sp>
        <p:nvSpPr>
          <p:cNvPr id="36" name="AutoShape 36"/>
          <p:cNvSpPr/>
          <p:nvPr/>
        </p:nvSpPr>
        <p:spPr>
          <a:xfrm>
            <a:off x="5143500" y="45466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拒绝需求定向重生</a:t>
            </a:r>
            <a:endParaRPr lang="en-US" sz="1100"/>
          </a:p>
        </p:txBody>
      </p:sp>
      <p:sp>
        <p:nvSpPr>
          <p:cNvPr id="37" name="AutoShape 37"/>
          <p:cNvSpPr/>
          <p:nvPr/>
        </p:nvSpPr>
        <p:spPr>
          <a:xfrm>
            <a:off x="4508500" y="5080000"/>
            <a:ext cx="3175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针对被人工拒绝的需求，支持单独定向触发重生成流程，避免无效用例的反复迭代浪费。</a:t>
            </a:r>
            <a:endParaRPr lang="en-US" sz="1100"/>
          </a:p>
        </p:txBody>
      </p:sp>
      <p:sp>
        <p:nvSpPr>
          <p:cNvPr id="38" name="AutoShape 38"/>
          <p:cNvSpPr/>
          <p:nvPr/>
        </p:nvSpPr>
        <p:spPr>
          <a:xfrm>
            <a:off x="8128000" y="4318000"/>
            <a:ext cx="3556000" cy="1778000"/>
          </a:xfrm>
          <a:prstGeom prst="roundRect">
            <a:avLst>
              <a:gd name="adj" fmla="val 8571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DBEAFE">
                <a:alpha val="100000"/>
              </a:srgbClr>
            </a:solidFill>
            <a:prstDash val="solid"/>
            <a:round/>
          </a:ln>
          <a:effectLst>
            <a:outerShdw blurRad="152400" dist="635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9" name="Picture 39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8318500" y="4508500"/>
            <a:ext cx="457200" cy="457200"/>
          </a:xfrm>
          <a:prstGeom prst="rect">
            <a:avLst/>
          </a:prstGeom>
        </p:spPr>
      </p:pic>
      <p:sp>
        <p:nvSpPr>
          <p:cNvPr id="40" name="AutoShape 40"/>
          <p:cNvSpPr/>
          <p:nvPr/>
        </p:nvSpPr>
        <p:spPr>
          <a:xfrm>
            <a:off x="8953500" y="45466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变更需求增量解析</a:t>
            </a:r>
            <a:endParaRPr lang="en-US" sz="1100"/>
          </a:p>
        </p:txBody>
      </p:sp>
      <p:sp>
        <p:nvSpPr>
          <p:cNvPr id="41" name="AutoShape 41"/>
          <p:cNvSpPr/>
          <p:nvPr/>
        </p:nvSpPr>
        <p:spPr>
          <a:xfrm>
            <a:off x="8318500" y="5080000"/>
            <a:ext cx="3175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当原始需求发生变更时，系统支持增量重解析机制，仅处理变更部分，大幅提升处理效率。</a:t>
            </a:r>
            <a:endParaRPr lang="en-US" sz="110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2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 rot="-3580">
            <a:off x="3" y="679450"/>
            <a:ext cx="1219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miter lim="8000000"/>
            <a:headEnd type="none" w="lg" len="lg"/>
            <a:tailEnd type="none" w="lg" len="lg"/>
          </a:ln>
        </p:spPr>
      </p:cxnSp>
      <p:sp>
        <p:nvSpPr>
          <p:cNvPr id="4" name="AutoShape 4"/>
          <p:cNvSpPr/>
          <p:nvPr/>
        </p:nvSpPr>
        <p:spPr>
          <a:xfrm>
            <a:off x="469900" y="139700"/>
            <a:ext cx="9715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SmartST 核心能力与发展规划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469900" y="1143000"/>
            <a:ext cx="5461000" cy="5207000"/>
          </a:xfrm>
          <a:prstGeom prst="roundRect">
            <a:avLst>
              <a:gd name="adj" fmla="val 2439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6" name="AutoShape 6"/>
          <p:cNvSpPr/>
          <p:nvPr/>
        </p:nvSpPr>
        <p:spPr>
          <a:xfrm>
            <a:off x="723900" y="1397000"/>
            <a:ext cx="495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E40A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当前核心能力 · Current Capabilities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723900" y="2032000"/>
            <a:ext cx="4953000" cy="635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9000" y="2197100"/>
            <a:ext cx="304800" cy="3048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1397000" y="2133600"/>
            <a:ext cx="40640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文档自动解析与需求结构化提取，快速理解业务意图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723900" y="2794000"/>
            <a:ext cx="4953000" cy="635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9000" y="2959100"/>
            <a:ext cx="304800" cy="3048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1397000" y="2895600"/>
            <a:ext cx="40640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基于确认需求，AI自动生成高质量测试用例草稿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723900" y="3556000"/>
            <a:ext cx="4953000" cy="635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9000" y="3721100"/>
            <a:ext cx="304800" cy="3048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1397000" y="3657600"/>
            <a:ext cx="40640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支持需求增量重解析 + 用例定向重生成，响应敏捷迭代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723900" y="4318000"/>
            <a:ext cx="4953000" cy="635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9000" y="4483100"/>
            <a:ext cx="304800" cy="3048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1397000" y="4419600"/>
            <a:ext cx="40640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执行结果自动回填，完整保留测试证据链与历史记录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723900" y="5080000"/>
            <a:ext cx="4953000" cy="635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9000" y="5245100"/>
            <a:ext cx="304800" cy="304800"/>
          </a:xfrm>
          <a:prstGeom prst="rect">
            <a:avLst/>
          </a:prstGeom>
        </p:spPr>
      </p:pic>
      <p:sp>
        <p:nvSpPr>
          <p:cNvPr id="21" name="AutoShape 21"/>
          <p:cNvSpPr/>
          <p:nvPr/>
        </p:nvSpPr>
        <p:spPr>
          <a:xfrm>
            <a:off x="1397000" y="5181600"/>
            <a:ext cx="40640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自动化统计需求覆盖率，并一键导出标准化测试报告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6261100" y="1143000"/>
            <a:ext cx="5461000" cy="5207000"/>
          </a:xfrm>
          <a:prstGeom prst="roundRect">
            <a:avLst>
              <a:gd name="adj" fmla="val 2439"/>
            </a:avLst>
          </a:prstGeom>
          <a:solidFill>
            <a:srgbClr val="FFF7ED">
              <a:alpha val="100000"/>
            </a:srgbClr>
          </a:solidFill>
          <a:ln w="12700" cap="flat" cmpd="sng">
            <a:solidFill>
              <a:srgbClr val="FED7AA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3" name="AutoShape 23"/>
          <p:cNvSpPr/>
          <p:nvPr/>
        </p:nvSpPr>
        <p:spPr>
          <a:xfrm>
            <a:off x="6515100" y="1397000"/>
            <a:ext cx="495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C2410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未来发展规划 · Future Roadmap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6515100" y="2032000"/>
            <a:ext cx="4953000" cy="952500"/>
          </a:xfrm>
          <a:prstGeom prst="roundRect">
            <a:avLst>
              <a:gd name="adj" fmla="val 666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5" name="Picture 2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80200" y="2349500"/>
            <a:ext cx="304800" cy="304800"/>
          </a:xfrm>
          <a:prstGeom prst="rect">
            <a:avLst/>
          </a:prstGeom>
        </p:spPr>
      </p:pic>
      <p:sp>
        <p:nvSpPr>
          <p:cNvPr id="26" name="AutoShape 26"/>
          <p:cNvSpPr/>
          <p:nvPr/>
        </p:nvSpPr>
        <p:spPr>
          <a:xfrm>
            <a:off x="7188200" y="2159000"/>
            <a:ext cx="40640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与SmartInsight深度联动，实现走查问题到测试用例的自动关联与追踪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6515100" y="3175000"/>
            <a:ext cx="4953000" cy="952500"/>
          </a:xfrm>
          <a:prstGeom prst="roundRect">
            <a:avLst>
              <a:gd name="adj" fmla="val 666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8" name="Picture 2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80200" y="3492500"/>
            <a:ext cx="304800" cy="304800"/>
          </a:xfrm>
          <a:prstGeom prst="rect">
            <a:avLst/>
          </a:prstGeom>
        </p:spPr>
      </p:pic>
      <p:sp>
        <p:nvSpPr>
          <p:cNvPr id="29" name="AutoShape 29"/>
          <p:cNvSpPr/>
          <p:nvPr/>
        </p:nvSpPr>
        <p:spPr>
          <a:xfrm>
            <a:off x="7188200" y="3302000"/>
            <a:ext cx="40640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适配标准规范，支持自动生成GJB 5000A软件测试过程符合性报告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6515100" y="4318000"/>
            <a:ext cx="4953000" cy="952500"/>
          </a:xfrm>
          <a:prstGeom prst="roundRect">
            <a:avLst>
              <a:gd name="adj" fmla="val 666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1" name="Picture 3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80200" y="4635500"/>
            <a:ext cx="304800" cy="304800"/>
          </a:xfrm>
          <a:prstGeom prst="rect">
            <a:avLst/>
          </a:prstGeom>
        </p:spPr>
      </p:pic>
      <p:sp>
        <p:nvSpPr>
          <p:cNvPr id="32" name="AutoShape 32"/>
          <p:cNvSpPr/>
          <p:nvPr/>
        </p:nvSpPr>
        <p:spPr>
          <a:xfrm>
            <a:off x="7188200" y="4445000"/>
            <a:ext cx="40640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无缝接入CI/CD流水线，代码提交时自动触发回归测试，提升交付效率</a:t>
            </a:r>
            <a:endParaRPr lang="en-US" sz="1100"/>
          </a:p>
        </p:txBody>
      </p:sp>
      <p:sp>
        <p:nvSpPr>
          <p:cNvPr id="33" name="AutoShape 33"/>
          <p:cNvSpPr/>
          <p:nvPr/>
        </p:nvSpPr>
        <p:spPr>
          <a:xfrm>
            <a:off x="6515100" y="5461000"/>
            <a:ext cx="4953000" cy="762000"/>
          </a:xfrm>
          <a:prstGeom prst="roundRect">
            <a:avLst>
              <a:gd name="adj" fmla="val 8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4" name="Picture 3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80200" y="5689600"/>
            <a:ext cx="304800" cy="304800"/>
          </a:xfrm>
          <a:prstGeom prst="rect">
            <a:avLst/>
          </a:prstGeom>
        </p:spPr>
      </p:pic>
      <p:sp>
        <p:nvSpPr>
          <p:cNvPr id="35" name="AutoShape 35"/>
          <p:cNvSpPr/>
          <p:nvPr/>
        </p:nvSpPr>
        <p:spPr>
          <a:xfrm>
            <a:off x="7188200" y="5562600"/>
            <a:ext cx="4064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实现测试执行自动化，深度集成主流自动化测试框架</a:t>
            </a:r>
            <a:endParaRPr lang="en-US" sz="11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10693400" y="6527800"/>
            <a:ext cx="9271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t" anchorCtr="0"/>
          <a:lstStyle/>
          <a:p>
            <a:pPr indent="0" algn="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96969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</a:t>
            </a:r>
            <a:endParaRPr lang="en-US" sz="1100"/>
          </a:p>
        </p:txBody>
      </p:sp>
      <p:cxnSp>
        <p:nvCxnSpPr>
          <p:cNvPr id="4" name="Connector 4"/>
          <p:cNvCxnSpPr/>
          <p:nvPr/>
        </p:nvCxnSpPr>
        <p:spPr>
          <a:xfrm rot="-3580">
            <a:off x="3" y="679450"/>
            <a:ext cx="1219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" name="Connector 5"/>
          <p:cNvCxnSpPr/>
          <p:nvPr/>
        </p:nvCxnSpPr>
        <p:spPr>
          <a:xfrm rot="5304531">
            <a:off x="10909300" y="400138"/>
            <a:ext cx="4572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AutoShape 7"/>
          <p:cNvSpPr/>
          <p:nvPr/>
        </p:nvSpPr>
        <p:spPr>
          <a:xfrm>
            <a:off x="469900" y="139700"/>
            <a:ext cx="2540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PART 03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0" y="2032000"/>
            <a:ext cx="12192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8000" b="1" i="0" u="none" strike="noStrike">
                <a:solidFill>
                  <a:srgbClr val="097DB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0" y="3556000"/>
            <a:ext cx="12192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40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基于智能体的软件工厂蓝图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0" y="4699000"/>
            <a:ext cx="12192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SOFTWARE FACTORY BLUEPRINT BASED ON AGENTS</a:t>
            </a:r>
            <a:endParaRPr lang="en-US" sz="110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 rot="-3580">
            <a:off x="3" y="819150"/>
            <a:ext cx="1219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4" name="AutoShape 4"/>
          <p:cNvSpPr/>
          <p:nvPr/>
        </p:nvSpPr>
        <p:spPr>
          <a:xfrm>
            <a:off x="381000" y="190500"/>
            <a:ext cx="762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MetaGPT理念：从单Agent到软件工厂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381000" y="1079500"/>
            <a:ext cx="11430000" cy="1016000"/>
          </a:xfrm>
          <a:prstGeom prst="roundRect">
            <a:avLst>
              <a:gd name="adj" fmla="val 12500"/>
            </a:avLst>
          </a:prstGeom>
          <a:solidFill>
            <a:srgbClr val="EBF5FF">
              <a:alpha val="100000"/>
            </a:srgbClr>
          </a:solidFill>
          <a:ln w="12700" cap="flat" cmpd="sng">
            <a:solidFill>
              <a:srgbClr val="097DB7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6" name="AutoShape 6"/>
          <p:cNvSpPr/>
          <p:nvPr/>
        </p:nvSpPr>
        <p:spPr>
          <a:xfrm>
            <a:off x="571500" y="1206500"/>
            <a:ext cx="177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97DB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💡 核心思想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2413000" y="1206500"/>
            <a:ext cx="889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利用大语言模型(LLM)驱动多智能体(Agent)协作，模拟完整的软件工程团队（产品、研发、测试、运维），将软件开发流程标准化、自动化，像现代化工厂流水线一样高效、高质量地批量生产软件。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381000" y="2286000"/>
            <a:ext cx="5461000" cy="4191000"/>
          </a:xfrm>
          <a:prstGeom prst="roundRect">
            <a:avLst>
              <a:gd name="adj" fmla="val 3030"/>
            </a:avLst>
          </a:prstGeom>
          <a:solidFill>
            <a:srgbClr val="F3F4F6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/>
        </p:nvSpPr>
        <p:spPr>
          <a:xfrm>
            <a:off x="381000" y="2286000"/>
            <a:ext cx="5461000" cy="508000"/>
          </a:xfrm>
          <a:prstGeom prst="roundRect">
            <a:avLst>
              <a:gd name="adj" fmla="val 25000"/>
            </a:avLst>
          </a:prstGeom>
          <a:solidFill>
            <a:srgbClr val="6B728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10"/>
          <p:cNvSpPr/>
          <p:nvPr/>
        </p:nvSpPr>
        <p:spPr>
          <a:xfrm>
            <a:off x="381000" y="2286000"/>
            <a:ext cx="5461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🛠 传统软件开发模式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508000" y="2984500"/>
            <a:ext cx="52070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8500" y="3162300"/>
            <a:ext cx="406400" cy="4064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1270000" y="3048000"/>
            <a:ext cx="3937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人工分析师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人工梳理需求，产出冗长的需求规格说明书 (PRD)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508000" y="3873500"/>
            <a:ext cx="52070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98500" y="4051300"/>
            <a:ext cx="406400" cy="4064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1270000" y="3937000"/>
            <a:ext cx="3937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人工设计师/架构师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手绘架构图，编写详细设计文档，依赖个人经验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508000" y="4762500"/>
            <a:ext cx="52070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98500" y="4940300"/>
            <a:ext cx="406400" cy="406400"/>
          </a:xfrm>
          <a:prstGeom prst="rect">
            <a:avLst/>
          </a:prstGeom>
        </p:spPr>
      </p:pic>
      <p:sp>
        <p:nvSpPr>
          <p:cNvPr id="19" name="AutoShape 19"/>
          <p:cNvSpPr/>
          <p:nvPr/>
        </p:nvSpPr>
        <p:spPr>
          <a:xfrm>
            <a:off x="1270000" y="4826000"/>
            <a:ext cx="3937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人工开发者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手动编写业务逻辑代码，效率低且易产生语法错误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0" name="AutoShape 20"/>
          <p:cNvSpPr/>
          <p:nvPr/>
        </p:nvSpPr>
        <p:spPr>
          <a:xfrm>
            <a:off x="508000" y="5651500"/>
            <a:ext cx="52070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98500" y="5829300"/>
            <a:ext cx="406400" cy="406400"/>
          </a:xfrm>
          <a:prstGeom prst="rect">
            <a:avLst/>
          </a:prstGeom>
        </p:spPr>
      </p:pic>
      <p:sp>
        <p:nvSpPr>
          <p:cNvPr id="22" name="AutoShape 22"/>
          <p:cNvSpPr/>
          <p:nvPr/>
        </p:nvSpPr>
        <p:spPr>
          <a:xfrm>
            <a:off x="1270000" y="5715000"/>
            <a:ext cx="3937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人工测试/审查员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手动执行测试用例，代码评审周期长，覆盖率低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3" name="AutoShape 23"/>
          <p:cNvSpPr/>
          <p:nvPr/>
        </p:nvSpPr>
        <p:spPr>
          <a:xfrm>
            <a:off x="6096000" y="2286000"/>
            <a:ext cx="5461000" cy="4191000"/>
          </a:xfrm>
          <a:prstGeom prst="roundRect">
            <a:avLst>
              <a:gd name="adj" fmla="val 3030"/>
            </a:avLst>
          </a:prstGeom>
          <a:solidFill>
            <a:srgbClr val="EBF5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97DB7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4" name="AutoShape 24"/>
          <p:cNvSpPr/>
          <p:nvPr/>
        </p:nvSpPr>
        <p:spPr>
          <a:xfrm>
            <a:off x="6096000" y="2286000"/>
            <a:ext cx="5461000" cy="508000"/>
          </a:xfrm>
          <a:prstGeom prst="roundRect">
            <a:avLst>
              <a:gd name="adj" fmla="val 25000"/>
            </a:avLst>
          </a:prstGeom>
          <a:solidFill>
            <a:srgbClr val="097DB7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5" name="AutoShape 25"/>
          <p:cNvSpPr/>
          <p:nvPr/>
        </p:nvSpPr>
        <p:spPr>
          <a:xfrm>
            <a:off x="6096000" y="2286000"/>
            <a:ext cx="5461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🤖 AI 软件工厂 (MetaGPT)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6223000" y="2984500"/>
            <a:ext cx="52070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7" name="Picture 27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413500" y="3162300"/>
            <a:ext cx="406400" cy="406400"/>
          </a:xfrm>
          <a:prstGeom prst="rect">
            <a:avLst/>
          </a:prstGeom>
        </p:spPr>
      </p:pic>
      <p:sp>
        <p:nvSpPr>
          <p:cNvPr id="28" name="AutoShape 28"/>
          <p:cNvSpPr/>
          <p:nvPr/>
        </p:nvSpPr>
        <p:spPr>
          <a:xfrm>
            <a:off x="6985000" y="3048000"/>
            <a:ext cx="3937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SafeWise / SafeMatrix Agent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505A6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输入产品一句话需求，自动生成安全分析与技术架构文档</a:t>
            </a:r>
            <a:endParaRPr lang="en-US" sz="1100" b="0" i="0" u="none" strike="noStrike">
              <a:solidFill>
                <a:srgbClr val="505A64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9" name="AutoShape 29"/>
          <p:cNvSpPr/>
          <p:nvPr/>
        </p:nvSpPr>
        <p:spPr>
          <a:xfrm>
            <a:off x="6223000" y="3873500"/>
            <a:ext cx="52070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0" name="Picture 30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413500" y="4051300"/>
            <a:ext cx="406400" cy="406400"/>
          </a:xfrm>
          <a:prstGeom prst="rect">
            <a:avLst/>
          </a:prstGeom>
        </p:spPr>
      </p:pic>
      <p:sp>
        <p:nvSpPr>
          <p:cNvPr id="31" name="AutoShape 31"/>
          <p:cNvSpPr/>
          <p:nvPr/>
        </p:nvSpPr>
        <p:spPr>
          <a:xfrm>
            <a:off x="6985000" y="3937000"/>
            <a:ext cx="3937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SmartInsight Agent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505A6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自动进行代码静态走查，生成结构化、可视化的质量报告</a:t>
            </a:r>
            <a:endParaRPr lang="en-US" sz="1100" b="0" i="0" u="none" strike="noStrike">
              <a:solidFill>
                <a:srgbClr val="505A64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2" name="AutoShape 32"/>
          <p:cNvSpPr/>
          <p:nvPr/>
        </p:nvSpPr>
        <p:spPr>
          <a:xfrm>
            <a:off x="6223000" y="4762500"/>
            <a:ext cx="52070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3" name="Picture 33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413500" y="4940300"/>
            <a:ext cx="406400" cy="406400"/>
          </a:xfrm>
          <a:prstGeom prst="rect">
            <a:avLst/>
          </a:prstGeom>
        </p:spPr>
      </p:pic>
      <p:sp>
        <p:nvSpPr>
          <p:cNvPr id="34" name="AutoShape 34"/>
          <p:cNvSpPr/>
          <p:nvPr/>
        </p:nvSpPr>
        <p:spPr>
          <a:xfrm>
            <a:off x="6985000" y="4826000"/>
            <a:ext cx="3937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SmartST / SmartUT Agent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505A6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根据设计文档自动生成功能代码，并执行单元测试与回归</a:t>
            </a:r>
            <a:endParaRPr lang="en-US" sz="1100" b="0" i="0" u="none" strike="noStrike">
              <a:solidFill>
                <a:srgbClr val="505A64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5" name="AutoShape 35"/>
          <p:cNvSpPr/>
          <p:nvPr/>
        </p:nvSpPr>
        <p:spPr>
          <a:xfrm>
            <a:off x="6223000" y="5651500"/>
            <a:ext cx="52070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6" name="Picture 36"/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413500" y="5829300"/>
            <a:ext cx="406400" cy="406400"/>
          </a:xfrm>
          <a:prstGeom prst="rect">
            <a:avLst/>
          </a:prstGeom>
        </p:spPr>
      </p:pic>
      <p:sp>
        <p:nvSpPr>
          <p:cNvPr id="37" name="AutoShape 37"/>
          <p:cNvSpPr/>
          <p:nvPr/>
        </p:nvSpPr>
        <p:spPr>
          <a:xfrm>
            <a:off x="6985000" y="5715000"/>
            <a:ext cx="3937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多Agent 流水线协作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505A6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角色间通过共享知识库流转信息，自动完成版本归档与交付</a:t>
            </a:r>
            <a:endParaRPr lang="en-US" sz="1100" b="0" i="0" u="none" strike="noStrike">
              <a:solidFill>
                <a:srgbClr val="505A64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8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381000" y="127000"/>
            <a:ext cx="7620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63500" tIns="25400" rIns="63500" bIns="254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005A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装备软件智能工厂 · 总体架构（6层）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381000" y="609600"/>
            <a:ext cx="7620000" cy="31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63500" tIns="0" rIns="6350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97DB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核心理念：MetaGPT多智能体协同 · 航天装备软件全流程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381000" y="1143000"/>
            <a:ext cx="3556000" cy="2413000"/>
          </a:xfrm>
          <a:prstGeom prst="roundRect">
            <a:avLst>
              <a:gd name="adj" fmla="val 5263"/>
            </a:avLst>
          </a:prstGeom>
          <a:solidFill>
            <a:srgbClr val="EBF5FF">
              <a:alpha val="100000"/>
            </a:srgbClr>
          </a:solidFill>
          <a:ln w="12700" cap="flat" cmpd="sng">
            <a:solidFill>
              <a:srgbClr val="097DB7">
                <a:alpha val="40000"/>
              </a:srgbClr>
            </a:solidFill>
            <a:prstDash val="solid"/>
            <a:round/>
          </a:ln>
          <a:effectLst>
            <a:outerShdw blurRad="101600" dist="381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1500" y="1333500"/>
            <a:ext cx="457200" cy="4572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206500" y="13716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5AA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基础设施层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571500" y="1905000"/>
            <a:ext cx="3175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构建私有化算力池、容器云与对象存储集群；部署军工级数据库，严格执行内网隔离策略，确保核心数据不出域，全面满足安全合规要求。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4191000" y="1143000"/>
            <a:ext cx="3556000" cy="2413000"/>
          </a:xfrm>
          <a:prstGeom prst="roundRect">
            <a:avLst>
              <a:gd name="adj" fmla="val 5263"/>
            </a:avLst>
          </a:prstGeom>
          <a:solidFill>
            <a:srgbClr val="EBF5FF">
              <a:alpha val="100000"/>
            </a:srgbClr>
          </a:solidFill>
          <a:ln w="12700" cap="flat" cmpd="sng">
            <a:solidFill>
              <a:srgbClr val="097DB7">
                <a:alpha val="40000"/>
              </a:srgbClr>
            </a:solidFill>
            <a:prstDash val="solid"/>
            <a:round/>
          </a:ln>
          <a:effectLst>
            <a:outerShdw blurRad="101600" dist="381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81500" y="1333500"/>
            <a:ext cx="457200" cy="4572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5016500" y="13716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5AA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大模型服务层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4381500" y="1905000"/>
            <a:ext cx="3175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集成私有化LLM推理引擎与向量数据库，提供高性能Embedding服务；建立统一Prompt工程库与模型智能调度中心，为上层应用提供统一的AI能力支撑。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8001000" y="1143000"/>
            <a:ext cx="3556000" cy="2413000"/>
          </a:xfrm>
          <a:prstGeom prst="roundRect">
            <a:avLst>
              <a:gd name="adj" fmla="val 5263"/>
            </a:avLst>
          </a:prstGeom>
          <a:solidFill>
            <a:srgbClr val="EBF5FF">
              <a:alpha val="100000"/>
            </a:srgbClr>
          </a:solidFill>
          <a:ln w="12700" cap="flat" cmpd="sng">
            <a:solidFill>
              <a:srgbClr val="097DB7">
                <a:alpha val="40000"/>
              </a:srgbClr>
            </a:solidFill>
            <a:prstDash val="solid"/>
            <a:round/>
          </a:ln>
          <a:effectLst>
            <a:outerShdw blurRad="101600" dist="381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191500" y="1333500"/>
            <a:ext cx="457200" cy="4572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8826500" y="13716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5AA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 智能体编排层 (核心)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8191500" y="1905000"/>
            <a:ext cx="3175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借鉴MetaGPT思想，实现多角色智能体协同与任务自动拆解；依托统一Orchestrator进行全局调度、复杂流程编排与状态管控，并内置关键节点的人工评审机制。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381000" y="3746500"/>
            <a:ext cx="3556000" cy="2413000"/>
          </a:xfrm>
          <a:prstGeom prst="roundRect">
            <a:avLst>
              <a:gd name="adj" fmla="val 5263"/>
            </a:avLst>
          </a:prstGeom>
          <a:solidFill>
            <a:srgbClr val="EBF5FF">
              <a:alpha val="100000"/>
            </a:srgbClr>
          </a:solidFill>
          <a:ln w="12700" cap="flat" cmpd="sng">
            <a:solidFill>
              <a:srgbClr val="097DB7">
                <a:alpha val="40000"/>
              </a:srgbClr>
            </a:solidFill>
            <a:prstDash val="solid"/>
            <a:round/>
          </a:ln>
          <a:effectLst>
            <a:outerShdw blurRad="101600" dist="381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71500" y="3937000"/>
            <a:ext cx="457200" cy="457200"/>
          </a:xfrm>
          <a:prstGeom prst="rect">
            <a:avLst/>
          </a:prstGeom>
        </p:spPr>
      </p:pic>
      <p:sp>
        <p:nvSpPr>
          <p:cNvPr id="19" name="AutoShape 19"/>
          <p:cNvSpPr/>
          <p:nvPr/>
        </p:nvSpPr>
        <p:spPr>
          <a:xfrm>
            <a:off x="1206500" y="39751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5AA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04 领域智能体层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571500" y="4508500"/>
            <a:ext cx="3175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针对航天装备特性定制五大专业智能体：SafeWise(系统安全)、SafeMatrix(功能安全)、SmartInsight(代码走查)、SmartST(系统测试)、SmartUT(单元测试)。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4191000" y="3746500"/>
            <a:ext cx="3556000" cy="2413000"/>
          </a:xfrm>
          <a:prstGeom prst="roundRect">
            <a:avLst>
              <a:gd name="adj" fmla="val 5263"/>
            </a:avLst>
          </a:prstGeom>
          <a:solidFill>
            <a:srgbClr val="EBF5FF">
              <a:alpha val="100000"/>
            </a:srgbClr>
          </a:solidFill>
          <a:ln w="12700" cap="flat" cmpd="sng">
            <a:solidFill>
              <a:srgbClr val="097DB7">
                <a:alpha val="40000"/>
              </a:srgbClr>
            </a:solidFill>
            <a:prstDash val="solid"/>
            <a:round/>
          </a:ln>
          <a:effectLst>
            <a:outerShdw blurRad="101600" dist="381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381500" y="3937000"/>
            <a:ext cx="457200" cy="457200"/>
          </a:xfrm>
          <a:prstGeom prst="rect">
            <a:avLst/>
          </a:prstGeom>
        </p:spPr>
      </p:pic>
      <p:sp>
        <p:nvSpPr>
          <p:cNvPr id="23" name="AutoShape 23"/>
          <p:cNvSpPr/>
          <p:nvPr/>
        </p:nvSpPr>
        <p:spPr>
          <a:xfrm>
            <a:off x="5016500" y="39751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5AA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05 工程过程层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4381500" y="4508500"/>
            <a:ext cx="3175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覆盖“需求→安全设计→编码→测试→审查→交付”全生命周期；深度适配GJB 5000A、GJB 900A及DO-178C等军工/航空航天标准流程要求。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8001000" y="3746500"/>
            <a:ext cx="3556000" cy="2413000"/>
          </a:xfrm>
          <a:prstGeom prst="roundRect">
            <a:avLst>
              <a:gd name="adj" fmla="val 5263"/>
            </a:avLst>
          </a:prstGeom>
          <a:solidFill>
            <a:srgbClr val="EBF5FF">
              <a:alpha val="100000"/>
            </a:srgbClr>
          </a:solidFill>
          <a:ln w="12700" cap="flat" cmpd="sng">
            <a:solidFill>
              <a:srgbClr val="097DB7">
                <a:alpha val="40000"/>
              </a:srgbClr>
            </a:solidFill>
            <a:prstDash val="solid"/>
            <a:round/>
          </a:ln>
          <a:effectLst>
            <a:outerShdw blurRad="101600" dist="381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191500" y="3937000"/>
            <a:ext cx="457200" cy="457200"/>
          </a:xfrm>
          <a:prstGeom prst="rect">
            <a:avLst/>
          </a:prstGeom>
        </p:spPr>
      </p:pic>
      <p:sp>
        <p:nvSpPr>
          <p:cNvPr id="27" name="AutoShape 27"/>
          <p:cNvSpPr/>
          <p:nvPr/>
        </p:nvSpPr>
        <p:spPr>
          <a:xfrm>
            <a:off x="8826500" y="39751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5AA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06 应用交付层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8191500" y="4508500"/>
            <a:ext cx="3175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提供研发一站式工作台与实时质量看板，支持全链路数据追溯；任务结束自动输出标准化测试报告、产品归档包及完整的工程交付物。</a:t>
            </a:r>
            <a:endParaRPr lang="en-US" sz="11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2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>
            <a:off x="0" y="685800"/>
            <a:ext cx="12192007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cxnSp>
        <p:nvCxnSpPr>
          <p:cNvPr id="4" name="Connector 4"/>
          <p:cNvCxnSpPr/>
          <p:nvPr/>
        </p:nvCxnSpPr>
        <p:spPr>
          <a:xfrm rot="5209099">
            <a:off x="10915564" y="400138"/>
            <a:ext cx="457376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lg" len="lg"/>
            <a:tailEnd type="none" w="lg" len="lg"/>
          </a:ln>
        </p:spPr>
      </p:cxnSp>
      <p:sp>
        <p:nvSpPr>
          <p:cNvPr id="6" name="AutoShape 6"/>
          <p:cNvSpPr/>
          <p:nvPr/>
        </p:nvSpPr>
        <p:spPr>
          <a:xfrm>
            <a:off x="469900" y="127000"/>
            <a:ext cx="990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软件工厂 · 核心运行机制（MetaGPT理念落地）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381000" y="1143000"/>
            <a:ext cx="5461000" cy="2413000"/>
          </a:xfrm>
          <a:prstGeom prst="roundRect">
            <a:avLst>
              <a:gd name="adj" fmla="val 6315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6F0FF">
                <a:alpha val="100000"/>
              </a:srgbClr>
            </a:solidFill>
            <a:prstDash val="solid"/>
            <a:round/>
          </a:ln>
          <a:effectLst>
            <a:outerShdw blurRad="190500" dist="63500" dir="5400000" algn="tl" rotWithShape="0">
              <a:srgbClr val="005AB4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635000" y="1524000"/>
            <a:ext cx="889000" cy="889000"/>
          </a:xfrm>
          <a:prstGeom prst="ellipse">
            <a:avLst/>
          </a:prstGeom>
          <a:solidFill>
            <a:srgbClr val="005AB4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5500" y="1714500"/>
            <a:ext cx="508000" cy="5080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1778000" y="1524000"/>
            <a:ext cx="368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5AB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智能体流水线协同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1778000" y="2032000"/>
            <a:ext cx="3556000" cy="635000"/>
          </a:xfrm>
          <a:prstGeom prst="roundRect">
            <a:avLst>
              <a:gd name="adj" fmla="val 10000"/>
            </a:avLst>
          </a:prstGeom>
          <a:solidFill>
            <a:srgbClr val="F0F5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127000" tIns="0" rIns="12700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需求→SafeWise→SafeMatrix→编码→SmartInsight→交付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1778000" y="2794000"/>
            <a:ext cx="368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全流程自动化串联，五大智能体分工协作，大幅减少人工重复劳动成本。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6223000" y="1143000"/>
            <a:ext cx="5461000" cy="2413000"/>
          </a:xfrm>
          <a:prstGeom prst="roundRect">
            <a:avLst>
              <a:gd name="adj" fmla="val 6315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6F0FF">
                <a:alpha val="100000"/>
              </a:srgbClr>
            </a:solidFill>
            <a:prstDash val="solid"/>
            <a:round/>
          </a:ln>
          <a:effectLst>
            <a:outerShdw blurRad="190500" dist="63500" dir="5400000" algn="tl" rotWithShape="0">
              <a:srgbClr val="005AB4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14"/>
          <p:cNvSpPr/>
          <p:nvPr/>
        </p:nvSpPr>
        <p:spPr>
          <a:xfrm>
            <a:off x="6477000" y="1524000"/>
            <a:ext cx="889000" cy="889000"/>
          </a:xfrm>
          <a:prstGeom prst="ellipse">
            <a:avLst/>
          </a:prstGeom>
          <a:solidFill>
            <a:srgbClr val="005AB4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67500" y="1714500"/>
            <a:ext cx="508000" cy="5080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7620000" y="1524000"/>
            <a:ext cx="368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5AB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全域知识沉淀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7620000" y="2032000"/>
            <a:ext cx="3556000" cy="635000"/>
          </a:xfrm>
          <a:prstGeom prst="roundRect">
            <a:avLst>
              <a:gd name="adj" fmla="val 10000"/>
            </a:avLst>
          </a:prstGeom>
          <a:solidFill>
            <a:srgbClr val="F0F5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127000" tIns="0" rIns="12700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工程经验库 | 故障模式库 | 安全约束库 | 测试用例库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7620000" y="2794000"/>
            <a:ext cx="368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跨Agent共享复用历史经验，让模型在持续迭代中不断进化，越用越聪明。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381000" y="3810000"/>
            <a:ext cx="5461000" cy="2413000"/>
          </a:xfrm>
          <a:prstGeom prst="roundRect">
            <a:avLst>
              <a:gd name="adj" fmla="val 6315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6F0FF">
                <a:alpha val="100000"/>
              </a:srgbClr>
            </a:solidFill>
            <a:prstDash val="solid"/>
            <a:round/>
          </a:ln>
          <a:effectLst>
            <a:outerShdw blurRad="190500" dist="63500" dir="5400000" algn="tl" rotWithShape="0">
              <a:srgbClr val="005AB4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0" name="AutoShape 20"/>
          <p:cNvSpPr/>
          <p:nvPr/>
        </p:nvSpPr>
        <p:spPr>
          <a:xfrm>
            <a:off x="635000" y="4191000"/>
            <a:ext cx="889000" cy="889000"/>
          </a:xfrm>
          <a:prstGeom prst="ellipse">
            <a:avLst/>
          </a:prstGeom>
          <a:solidFill>
            <a:srgbClr val="005AB4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5500" y="4381500"/>
            <a:ext cx="508000" cy="508000"/>
          </a:xfrm>
          <a:prstGeom prst="rect">
            <a:avLst/>
          </a:prstGeom>
        </p:spPr>
      </p:pic>
      <p:sp>
        <p:nvSpPr>
          <p:cNvPr id="22" name="AutoShape 22"/>
          <p:cNvSpPr/>
          <p:nvPr/>
        </p:nvSpPr>
        <p:spPr>
          <a:xfrm>
            <a:off x="1778000" y="4191000"/>
            <a:ext cx="368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5AB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质量闭环优化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1778000" y="4699000"/>
            <a:ext cx="3556000" cy="635000"/>
          </a:xfrm>
          <a:prstGeom prst="roundRect">
            <a:avLst>
              <a:gd name="adj" fmla="val 10000"/>
            </a:avLst>
          </a:prstGeom>
          <a:solidFill>
            <a:srgbClr val="F0F5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127000" tIns="0" rIns="12700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AI生成 → 专家评审 → 结果入库 → Prompt优化 → 能力提升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1778000" y="5461000"/>
            <a:ext cx="368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建立全链路质量反馈闭环，确保所有过程可追溯、可审计、可复现。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6223000" y="3810000"/>
            <a:ext cx="5461000" cy="2413000"/>
          </a:xfrm>
          <a:prstGeom prst="roundRect">
            <a:avLst>
              <a:gd name="adj" fmla="val 6315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6F0FF">
                <a:alpha val="100000"/>
              </a:srgbClr>
            </a:solidFill>
            <a:prstDash val="solid"/>
            <a:round/>
          </a:ln>
          <a:effectLst>
            <a:outerShdw blurRad="190500" dist="63500" dir="5400000" algn="tl" rotWithShape="0">
              <a:srgbClr val="005AB4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6" name="AutoShape 26"/>
          <p:cNvSpPr/>
          <p:nvPr/>
        </p:nvSpPr>
        <p:spPr>
          <a:xfrm>
            <a:off x="6477000" y="4191000"/>
            <a:ext cx="889000" cy="889000"/>
          </a:xfrm>
          <a:prstGeom prst="ellipse">
            <a:avLst/>
          </a:prstGeom>
          <a:solidFill>
            <a:srgbClr val="005AB4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7" name="Picture 27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667500" y="4381500"/>
            <a:ext cx="508000" cy="508000"/>
          </a:xfrm>
          <a:prstGeom prst="rect">
            <a:avLst/>
          </a:prstGeom>
        </p:spPr>
      </p:pic>
      <p:sp>
        <p:nvSpPr>
          <p:cNvPr id="28" name="AutoShape 28"/>
          <p:cNvSpPr/>
          <p:nvPr/>
        </p:nvSpPr>
        <p:spPr>
          <a:xfrm>
            <a:off x="7620000" y="4191000"/>
            <a:ext cx="368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5AB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标准合规内嵌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7620000" y="4699000"/>
            <a:ext cx="3556000" cy="635000"/>
          </a:xfrm>
          <a:prstGeom prst="roundRect">
            <a:avLst>
              <a:gd name="adj" fmla="val 10000"/>
            </a:avLst>
          </a:prstGeom>
          <a:solidFill>
            <a:srgbClr val="F0F5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127000" tIns="0" rIns="12700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内置国军标 / 航标 / 民航标准模板库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7620000" y="5461000"/>
            <a:ext cx="368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基于标准模板自动生成合规证据与审查文档，减轻工程师合规审查负担。</a:t>
            </a:r>
            <a:endParaRPr lang="en-US" sz="11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2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 rot="-3580">
            <a:off x="3" y="679450"/>
            <a:ext cx="1219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" name="Connector 4"/>
          <p:cNvCxnSpPr/>
          <p:nvPr/>
        </p:nvCxnSpPr>
        <p:spPr>
          <a:xfrm rot="5304531">
            <a:off x="10909300" y="400138"/>
            <a:ext cx="4572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AutoShape 6"/>
          <p:cNvSpPr/>
          <p:nvPr/>
        </p:nvSpPr>
        <p:spPr>
          <a:xfrm>
            <a:off x="469900" y="139700"/>
            <a:ext cx="2540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Part3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469900" y="889000"/>
            <a:ext cx="1016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软件工厂架构总览：从统一蓝图到多元实现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508000" y="1651000"/>
            <a:ext cx="5080000" cy="2032000"/>
          </a:xfrm>
          <a:prstGeom prst="roundRect">
            <a:avLst>
              <a:gd name="adj" fmla="val 6250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2000" y="1905000"/>
            <a:ext cx="609600" cy="6096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1651000" y="1905000"/>
            <a:ext cx="355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① 任务输入层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1651000" y="2413000"/>
            <a:ext cx="3556000" cy="12700"/>
          </a:xfrm>
          <a:prstGeom prst="roundRect">
            <a:avLst>
              <a:gd name="adj" fmla="val 0"/>
            </a:avLst>
          </a:prstGeom>
          <a:solidFill>
            <a:srgbClr val="D1D5D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1651000" y="2603500"/>
            <a:ext cx="3556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接收多元输入，构建基础数据底座：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需求文档 | 设计文档 | 代码仓 | 历史项目经验</a:t>
            </a:r>
            <a:endParaRPr lang="en-US" sz="12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3" name="AutoShape 13"/>
          <p:cNvSpPr/>
          <p:nvPr/>
        </p:nvSpPr>
        <p:spPr>
          <a:xfrm>
            <a:off x="508000" y="3937000"/>
            <a:ext cx="5080000" cy="2032000"/>
          </a:xfrm>
          <a:prstGeom prst="roundRect">
            <a:avLst>
              <a:gd name="adj" fmla="val 6250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2000" y="4191000"/>
            <a:ext cx="609600" cy="6096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1651000" y="4191000"/>
            <a:ext cx="355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② 知识沉淀层 (结果汇聚)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1651000" y="4699000"/>
            <a:ext cx="3556000" cy="12700"/>
          </a:xfrm>
          <a:prstGeom prst="roundRect">
            <a:avLst>
              <a:gd name="adj" fmla="val 0"/>
            </a:avLst>
          </a:prstGeom>
          <a:solidFill>
            <a:srgbClr val="D1D5D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7" name="AutoShape 17"/>
          <p:cNvSpPr/>
          <p:nvPr/>
        </p:nvSpPr>
        <p:spPr>
          <a:xfrm>
            <a:off x="1651000" y="4889500"/>
            <a:ext cx="3556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汇聚分析成果，构建可复用知识库：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经验库 | 故障模式库 | 历史分析库 | Prompt持续优化库</a:t>
            </a:r>
            <a:endParaRPr lang="en-US" sz="12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8" name="AutoShape 18"/>
          <p:cNvSpPr/>
          <p:nvPr/>
        </p:nvSpPr>
        <p:spPr>
          <a:xfrm>
            <a:off x="6223000" y="1651000"/>
            <a:ext cx="5080000" cy="2032000"/>
          </a:xfrm>
          <a:prstGeom prst="roundRect">
            <a:avLst>
              <a:gd name="adj" fmla="val 6250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77000" y="1905000"/>
            <a:ext cx="609600" cy="609600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7366000" y="1905000"/>
            <a:ext cx="355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③ 智能体协作层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7366000" y="2413000"/>
            <a:ext cx="3556000" cy="12700"/>
          </a:xfrm>
          <a:prstGeom prst="roundRect">
            <a:avLst>
              <a:gd name="adj" fmla="val 0"/>
            </a:avLst>
          </a:prstGeom>
          <a:solidFill>
            <a:srgbClr val="D1D5D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2" name="AutoShape 22"/>
          <p:cNvSpPr/>
          <p:nvPr/>
        </p:nvSpPr>
        <p:spPr>
          <a:xfrm>
            <a:off x="7366000" y="2603500"/>
            <a:ext cx="3556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五大核心智能体并行协同工作：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SafeWise(系统安全) | SafeMatrix(功能安全) | SmartInsight(代码走查)</a:t>
            </a:r>
            <a:b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SmartST(系统测试) | SmartUT(单元测试)</a:t>
            </a:r>
            <a:endParaRPr lang="en-US" sz="12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3" name="AutoShape 23"/>
          <p:cNvSpPr/>
          <p:nvPr/>
        </p:nvSpPr>
        <p:spPr>
          <a:xfrm>
            <a:off x="6223000" y="3937000"/>
            <a:ext cx="5080000" cy="2032000"/>
          </a:xfrm>
          <a:prstGeom prst="roundRect">
            <a:avLst>
              <a:gd name="adj" fmla="val 6250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77000" y="4191000"/>
            <a:ext cx="609600" cy="609600"/>
          </a:xfrm>
          <a:prstGeom prst="rect">
            <a:avLst/>
          </a:prstGeom>
        </p:spPr>
      </p:pic>
      <p:sp>
        <p:nvSpPr>
          <p:cNvPr id="25" name="AutoShape 25"/>
          <p:cNvSpPr/>
          <p:nvPr/>
        </p:nvSpPr>
        <p:spPr>
          <a:xfrm>
            <a:off x="7366000" y="4191000"/>
            <a:ext cx="355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④ 输出交付层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7366000" y="4699000"/>
            <a:ext cx="3556000" cy="12700"/>
          </a:xfrm>
          <a:prstGeom prst="roundRect">
            <a:avLst>
              <a:gd name="adj" fmla="val 0"/>
            </a:avLst>
          </a:prstGeom>
          <a:solidFill>
            <a:srgbClr val="D1D5D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7" name="AutoShape 27"/>
          <p:cNvSpPr/>
          <p:nvPr/>
        </p:nvSpPr>
        <p:spPr>
          <a:xfrm>
            <a:off x="7366000" y="4889500"/>
            <a:ext cx="3556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自动生成标准化、高质量交付物：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安全性分析报告 | 测试报告 | 代码走查报告</a:t>
            </a:r>
            <a:b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符合GJB标准的自动化工程文档</a:t>
            </a:r>
            <a:endParaRPr lang="en-US" sz="12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>
            <a:off x="0" y="685800"/>
            <a:ext cx="12192007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cxnSp>
        <p:nvCxnSpPr>
          <p:cNvPr id="4" name="Connector 4"/>
          <p:cNvCxnSpPr/>
          <p:nvPr/>
        </p:nvCxnSpPr>
        <p:spPr>
          <a:xfrm rot="5209099">
            <a:off x="10915564" y="400138"/>
            <a:ext cx="457376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lg" len="lg"/>
            <a:tailEnd type="none" w="lg" len="lg"/>
          </a:ln>
        </p:spPr>
      </p:cxnSp>
      <p:sp>
        <p:nvSpPr>
          <p:cNvPr id="6" name="AutoShape 6"/>
          <p:cNvSpPr/>
          <p:nvPr/>
        </p:nvSpPr>
        <p:spPr>
          <a:xfrm>
            <a:off x="469900" y="889000"/>
            <a:ext cx="1016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架构一：市场驱动的Agent生态架构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469900" y="1524000"/>
            <a:ext cx="11252200" cy="1143000"/>
          </a:xfrm>
          <a:prstGeom prst="roundRect">
            <a:avLst>
              <a:gd name="adj" fmla="val 11111"/>
            </a:avLst>
          </a:prstGeom>
          <a:solidFill>
            <a:srgbClr val="E6F2FF">
              <a:alpha val="100000"/>
            </a:srgbClr>
          </a:solidFill>
          <a:ln w="12700" cap="flat" cmpd="sng">
            <a:solidFill>
              <a:srgbClr val="B4D2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8500" y="1790700"/>
            <a:ext cx="609600" cy="6096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1524000" y="1625600"/>
            <a:ext cx="9906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400" b="1" i="0" u="none" strike="noStrike">
                <a:solidFill>
                  <a:srgbClr val="005AB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核心思想：</a:t>
            </a:r>
            <a:r>
              <a:rPr lang="en-US" sz="12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将软件开发过程重构为一个动态的服务市场。任务是“需求”，Agent是“服务提供者”，通过智能“市场调度中心”实现任务与Agent的动态匹配、资源的最优分配与交易撮合。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469900" y="2857500"/>
            <a:ext cx="35560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254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98500" y="3048000"/>
            <a:ext cx="457200" cy="4572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1333500" y="3022600"/>
            <a:ext cx="2667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需求发布与解析中心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1333500" y="3429000"/>
            <a:ext cx="2667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负责将模糊的业务需求，结构化解析为标准化、可执行的“任务合约”。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4318000" y="2857500"/>
            <a:ext cx="35560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254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546600" y="3048000"/>
            <a:ext cx="457200" cy="4572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5181600" y="3022600"/>
            <a:ext cx="2667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Agent注册与能力中心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5181600" y="3429000"/>
            <a:ext cx="2667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维护所有Agent的技能画像、历史战绩与信誉评级，构建Agent能力池。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8166100" y="2857500"/>
            <a:ext cx="3556000" cy="1397000"/>
          </a:xfrm>
          <a:prstGeom prst="roundRect">
            <a:avLst>
              <a:gd name="adj" fmla="val 7272"/>
            </a:avLst>
          </a:prstGeom>
          <a:solidFill>
            <a:srgbClr val="F0F8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25400" dir="2700000" algn="tl" rotWithShape="0">
              <a:srgbClr val="000000">
                <a:alpha val="12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394700" y="3048000"/>
            <a:ext cx="457200" cy="457200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9029700" y="3022600"/>
            <a:ext cx="2667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05AB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市场调度中心 (核心)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9029700" y="3429000"/>
            <a:ext cx="2667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基于供需关系进行智能匹配，执行动态定价策略，并最终完成交易撮合。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469900" y="4445000"/>
            <a:ext cx="5461000" cy="1206500"/>
          </a:xfrm>
          <a:prstGeom prst="roundRect">
            <a:avLst>
              <a:gd name="adj" fmla="val 842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254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98500" y="4673600"/>
            <a:ext cx="457200" cy="457200"/>
          </a:xfrm>
          <a:prstGeom prst="rect">
            <a:avLst/>
          </a:prstGeom>
        </p:spPr>
      </p:pic>
      <p:sp>
        <p:nvSpPr>
          <p:cNvPr id="24" name="AutoShape 24"/>
          <p:cNvSpPr/>
          <p:nvPr/>
        </p:nvSpPr>
        <p:spPr>
          <a:xfrm>
            <a:off x="1397000" y="4572000"/>
            <a:ext cx="4191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协作与通信总线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1397000" y="4953000"/>
            <a:ext cx="4191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提供Agent之间标准化、低耦合的通信渠道，支持分布式协同开发中的信息交互。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6261100" y="4445000"/>
            <a:ext cx="5461000" cy="1206500"/>
          </a:xfrm>
          <a:prstGeom prst="roundRect">
            <a:avLst>
              <a:gd name="adj" fmla="val 842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254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7" name="Picture 27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489700" y="4673600"/>
            <a:ext cx="457200" cy="457200"/>
          </a:xfrm>
          <a:prstGeom prst="rect">
            <a:avLst/>
          </a:prstGeom>
        </p:spPr>
      </p:pic>
      <p:sp>
        <p:nvSpPr>
          <p:cNvPr id="28" name="AutoShape 28"/>
          <p:cNvSpPr/>
          <p:nvPr/>
        </p:nvSpPr>
        <p:spPr>
          <a:xfrm>
            <a:off x="7188200" y="4572000"/>
            <a:ext cx="4191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成果验收与评价中心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7188200" y="4953000"/>
            <a:ext cx="4191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自动化验证任务交付成果的完整性与正确性，并根据结果更新Agent的信誉档案。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469900" y="5778500"/>
            <a:ext cx="11252200" cy="889000"/>
          </a:xfrm>
          <a:prstGeom prst="roundRect">
            <a:avLst>
              <a:gd name="adj" fmla="val 14285"/>
            </a:avLst>
          </a:prstGeom>
          <a:solidFill>
            <a:srgbClr val="E6F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1" name="AutoShape 31"/>
          <p:cNvSpPr/>
          <p:nvPr/>
        </p:nvSpPr>
        <p:spPr>
          <a:xfrm>
            <a:off x="635000" y="5842000"/>
            <a:ext cx="127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05AB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工作流程：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2032000" y="5905500"/>
            <a:ext cx="9144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需求注入</a:t>
            </a:r>
            <a:r>
              <a:rPr lang="en-US" sz="1600" b="0" i="0" u="none" strike="noStrike">
                <a:solidFill>
                  <a:srgbClr val="96969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→</a:t>
            </a:r>
            <a:r>
              <a:rPr lang="en-US" sz="11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任务标准化发布</a:t>
            </a:r>
            <a:r>
              <a:rPr lang="en-US" sz="1600" b="0" i="0" u="none" strike="noStrike">
                <a:solidFill>
                  <a:srgbClr val="96969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→</a:t>
            </a:r>
            <a:r>
              <a:rPr lang="en-US" sz="11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Agent动态竞标</a:t>
            </a:r>
            <a:r>
              <a:rPr lang="en-US" sz="1600" b="0" i="0" u="none" strike="noStrike">
                <a:solidFill>
                  <a:srgbClr val="96969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→</a:t>
            </a:r>
            <a:r>
              <a:rPr lang="en-US" sz="11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分布式协同开发</a:t>
            </a:r>
            <a:r>
              <a:rPr lang="en-US" sz="1600" b="0" i="0" u="none" strike="noStrike">
                <a:solidFill>
                  <a:srgbClr val="96969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→</a:t>
            </a:r>
            <a:r>
              <a:rPr lang="en-US" sz="1100" b="1" i="0" u="none" strike="noStrike">
                <a:solidFill>
                  <a:srgbClr val="005AB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成果交付与信誉评价</a:t>
            </a:r>
            <a:endParaRPr lang="en-US" sz="110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2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 rot="-3580">
            <a:off x="3" y="679450"/>
            <a:ext cx="1219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cxnSp>
        <p:nvCxnSpPr>
          <p:cNvPr id="4" name="Connector 4"/>
          <p:cNvCxnSpPr/>
          <p:nvPr/>
        </p:nvCxnSpPr>
        <p:spPr>
          <a:xfrm rot="5304531">
            <a:off x="10909300" y="400138"/>
            <a:ext cx="4572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6" name="AutoShape 6"/>
          <p:cNvSpPr/>
          <p:nvPr/>
        </p:nvSpPr>
        <p:spPr>
          <a:xfrm>
            <a:off x="469900" y="139700"/>
            <a:ext cx="2540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Part 03 / 架构方案解析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469900" y="889000"/>
            <a:ext cx="1016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1E40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架构二：数字孪生驱动的 Agent 架构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469900" y="1651000"/>
            <a:ext cx="3429000" cy="2413000"/>
          </a:xfrm>
          <a:prstGeom prst="roundRect">
            <a:avLst>
              <a:gd name="adj" fmla="val 5263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/>
        </p:nvSpPr>
        <p:spPr>
          <a:xfrm>
            <a:off x="596900" y="1841500"/>
            <a:ext cx="3175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D4ED8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💡 核心设计思想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596900" y="2349500"/>
            <a:ext cx="3175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构建与物理装备</a:t>
            </a:r>
            <a:r>
              <a:rPr lang="en-US" sz="1100" b="1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1:1同步</a:t>
            </a: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的高保真数字孪生环境。所有Agent的开发、测试、集成工作均在虚拟空间中闭环完成，确保软件部署前已通过充分的仿真验证，实现“虚拟先行，安全落地”。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469900" y="4318000"/>
            <a:ext cx="3429000" cy="1651000"/>
          </a:xfrm>
          <a:prstGeom prst="roundRect">
            <a:avLst>
              <a:gd name="adj" fmla="val 7692"/>
            </a:avLst>
          </a:prstGeom>
          <a:solidFill>
            <a:srgbClr val="FFF7ED">
              <a:alpha val="100000"/>
            </a:srgbClr>
          </a:solidFill>
          <a:ln w="12700" cap="flat" cmpd="sng">
            <a:solidFill>
              <a:srgbClr val="FED7AA">
                <a:alpha val="100000"/>
              </a:srgbClr>
            </a:solidFill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596900" y="4508500"/>
            <a:ext cx="3175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EA580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✨ 架构核心优势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596900" y="4953000"/>
            <a:ext cx="3175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100" b="0" i="0" u="none" strike="noStrike">
                <a:solidFill>
                  <a:srgbClr val="43140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开发过程</a:t>
            </a:r>
            <a:r>
              <a:rPr lang="en-US" sz="1100" b="1" i="0" u="none" strike="noStrike">
                <a:solidFill>
                  <a:srgbClr val="43140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零干扰</a:t>
            </a:r>
            <a:r>
              <a:rPr lang="en-US" sz="1100" b="0" i="0" u="none" strike="noStrike">
                <a:solidFill>
                  <a:srgbClr val="43140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物理实体，保障生产安全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100" b="0" i="0" u="none" strike="noStrike">
                <a:solidFill>
                  <a:srgbClr val="43140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支持</a:t>
            </a:r>
            <a:r>
              <a:rPr lang="en-US" sz="1100" b="1" i="0" u="none" strike="noStrike">
                <a:solidFill>
                  <a:srgbClr val="43140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极限工况</a:t>
            </a:r>
            <a:r>
              <a:rPr lang="en-US" sz="1100" b="0" i="0" u="none" strike="noStrike">
                <a:solidFill>
                  <a:srgbClr val="43140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与故障注入的低成本验证</a:t>
            </a:r>
            <a:endParaRPr lang="en-US" sz="1100" b="0" i="0" u="none" strike="noStrike">
              <a:solidFill>
                <a:srgbClr val="431407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17000"/>
              </a:lnSpc>
            </a:pPr>
            <a:r>
              <a:rPr lang="en-US" sz="1100" b="0" i="0" u="none" strike="noStrike">
                <a:solidFill>
                  <a:srgbClr val="43140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虚实数据实时闭环，持续优化Agent策略</a:t>
            </a:r>
            <a:endParaRPr lang="en-US" sz="1100" b="0" i="0" u="none" strike="noStrike">
              <a:solidFill>
                <a:srgbClr val="431407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4127500" y="1651000"/>
            <a:ext cx="3937000" cy="4318000"/>
          </a:xfrm>
          <a:prstGeom prst="roundRect">
            <a:avLst>
              <a:gd name="adj" fmla="val 3225"/>
            </a:avLst>
          </a:prstGeom>
          <a:solidFill>
            <a:srgbClr val="F8FAFC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5" name="AutoShape 15"/>
          <p:cNvSpPr/>
          <p:nvPr/>
        </p:nvSpPr>
        <p:spPr>
          <a:xfrm>
            <a:off x="4254500" y="1841500"/>
            <a:ext cx="368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🏗️ 五大核心功能模块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4254500" y="2413000"/>
            <a:ext cx="3683000" cy="635000"/>
          </a:xfrm>
          <a:prstGeom prst="roundRect">
            <a:avLst>
              <a:gd name="adj" fmla="val 1600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DBEA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81500" y="2578100"/>
            <a:ext cx="304800" cy="3048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4826000" y="2476500"/>
            <a:ext cx="3175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装备数字孪生环境：</a:t>
            </a:r>
            <a:r>
              <a:rPr lang="en-US" sz="1100" b="0" i="0" u="none" strike="noStrik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含物理模型与故障注入能力的高保真仿真平台。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4254500" y="3175000"/>
            <a:ext cx="3683000" cy="635000"/>
          </a:xfrm>
          <a:prstGeom prst="roundRect">
            <a:avLst>
              <a:gd name="adj" fmla="val 1600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DBEA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81500" y="3340100"/>
            <a:ext cx="304800" cy="304800"/>
          </a:xfrm>
          <a:prstGeom prst="rect">
            <a:avLst/>
          </a:prstGeom>
        </p:spPr>
      </p:pic>
      <p:sp>
        <p:nvSpPr>
          <p:cNvPr id="21" name="AutoShape 21"/>
          <p:cNvSpPr/>
          <p:nvPr/>
        </p:nvSpPr>
        <p:spPr>
          <a:xfrm>
            <a:off x="4826000" y="3238500"/>
            <a:ext cx="3175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数据采集同步模块：</a:t>
            </a:r>
            <a:r>
              <a:rPr lang="en-US" sz="1100" b="0" i="0" u="none" strike="noStrik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实时打通物理装备与虚拟空间的双向数据链路。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4254500" y="3937000"/>
            <a:ext cx="3683000" cy="635000"/>
          </a:xfrm>
          <a:prstGeom prst="roundRect">
            <a:avLst>
              <a:gd name="adj" fmla="val 1600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DBEA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381500" y="4102100"/>
            <a:ext cx="304800" cy="304800"/>
          </a:xfrm>
          <a:prstGeom prst="rect">
            <a:avLst/>
          </a:prstGeom>
        </p:spPr>
      </p:pic>
      <p:sp>
        <p:nvSpPr>
          <p:cNvPr id="24" name="AutoShape 24"/>
          <p:cNvSpPr/>
          <p:nvPr/>
        </p:nvSpPr>
        <p:spPr>
          <a:xfrm>
            <a:off x="4826000" y="4000500"/>
            <a:ext cx="3175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虚拟开发Agent集群：</a:t>
            </a:r>
            <a:r>
              <a:rPr lang="en-US" sz="1100" b="0" i="0" u="none" strike="noStrik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在虚拟环境中并行执行编码、单元测试与联调。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4254500" y="4699000"/>
            <a:ext cx="3683000" cy="635000"/>
          </a:xfrm>
          <a:prstGeom prst="roundRect">
            <a:avLst>
              <a:gd name="adj" fmla="val 1600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DBEA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1500" y="4864100"/>
            <a:ext cx="304800" cy="304800"/>
          </a:xfrm>
          <a:prstGeom prst="rect">
            <a:avLst/>
          </a:prstGeom>
        </p:spPr>
      </p:pic>
      <p:sp>
        <p:nvSpPr>
          <p:cNvPr id="27" name="AutoShape 27"/>
          <p:cNvSpPr/>
          <p:nvPr/>
        </p:nvSpPr>
        <p:spPr>
          <a:xfrm>
            <a:off x="4826000" y="4762500"/>
            <a:ext cx="3175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虚实交互验证网关：</a:t>
            </a:r>
            <a:r>
              <a:rPr lang="en-US" sz="1100" b="0" i="0" u="none" strike="noStrik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作为安全“单向阀门”，管控Agent的物理部署权限。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8255000" y="1651000"/>
            <a:ext cx="3302000" cy="4318000"/>
          </a:xfrm>
          <a:prstGeom prst="roundRect">
            <a:avLst>
              <a:gd name="adj" fmla="val 3846"/>
            </a:avLst>
          </a:prstGeom>
          <a:solidFill>
            <a:srgbClr val="F0FDF4">
              <a:alpha val="100000"/>
            </a:srgbClr>
          </a:solidFill>
          <a:ln w="12700" cap="flat" cmpd="sng">
            <a:solidFill>
              <a:srgbClr val="BBF7D0">
                <a:alpha val="100000"/>
              </a:srgbClr>
            </a:solidFill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9" name="AutoShape 29"/>
          <p:cNvSpPr/>
          <p:nvPr/>
        </p:nvSpPr>
        <p:spPr>
          <a:xfrm>
            <a:off x="8382000" y="18415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5803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🔄 闭环实施工作流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8382000" y="2413000"/>
            <a:ext cx="3048000" cy="533400"/>
          </a:xfrm>
          <a:prstGeom prst="roundRect">
            <a:avLst>
              <a:gd name="adj" fmla="val 19047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A7F3D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1" name="AutoShape 31"/>
          <p:cNvSpPr/>
          <p:nvPr/>
        </p:nvSpPr>
        <p:spPr>
          <a:xfrm>
            <a:off x="8509000" y="2489200"/>
            <a:ext cx="292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16A34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01. 孪生构建：</a:t>
            </a: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建立物理装备的虚拟镜像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8382000" y="3111500"/>
            <a:ext cx="3048000" cy="533400"/>
          </a:xfrm>
          <a:prstGeom prst="roundRect">
            <a:avLst>
              <a:gd name="adj" fmla="val 19047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A7F3D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3" name="AutoShape 33"/>
          <p:cNvSpPr/>
          <p:nvPr/>
        </p:nvSpPr>
        <p:spPr>
          <a:xfrm>
            <a:off x="8509000" y="3187700"/>
            <a:ext cx="292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16A34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02. 虚拟集成：</a:t>
            </a: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Agent代码开发与模块联调</a:t>
            </a:r>
            <a:endParaRPr lang="en-US" sz="1100"/>
          </a:p>
        </p:txBody>
      </p:sp>
      <p:sp>
        <p:nvSpPr>
          <p:cNvPr id="34" name="AutoShape 34"/>
          <p:cNvSpPr/>
          <p:nvPr/>
        </p:nvSpPr>
        <p:spPr>
          <a:xfrm>
            <a:off x="8382000" y="3810000"/>
            <a:ext cx="3048000" cy="533400"/>
          </a:xfrm>
          <a:prstGeom prst="roundRect">
            <a:avLst>
              <a:gd name="adj" fmla="val 19047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A7F3D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5" name="AutoShape 35"/>
          <p:cNvSpPr/>
          <p:nvPr/>
        </p:nvSpPr>
        <p:spPr>
          <a:xfrm>
            <a:off x="8509000" y="3886200"/>
            <a:ext cx="292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16A34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03. 仿真验证：</a:t>
            </a: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多场景/故障注入的全面测试</a:t>
            </a:r>
            <a:endParaRPr lang="en-US" sz="1100"/>
          </a:p>
        </p:txBody>
      </p:sp>
      <p:sp>
        <p:nvSpPr>
          <p:cNvPr id="36" name="AutoShape 36"/>
          <p:cNvSpPr/>
          <p:nvPr/>
        </p:nvSpPr>
        <p:spPr>
          <a:xfrm>
            <a:off x="8382000" y="4508500"/>
            <a:ext cx="3048000" cy="533400"/>
          </a:xfrm>
          <a:prstGeom prst="roundRect">
            <a:avLst>
              <a:gd name="adj" fmla="val 19047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A7F3D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7" name="AutoShape 37"/>
          <p:cNvSpPr/>
          <p:nvPr/>
        </p:nvSpPr>
        <p:spPr>
          <a:xfrm>
            <a:off x="8509000" y="4584700"/>
            <a:ext cx="292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16A34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04. 迭代优化：</a:t>
            </a: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基于数据反馈的策略调优</a:t>
            </a:r>
            <a:endParaRPr lang="en-US" sz="1100"/>
          </a:p>
        </p:txBody>
      </p:sp>
      <p:sp>
        <p:nvSpPr>
          <p:cNvPr id="38" name="AutoShape 38"/>
          <p:cNvSpPr/>
          <p:nvPr/>
        </p:nvSpPr>
        <p:spPr>
          <a:xfrm>
            <a:off x="8382000" y="5207000"/>
            <a:ext cx="3048000" cy="533400"/>
          </a:xfrm>
          <a:prstGeom prst="roundRect">
            <a:avLst>
              <a:gd name="adj" fmla="val 19047"/>
            </a:avLst>
          </a:prstGeom>
          <a:solidFill>
            <a:srgbClr val="DCFCE7">
              <a:alpha val="100000"/>
            </a:srgbClr>
          </a:solidFill>
          <a:ln w="12700" cap="flat" cmpd="sng">
            <a:solidFill>
              <a:srgbClr val="16A34A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9" name="AutoShape 39"/>
          <p:cNvSpPr/>
          <p:nvPr/>
        </p:nvSpPr>
        <p:spPr>
          <a:xfrm>
            <a:off x="8509000" y="5283200"/>
            <a:ext cx="292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15803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05. 安全部署：</a:t>
            </a:r>
            <a:r>
              <a:rPr lang="en-US" sz="1100" b="0" i="0" u="none" strike="noStrike">
                <a:solidFill>
                  <a:srgbClr val="15803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经网关审核后上线物理环境</a:t>
            </a:r>
            <a:endParaRPr lang="en-US" sz="11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4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>
            <a:off x="0" y="685800"/>
            <a:ext cx="12192007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cxnSp>
        <p:nvCxnSpPr>
          <p:cNvPr id="4" name="Connector 4"/>
          <p:cNvCxnSpPr/>
          <p:nvPr/>
        </p:nvCxnSpPr>
        <p:spPr>
          <a:xfrm rot="5209099">
            <a:off x="10915564" y="400138"/>
            <a:ext cx="457376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lg" len="lg"/>
            <a:tailEnd type="none" w="lg" len="lg"/>
          </a:ln>
        </p:spPr>
      </p:cxnSp>
      <p:sp>
        <p:nvSpPr>
          <p:cNvPr id="6" name="AutoShape 6"/>
          <p:cNvSpPr/>
          <p:nvPr/>
        </p:nvSpPr>
        <p:spPr>
          <a:xfrm>
            <a:off x="469900" y="139700"/>
            <a:ext cx="1270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Part 03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1778000" y="139700"/>
            <a:ext cx="7620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架构三：知识图谱驱动的Agent协同架构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381000" y="1016000"/>
            <a:ext cx="11430000" cy="1206500"/>
          </a:xfrm>
          <a:prstGeom prst="roundRect">
            <a:avLst>
              <a:gd name="adj" fmla="val 10526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/>
        </p:nvSpPr>
        <p:spPr>
          <a:xfrm>
            <a:off x="571500" y="1206500"/>
            <a:ext cx="1143000" cy="406400"/>
          </a:xfrm>
          <a:prstGeom prst="roundRect">
            <a:avLst>
              <a:gd name="adj" fmla="val 15625"/>
            </a:avLst>
          </a:prstGeom>
          <a:solidFill>
            <a:srgbClr val="005AB4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10"/>
          <p:cNvSpPr/>
          <p:nvPr/>
        </p:nvSpPr>
        <p:spPr>
          <a:xfrm>
            <a:off x="571500" y="1206500"/>
            <a:ext cx="1143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核心思想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1905000" y="1168400"/>
            <a:ext cx="96520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127000" tIns="0" rIns="12700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打造统一、持续进化的“知识大脑”——装备软件知识图谱。所有Agent通过图谱进行知识共享、语义理解和智能决策，打破信息孤岛，实现从“代码生成”到“知识驱动创新”的价值跃迁。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381000" y="2413000"/>
            <a:ext cx="2133600" cy="1968500"/>
          </a:xfrm>
          <a:prstGeom prst="roundRect">
            <a:avLst>
              <a:gd name="adj" fmla="val 516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52400" dist="381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1500" y="2603500"/>
            <a:ext cx="406400" cy="4064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1143000" y="2603500"/>
            <a:ext cx="1270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核心图谱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571500" y="3175000"/>
            <a:ext cx="17526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整合领域知识、软件资产、过程标准与历史经验，构建全域知识网络。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2667000" y="2413000"/>
            <a:ext cx="2133600" cy="1968500"/>
          </a:xfrm>
          <a:prstGeom prst="roundRect">
            <a:avLst>
              <a:gd name="adj" fmla="val 516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52400" dist="381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57500" y="2603500"/>
            <a:ext cx="406400" cy="4064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3429000" y="2603500"/>
            <a:ext cx="1270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知识采集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2857500" y="3175000"/>
            <a:ext cx="17526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自动扫描文档、代码库、会议纪要等源头，提取结构化与非结构化知识。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4953000" y="2413000"/>
            <a:ext cx="2133600" cy="1968500"/>
          </a:xfrm>
          <a:prstGeom prst="roundRect">
            <a:avLst>
              <a:gd name="adj" fmla="val 516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52400" dist="381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143500" y="2603500"/>
            <a:ext cx="406400" cy="406400"/>
          </a:xfrm>
          <a:prstGeom prst="rect">
            <a:avLst/>
          </a:prstGeom>
        </p:spPr>
      </p:pic>
      <p:sp>
        <p:nvSpPr>
          <p:cNvPr id="22" name="AutoShape 22"/>
          <p:cNvSpPr/>
          <p:nvPr/>
        </p:nvSpPr>
        <p:spPr>
          <a:xfrm>
            <a:off x="5715000" y="2603500"/>
            <a:ext cx="1270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推理服务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5143500" y="3175000"/>
            <a:ext cx="17526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基于图谱提供智能问答、关联查询与逻辑推理，为Agent提供决策支持。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7239000" y="2413000"/>
            <a:ext cx="2133600" cy="1968500"/>
          </a:xfrm>
          <a:prstGeom prst="roundRect">
            <a:avLst>
              <a:gd name="adj" fmla="val 516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52400" dist="381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5" name="Picture 25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429500" y="2603500"/>
            <a:ext cx="406400" cy="406400"/>
          </a:xfrm>
          <a:prstGeom prst="rect">
            <a:avLst/>
          </a:prstGeom>
        </p:spPr>
      </p:pic>
      <p:sp>
        <p:nvSpPr>
          <p:cNvPr id="26" name="AutoShape 26"/>
          <p:cNvSpPr/>
          <p:nvPr/>
        </p:nvSpPr>
        <p:spPr>
          <a:xfrm>
            <a:off x="8001000" y="2603500"/>
            <a:ext cx="1270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开发协同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7429500" y="3175000"/>
            <a:ext cx="17526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深度集成图谱能力的Agent集群，覆盖需求、设计、编码、测试全流程。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9525000" y="2413000"/>
            <a:ext cx="2133600" cy="1968500"/>
          </a:xfrm>
          <a:prstGeom prst="roundRect">
            <a:avLst>
              <a:gd name="adj" fmla="val 516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52400" dist="381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9" name="Picture 29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715500" y="2603500"/>
            <a:ext cx="406400" cy="406400"/>
          </a:xfrm>
          <a:prstGeom prst="rect">
            <a:avLst/>
          </a:prstGeom>
        </p:spPr>
      </p:pic>
      <p:sp>
        <p:nvSpPr>
          <p:cNvPr id="30" name="AutoShape 30"/>
          <p:cNvSpPr/>
          <p:nvPr/>
        </p:nvSpPr>
        <p:spPr>
          <a:xfrm>
            <a:off x="10287000" y="2603500"/>
            <a:ext cx="1270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闭环进化</a:t>
            </a:r>
            <a:endParaRPr lang="en-US" sz="1100"/>
          </a:p>
        </p:txBody>
      </p:sp>
      <p:sp>
        <p:nvSpPr>
          <p:cNvPr id="31" name="AutoShape 31"/>
          <p:cNvSpPr/>
          <p:nvPr/>
        </p:nvSpPr>
        <p:spPr>
          <a:xfrm>
            <a:off x="9715500" y="3175000"/>
            <a:ext cx="17526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验证新产生知识的准确性，将验证通过的知识动态沉淀回图谱。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381000" y="4699000"/>
            <a:ext cx="11430000" cy="1524000"/>
          </a:xfrm>
          <a:prstGeom prst="roundRect">
            <a:avLst>
              <a:gd name="adj" fmla="val 8333"/>
            </a:avLst>
          </a:prstGeom>
          <a:solidFill>
            <a:srgbClr val="F8FAFC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3" name="AutoShape 33"/>
          <p:cNvSpPr/>
          <p:nvPr/>
        </p:nvSpPr>
        <p:spPr>
          <a:xfrm>
            <a:off x="571500" y="4826000"/>
            <a:ext cx="127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05AB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闭环工作流</a:t>
            </a:r>
            <a:endParaRPr lang="en-US" sz="1100"/>
          </a:p>
        </p:txBody>
      </p:sp>
      <p:sp>
        <p:nvSpPr>
          <p:cNvPr id="34" name="AutoShape 34"/>
          <p:cNvSpPr/>
          <p:nvPr/>
        </p:nvSpPr>
        <p:spPr>
          <a:xfrm>
            <a:off x="1905000" y="5080000"/>
            <a:ext cx="1460500" cy="825500"/>
          </a:xfrm>
          <a:prstGeom prst="roundRect">
            <a:avLst>
              <a:gd name="adj" fmla="val 923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254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5" name="AutoShape 35"/>
          <p:cNvSpPr/>
          <p:nvPr/>
        </p:nvSpPr>
        <p:spPr>
          <a:xfrm>
            <a:off x="1905000" y="5181600"/>
            <a:ext cx="14605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图谱构建</a:t>
            </a:r>
            <a:endParaRPr lang="en-US" sz="1100"/>
          </a:p>
        </p:txBody>
      </p:sp>
      <p:sp>
        <p:nvSpPr>
          <p:cNvPr id="36" name="AutoShape 36"/>
          <p:cNvSpPr/>
          <p:nvPr/>
        </p:nvSpPr>
        <p:spPr>
          <a:xfrm>
            <a:off x="1905000" y="5486400"/>
            <a:ext cx="14605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数据清洗/融合</a:t>
            </a:r>
            <a:endParaRPr lang="en-US" sz="1100"/>
          </a:p>
        </p:txBody>
      </p:sp>
      <p:sp>
        <p:nvSpPr>
          <p:cNvPr id="37" name="AutoShape 37"/>
          <p:cNvSpPr/>
          <p:nvPr/>
        </p:nvSpPr>
        <p:spPr>
          <a:xfrm>
            <a:off x="3556000" y="5080000"/>
            <a:ext cx="1460500" cy="825500"/>
          </a:xfrm>
          <a:prstGeom prst="roundRect">
            <a:avLst>
              <a:gd name="adj" fmla="val 923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254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8" name="AutoShape 38"/>
          <p:cNvSpPr/>
          <p:nvPr/>
        </p:nvSpPr>
        <p:spPr>
          <a:xfrm>
            <a:off x="3556000" y="5181600"/>
            <a:ext cx="14605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需求分析</a:t>
            </a:r>
            <a:endParaRPr lang="en-US" sz="1100"/>
          </a:p>
        </p:txBody>
      </p:sp>
      <p:sp>
        <p:nvSpPr>
          <p:cNvPr id="39" name="AutoShape 39"/>
          <p:cNvSpPr/>
          <p:nvPr/>
        </p:nvSpPr>
        <p:spPr>
          <a:xfrm>
            <a:off x="3556000" y="5486400"/>
            <a:ext cx="14605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知识引导理解</a:t>
            </a:r>
            <a:endParaRPr lang="en-US" sz="1100"/>
          </a:p>
        </p:txBody>
      </p:sp>
      <p:sp>
        <p:nvSpPr>
          <p:cNvPr id="40" name="AutoShape 40"/>
          <p:cNvSpPr/>
          <p:nvPr/>
        </p:nvSpPr>
        <p:spPr>
          <a:xfrm>
            <a:off x="5207000" y="5080000"/>
            <a:ext cx="1460500" cy="825500"/>
          </a:xfrm>
          <a:prstGeom prst="roundRect">
            <a:avLst>
              <a:gd name="adj" fmla="val 923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254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1" name="AutoShape 41"/>
          <p:cNvSpPr/>
          <p:nvPr/>
        </p:nvSpPr>
        <p:spPr>
          <a:xfrm>
            <a:off x="5207000" y="5181600"/>
            <a:ext cx="14605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智能决策</a:t>
            </a:r>
            <a:endParaRPr lang="en-US" sz="1100"/>
          </a:p>
        </p:txBody>
      </p:sp>
      <p:sp>
        <p:nvSpPr>
          <p:cNvPr id="42" name="AutoShape 42"/>
          <p:cNvSpPr/>
          <p:nvPr/>
        </p:nvSpPr>
        <p:spPr>
          <a:xfrm>
            <a:off x="5207000" y="5486400"/>
            <a:ext cx="14605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架构/方案推荐</a:t>
            </a:r>
            <a:endParaRPr lang="en-US" sz="1100"/>
          </a:p>
        </p:txBody>
      </p:sp>
      <p:sp>
        <p:nvSpPr>
          <p:cNvPr id="43" name="AutoShape 43"/>
          <p:cNvSpPr/>
          <p:nvPr/>
        </p:nvSpPr>
        <p:spPr>
          <a:xfrm>
            <a:off x="6858000" y="5080000"/>
            <a:ext cx="1460500" cy="825500"/>
          </a:xfrm>
          <a:prstGeom prst="roundRect">
            <a:avLst>
              <a:gd name="adj" fmla="val 923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254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4" name="AutoShape 44"/>
          <p:cNvSpPr/>
          <p:nvPr/>
        </p:nvSpPr>
        <p:spPr>
          <a:xfrm>
            <a:off x="6858000" y="5181600"/>
            <a:ext cx="14605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编码开发</a:t>
            </a:r>
            <a:endParaRPr lang="en-US" sz="1100"/>
          </a:p>
        </p:txBody>
      </p:sp>
      <p:sp>
        <p:nvSpPr>
          <p:cNvPr id="45" name="AutoShape 45"/>
          <p:cNvSpPr/>
          <p:nvPr/>
        </p:nvSpPr>
        <p:spPr>
          <a:xfrm>
            <a:off x="6858000" y="5486400"/>
            <a:ext cx="14605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语义化/规范化</a:t>
            </a:r>
            <a:endParaRPr lang="en-US" sz="1100"/>
          </a:p>
        </p:txBody>
      </p:sp>
      <p:sp>
        <p:nvSpPr>
          <p:cNvPr id="46" name="AutoShape 46"/>
          <p:cNvSpPr/>
          <p:nvPr/>
        </p:nvSpPr>
        <p:spPr>
          <a:xfrm>
            <a:off x="8509000" y="5080000"/>
            <a:ext cx="1460500" cy="825500"/>
          </a:xfrm>
          <a:prstGeom prst="roundRect">
            <a:avLst>
              <a:gd name="adj" fmla="val 923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254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7" name="AutoShape 47"/>
          <p:cNvSpPr/>
          <p:nvPr/>
        </p:nvSpPr>
        <p:spPr>
          <a:xfrm>
            <a:off x="8509000" y="5181600"/>
            <a:ext cx="14605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测试验证</a:t>
            </a:r>
            <a:endParaRPr lang="en-US" sz="1100"/>
          </a:p>
        </p:txBody>
      </p:sp>
      <p:sp>
        <p:nvSpPr>
          <p:cNvPr id="48" name="AutoShape 48"/>
          <p:cNvSpPr/>
          <p:nvPr/>
        </p:nvSpPr>
        <p:spPr>
          <a:xfrm>
            <a:off x="8509000" y="5486400"/>
            <a:ext cx="14605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情境化/精准化</a:t>
            </a:r>
            <a:endParaRPr lang="en-US" sz="1100"/>
          </a:p>
        </p:txBody>
      </p:sp>
      <p:sp>
        <p:nvSpPr>
          <p:cNvPr id="49" name="AutoShape 49"/>
          <p:cNvSpPr/>
          <p:nvPr/>
        </p:nvSpPr>
        <p:spPr>
          <a:xfrm>
            <a:off x="10160000" y="5080000"/>
            <a:ext cx="1460500" cy="825500"/>
          </a:xfrm>
          <a:prstGeom prst="roundRect">
            <a:avLst>
              <a:gd name="adj" fmla="val 9230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3B82F6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0" name="AutoShape 50"/>
          <p:cNvSpPr/>
          <p:nvPr/>
        </p:nvSpPr>
        <p:spPr>
          <a:xfrm>
            <a:off x="10160000" y="5181600"/>
            <a:ext cx="14605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2563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知识进化</a:t>
            </a:r>
            <a:endParaRPr lang="en-US" sz="1100"/>
          </a:p>
        </p:txBody>
      </p:sp>
      <p:sp>
        <p:nvSpPr>
          <p:cNvPr id="51" name="AutoShape 51"/>
          <p:cNvSpPr/>
          <p:nvPr/>
        </p:nvSpPr>
        <p:spPr>
          <a:xfrm>
            <a:off x="10160000" y="5486400"/>
            <a:ext cx="14605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沉淀/更新/迭代</a:t>
            </a:r>
            <a:endParaRPr lang="en-US" sz="110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10693400" y="6527800"/>
            <a:ext cx="9271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t" anchorCtr="0"/>
          <a:lstStyle/>
          <a:p>
            <a:pPr indent="0" algn="r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64646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PAGE 03</a:t>
            </a:r>
            <a:endParaRPr lang="en-US" sz="1100"/>
          </a:p>
        </p:txBody>
      </p:sp>
      <p:cxnSp>
        <p:nvCxnSpPr>
          <p:cNvPr id="4" name="Connector 4"/>
          <p:cNvCxnSpPr/>
          <p:nvPr/>
        </p:nvCxnSpPr>
        <p:spPr>
          <a:xfrm rot="-3580">
            <a:off x="3" y="679450"/>
            <a:ext cx="1219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miter lim="8000000"/>
            <a:headEnd type="none" w="lg" len="lg"/>
            <a:tailEnd type="none" w="lg" len="lg"/>
          </a:ln>
        </p:spPr>
      </p:cxnSp>
      <p:cxnSp>
        <p:nvCxnSpPr>
          <p:cNvPr id="5" name="Connector 5"/>
          <p:cNvCxnSpPr/>
          <p:nvPr/>
        </p:nvCxnSpPr>
        <p:spPr>
          <a:xfrm rot="5304531">
            <a:off x="10909300" y="400138"/>
            <a:ext cx="4572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miter lim="8000000"/>
            <a:headEnd type="none" w="med" len="med"/>
            <a:tailEnd type="none" w="med" len="med"/>
          </a:ln>
        </p:spPr>
      </p:cxnSp>
      <p:sp>
        <p:nvSpPr>
          <p:cNvPr id="7" name="AutoShape 7"/>
          <p:cNvSpPr/>
          <p:nvPr/>
        </p:nvSpPr>
        <p:spPr>
          <a:xfrm>
            <a:off x="469900" y="139700"/>
            <a:ext cx="2540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Part 03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469900" y="825500"/>
            <a:ext cx="762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2000" b="1" i="0" u="none" strike="noStrike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软件工厂的三大核心机制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381000" y="1524000"/>
            <a:ext cx="3556000" cy="4572000"/>
          </a:xfrm>
          <a:prstGeom prst="roundRect">
            <a:avLst>
              <a:gd name="adj" fmla="val 4285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5000" y="1778000"/>
            <a:ext cx="711200" cy="7112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1524000" y="1841500"/>
            <a:ext cx="2159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E3A8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流水线协作机制</a:t>
            </a:r>
            <a:endParaRPr lang="en-US" sz="1100"/>
          </a:p>
        </p:txBody>
      </p:sp>
      <p:cxnSp>
        <p:nvCxnSpPr>
          <p:cNvPr id="12" name="Connector 12"/>
          <p:cNvCxnSpPr/>
          <p:nvPr/>
        </p:nvCxnSpPr>
        <p:spPr>
          <a:xfrm rot="-14323">
            <a:off x="635013" y="2660650"/>
            <a:ext cx="3048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1D5D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" name="AutoShape 13"/>
          <p:cNvSpPr/>
          <p:nvPr/>
        </p:nvSpPr>
        <p:spPr>
          <a:xfrm>
            <a:off x="571500" y="2921000"/>
            <a:ext cx="3175000" cy="1905000"/>
          </a:xfrm>
          <a:prstGeom prst="roundRect">
            <a:avLst>
              <a:gd name="adj" fmla="val 5333"/>
            </a:avLst>
          </a:prstGeom>
          <a:solidFill>
            <a:srgbClr val="FFFFFF">
              <a:alpha val="9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14"/>
          <p:cNvSpPr/>
          <p:nvPr/>
        </p:nvSpPr>
        <p:spPr>
          <a:xfrm>
            <a:off x="762000" y="3111500"/>
            <a:ext cx="2794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将各阶段安全分析工具串联，实现数据自动流转：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1" i="0" u="none" strike="noStrike">
                <a:solidFill>
                  <a:srgbClr val="2563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SafeWise(STPA) → SafeMatrix(FTA/FMEA) → SmartST(测试用例) → SmartInsight(代码走查) → SmartUT(单元测试)</a:t>
            </a:r>
            <a:endParaRPr lang="en-US" sz="1100" b="1" i="0" u="none" strike="noStrike">
              <a:solidFill>
                <a:srgbClr val="2563E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4318000" y="1524000"/>
            <a:ext cx="3556000" cy="4572000"/>
          </a:xfrm>
          <a:prstGeom prst="roundRect">
            <a:avLst>
              <a:gd name="adj" fmla="val 4285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2000" y="1778000"/>
            <a:ext cx="711200" cy="7112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5461000" y="1841500"/>
            <a:ext cx="2159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E3A8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经验积累机制</a:t>
            </a:r>
            <a:endParaRPr lang="en-US" sz="1100"/>
          </a:p>
        </p:txBody>
      </p:sp>
      <p:cxnSp>
        <p:nvCxnSpPr>
          <p:cNvPr id="18" name="Connector 18"/>
          <p:cNvCxnSpPr/>
          <p:nvPr/>
        </p:nvCxnSpPr>
        <p:spPr>
          <a:xfrm rot="-14323">
            <a:off x="4572013" y="2660650"/>
            <a:ext cx="3048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1D5D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" name="AutoShape 19"/>
          <p:cNvSpPr/>
          <p:nvPr/>
        </p:nvSpPr>
        <p:spPr>
          <a:xfrm>
            <a:off x="4508500" y="2921000"/>
            <a:ext cx="3175000" cy="1905000"/>
          </a:xfrm>
          <a:prstGeom prst="roundRect">
            <a:avLst>
              <a:gd name="adj" fmla="val 5333"/>
            </a:avLst>
          </a:prstGeom>
          <a:solidFill>
            <a:srgbClr val="FFFFFF">
              <a:alpha val="9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0" name="AutoShape 20"/>
          <p:cNvSpPr/>
          <p:nvPr/>
        </p:nvSpPr>
        <p:spPr>
          <a:xfrm>
            <a:off x="4699000" y="3111500"/>
            <a:ext cx="2794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闭环沉淀：</a:t>
            </a: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每次分析结果自动汇入项目经验库。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1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智能复用：</a:t>
            </a: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AI自动提炼历史项目的共性规律，在新项目启动时主动推送相似案例，避免重复踩坑。</a:t>
            </a:r>
            <a:endParaRPr lang="en-US" sz="1100" b="0" i="0" u="none" strike="noStrike">
              <a:solidFill>
                <a:srgbClr val="37415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1" name="AutoShape 21"/>
          <p:cNvSpPr/>
          <p:nvPr/>
        </p:nvSpPr>
        <p:spPr>
          <a:xfrm>
            <a:off x="8255000" y="1524000"/>
            <a:ext cx="3556000" cy="4572000"/>
          </a:xfrm>
          <a:prstGeom prst="roundRect">
            <a:avLst>
              <a:gd name="adj" fmla="val 4285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509000" y="1778000"/>
            <a:ext cx="711200" cy="711200"/>
          </a:xfrm>
          <a:prstGeom prst="rect">
            <a:avLst/>
          </a:prstGeom>
        </p:spPr>
      </p:pic>
      <p:sp>
        <p:nvSpPr>
          <p:cNvPr id="23" name="AutoShape 23"/>
          <p:cNvSpPr/>
          <p:nvPr/>
        </p:nvSpPr>
        <p:spPr>
          <a:xfrm>
            <a:off x="9398000" y="1841500"/>
            <a:ext cx="2159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E3A8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持续优化机制</a:t>
            </a:r>
            <a:endParaRPr lang="en-US" sz="1100"/>
          </a:p>
        </p:txBody>
      </p:sp>
      <p:cxnSp>
        <p:nvCxnSpPr>
          <p:cNvPr id="24" name="Connector 24"/>
          <p:cNvCxnSpPr/>
          <p:nvPr/>
        </p:nvCxnSpPr>
        <p:spPr>
          <a:xfrm rot="-14323">
            <a:off x="8509013" y="2660650"/>
            <a:ext cx="3048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1D5D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" name="AutoShape 25"/>
          <p:cNvSpPr/>
          <p:nvPr/>
        </p:nvSpPr>
        <p:spPr>
          <a:xfrm>
            <a:off x="8445500" y="2921000"/>
            <a:ext cx="3175000" cy="1905000"/>
          </a:xfrm>
          <a:prstGeom prst="roundRect">
            <a:avLst>
              <a:gd name="adj" fmla="val 5333"/>
            </a:avLst>
          </a:prstGeom>
          <a:solidFill>
            <a:srgbClr val="FFFFFF">
              <a:alpha val="9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6" name="AutoShape 26"/>
          <p:cNvSpPr/>
          <p:nvPr/>
        </p:nvSpPr>
        <p:spPr>
          <a:xfrm>
            <a:off x="8636000" y="3111500"/>
            <a:ext cx="2794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</a:t>
            </a:r>
            <a:r>
              <a:rPr lang="en-US" sz="1100" b="1" i="0" u="none" strike="noStrike">
                <a:solidFill>
                  <a:srgbClr val="2563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Prompt Engineering</a:t>
            </a: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的闭环迭代：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分析结果 → 工程师评审反馈 → Prompt 策略优化 → 下次分析质量显著提升</a:t>
            </a:r>
            <a:endParaRPr lang="en-US" sz="11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>
            <a:off x="0" y="685800"/>
            <a:ext cx="12192007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cxnSp>
        <p:nvCxnSpPr>
          <p:cNvPr id="4" name="Connector 4"/>
          <p:cNvCxnSpPr/>
          <p:nvPr/>
        </p:nvCxnSpPr>
        <p:spPr>
          <a:xfrm rot="5209099">
            <a:off x="10915564" y="400138"/>
            <a:ext cx="457376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lg" len="lg"/>
            <a:tailEnd type="none" w="lg" len="lg"/>
          </a:ln>
        </p:spPr>
      </p:cxnSp>
      <p:sp>
        <p:nvSpPr>
          <p:cNvPr id="6" name="AutoShape 6"/>
          <p:cNvSpPr/>
          <p:nvPr/>
        </p:nvSpPr>
        <p:spPr>
          <a:xfrm>
            <a:off x="469900" y="139700"/>
            <a:ext cx="9715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软件工厂的近期规划 vs 远期愿景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381000" y="1143000"/>
            <a:ext cx="2667000" cy="1651000"/>
          </a:xfrm>
          <a:prstGeom prst="roundRect">
            <a:avLst>
              <a:gd name="adj" fmla="val 7692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1500" y="1397000"/>
            <a:ext cx="457200" cy="4572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1143000" y="1397000"/>
            <a:ext cx="17145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协作模式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1143000" y="1778000"/>
            <a:ext cx="762000" cy="254000"/>
          </a:xfrm>
          <a:prstGeom prst="roundRect">
            <a:avLst>
              <a:gd name="adj" fmla="val 25000"/>
            </a:avLst>
          </a:prstGeom>
          <a:solidFill>
            <a:srgbClr val="BFDBF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1" name="AutoShape 11"/>
          <p:cNvSpPr/>
          <p:nvPr/>
        </p:nvSpPr>
        <p:spPr>
          <a:xfrm>
            <a:off x="1206500" y="1778000"/>
            <a:ext cx="635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当前阶段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1143000" y="2159000"/>
            <a:ext cx="1651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5个独立Agent各自运行，未形成联动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3238500" y="1143000"/>
            <a:ext cx="2667000" cy="1651000"/>
          </a:xfrm>
          <a:prstGeom prst="roundRect">
            <a:avLst>
              <a:gd name="adj" fmla="val 7692"/>
            </a:avLst>
          </a:prstGeom>
          <a:solidFill>
            <a:srgbClr val="ECFDF5">
              <a:alpha val="100000"/>
            </a:srgbClr>
          </a:solidFill>
          <a:ln w="12700" cap="flat" cmpd="sng">
            <a:solidFill>
              <a:srgbClr val="A7F3D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429000" y="1397000"/>
            <a:ext cx="457200" cy="4572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4000500" y="1397000"/>
            <a:ext cx="17145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65F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协作模式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4000500" y="1778000"/>
            <a:ext cx="762000" cy="254000"/>
          </a:xfrm>
          <a:prstGeom prst="roundRect">
            <a:avLst>
              <a:gd name="adj" fmla="val 25000"/>
            </a:avLst>
          </a:prstGeom>
          <a:solidFill>
            <a:srgbClr val="A7F3D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7" name="AutoShape 17"/>
          <p:cNvSpPr/>
          <p:nvPr/>
        </p:nvSpPr>
        <p:spPr>
          <a:xfrm>
            <a:off x="4064000" y="1778000"/>
            <a:ext cx="635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065F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工厂愿景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4000500" y="2159000"/>
            <a:ext cx="1651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Agent间数据自动流转，实现全流程闭环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6096000" y="1143000"/>
            <a:ext cx="2667000" cy="1651000"/>
          </a:xfrm>
          <a:prstGeom prst="roundRect">
            <a:avLst>
              <a:gd name="adj" fmla="val 7692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286500" y="1397000"/>
            <a:ext cx="457200" cy="457200"/>
          </a:xfrm>
          <a:prstGeom prst="rect">
            <a:avLst/>
          </a:prstGeom>
        </p:spPr>
      </p:pic>
      <p:sp>
        <p:nvSpPr>
          <p:cNvPr id="21" name="AutoShape 21"/>
          <p:cNvSpPr/>
          <p:nvPr/>
        </p:nvSpPr>
        <p:spPr>
          <a:xfrm>
            <a:off x="6858000" y="1397000"/>
            <a:ext cx="17145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启动方式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6858000" y="1778000"/>
            <a:ext cx="762000" cy="254000"/>
          </a:xfrm>
          <a:prstGeom prst="roundRect">
            <a:avLst>
              <a:gd name="adj" fmla="val 25000"/>
            </a:avLst>
          </a:prstGeom>
          <a:solidFill>
            <a:srgbClr val="BFDBF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3" name="AutoShape 23"/>
          <p:cNvSpPr/>
          <p:nvPr/>
        </p:nvSpPr>
        <p:spPr>
          <a:xfrm>
            <a:off x="6921500" y="1778000"/>
            <a:ext cx="635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当前阶段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6858000" y="2159000"/>
            <a:ext cx="1651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依赖人工上传文档手动触发任务执行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8953500" y="1143000"/>
            <a:ext cx="2667000" cy="1651000"/>
          </a:xfrm>
          <a:prstGeom prst="roundRect">
            <a:avLst>
              <a:gd name="adj" fmla="val 7692"/>
            </a:avLst>
          </a:prstGeom>
          <a:solidFill>
            <a:srgbClr val="ECFDF5">
              <a:alpha val="100000"/>
            </a:srgbClr>
          </a:solidFill>
          <a:ln w="12700" cap="flat" cmpd="sng">
            <a:solidFill>
              <a:srgbClr val="A7F3D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144000" y="1397000"/>
            <a:ext cx="457200" cy="457200"/>
          </a:xfrm>
          <a:prstGeom prst="rect">
            <a:avLst/>
          </a:prstGeom>
        </p:spPr>
      </p:pic>
      <p:sp>
        <p:nvSpPr>
          <p:cNvPr id="27" name="AutoShape 27"/>
          <p:cNvSpPr/>
          <p:nvPr/>
        </p:nvSpPr>
        <p:spPr>
          <a:xfrm>
            <a:off x="9715500" y="1397000"/>
            <a:ext cx="17145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65F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启动方式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9715500" y="1778000"/>
            <a:ext cx="762000" cy="254000"/>
          </a:xfrm>
          <a:prstGeom prst="roundRect">
            <a:avLst>
              <a:gd name="adj" fmla="val 25000"/>
            </a:avLst>
          </a:prstGeom>
          <a:solidFill>
            <a:srgbClr val="A7F3D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9" name="AutoShape 29"/>
          <p:cNvSpPr/>
          <p:nvPr/>
        </p:nvSpPr>
        <p:spPr>
          <a:xfrm>
            <a:off x="9779000" y="1778000"/>
            <a:ext cx="635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065F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工厂愿景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9715500" y="2159000"/>
            <a:ext cx="1651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接入CI/CD流水线，代码提交即自动触发</a:t>
            </a:r>
            <a:endParaRPr lang="en-US" sz="1100"/>
          </a:p>
        </p:txBody>
      </p:sp>
      <p:sp>
        <p:nvSpPr>
          <p:cNvPr id="31" name="AutoShape 31"/>
          <p:cNvSpPr/>
          <p:nvPr/>
        </p:nvSpPr>
        <p:spPr>
          <a:xfrm>
            <a:off x="381000" y="3048000"/>
            <a:ext cx="2667000" cy="1651000"/>
          </a:xfrm>
          <a:prstGeom prst="roundRect">
            <a:avLst>
              <a:gd name="adj" fmla="val 7692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2" name="Picture 32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71500" y="3302000"/>
            <a:ext cx="457200" cy="457200"/>
          </a:xfrm>
          <a:prstGeom prst="rect">
            <a:avLst/>
          </a:prstGeom>
        </p:spPr>
      </p:pic>
      <p:sp>
        <p:nvSpPr>
          <p:cNvPr id="33" name="AutoShape 33"/>
          <p:cNvSpPr/>
          <p:nvPr/>
        </p:nvSpPr>
        <p:spPr>
          <a:xfrm>
            <a:off x="1143000" y="3302000"/>
            <a:ext cx="17145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知识沉淀</a:t>
            </a:r>
            <a:endParaRPr lang="en-US" sz="1100"/>
          </a:p>
        </p:txBody>
      </p:sp>
      <p:sp>
        <p:nvSpPr>
          <p:cNvPr id="34" name="AutoShape 34"/>
          <p:cNvSpPr/>
          <p:nvPr/>
        </p:nvSpPr>
        <p:spPr>
          <a:xfrm>
            <a:off x="1143000" y="3683000"/>
            <a:ext cx="762000" cy="254000"/>
          </a:xfrm>
          <a:prstGeom prst="roundRect">
            <a:avLst>
              <a:gd name="adj" fmla="val 25000"/>
            </a:avLst>
          </a:prstGeom>
          <a:solidFill>
            <a:srgbClr val="BFDBF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5" name="AutoShape 35"/>
          <p:cNvSpPr/>
          <p:nvPr/>
        </p:nvSpPr>
        <p:spPr>
          <a:xfrm>
            <a:off x="1206500" y="3683000"/>
            <a:ext cx="635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当前阶段</a:t>
            </a:r>
            <a:endParaRPr lang="en-US" sz="1100"/>
          </a:p>
        </p:txBody>
      </p:sp>
      <p:sp>
        <p:nvSpPr>
          <p:cNvPr id="36" name="AutoShape 36"/>
          <p:cNvSpPr/>
          <p:nvPr/>
        </p:nvSpPr>
        <p:spPr>
          <a:xfrm>
            <a:off x="1143000" y="4064000"/>
            <a:ext cx="1651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知识分散在单个Agent内部，未实现共享</a:t>
            </a:r>
            <a:endParaRPr lang="en-US" sz="1100"/>
          </a:p>
        </p:txBody>
      </p:sp>
      <p:sp>
        <p:nvSpPr>
          <p:cNvPr id="37" name="AutoShape 37"/>
          <p:cNvSpPr/>
          <p:nvPr/>
        </p:nvSpPr>
        <p:spPr>
          <a:xfrm>
            <a:off x="3238500" y="3048000"/>
            <a:ext cx="2667000" cy="1651000"/>
          </a:xfrm>
          <a:prstGeom prst="roundRect">
            <a:avLst>
              <a:gd name="adj" fmla="val 7692"/>
            </a:avLst>
          </a:prstGeom>
          <a:solidFill>
            <a:srgbClr val="ECFDF5">
              <a:alpha val="100000"/>
            </a:srgbClr>
          </a:solidFill>
          <a:ln w="12700" cap="flat" cmpd="sng">
            <a:solidFill>
              <a:srgbClr val="A7F3D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8" name="Picture 38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9000" y="3302000"/>
            <a:ext cx="457200" cy="457200"/>
          </a:xfrm>
          <a:prstGeom prst="rect">
            <a:avLst/>
          </a:prstGeom>
        </p:spPr>
      </p:pic>
      <p:sp>
        <p:nvSpPr>
          <p:cNvPr id="39" name="AutoShape 39"/>
          <p:cNvSpPr/>
          <p:nvPr/>
        </p:nvSpPr>
        <p:spPr>
          <a:xfrm>
            <a:off x="4000500" y="3302000"/>
            <a:ext cx="17145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65F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知识沉淀</a:t>
            </a:r>
            <a:endParaRPr lang="en-US" sz="1100"/>
          </a:p>
        </p:txBody>
      </p:sp>
      <p:sp>
        <p:nvSpPr>
          <p:cNvPr id="40" name="AutoShape 40"/>
          <p:cNvSpPr/>
          <p:nvPr/>
        </p:nvSpPr>
        <p:spPr>
          <a:xfrm>
            <a:off x="4000500" y="3683000"/>
            <a:ext cx="762000" cy="254000"/>
          </a:xfrm>
          <a:prstGeom prst="roundRect">
            <a:avLst>
              <a:gd name="adj" fmla="val 25000"/>
            </a:avLst>
          </a:prstGeom>
          <a:solidFill>
            <a:srgbClr val="A7F3D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1" name="AutoShape 41"/>
          <p:cNvSpPr/>
          <p:nvPr/>
        </p:nvSpPr>
        <p:spPr>
          <a:xfrm>
            <a:off x="4064000" y="3683000"/>
            <a:ext cx="635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065F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工厂愿景</a:t>
            </a:r>
            <a:endParaRPr lang="en-US" sz="1100"/>
          </a:p>
        </p:txBody>
      </p:sp>
      <p:sp>
        <p:nvSpPr>
          <p:cNvPr id="42" name="AutoShape 42"/>
          <p:cNvSpPr/>
          <p:nvPr/>
        </p:nvSpPr>
        <p:spPr>
          <a:xfrm>
            <a:off x="4000500" y="4064000"/>
            <a:ext cx="1651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构建跨Agent统一知识图谱，实现复用</a:t>
            </a:r>
            <a:endParaRPr lang="en-US" sz="1100"/>
          </a:p>
        </p:txBody>
      </p:sp>
      <p:sp>
        <p:nvSpPr>
          <p:cNvPr id="43" name="AutoShape 43"/>
          <p:cNvSpPr/>
          <p:nvPr/>
        </p:nvSpPr>
        <p:spPr>
          <a:xfrm>
            <a:off x="6096000" y="3048000"/>
            <a:ext cx="2667000" cy="1651000"/>
          </a:xfrm>
          <a:prstGeom prst="roundRect">
            <a:avLst>
              <a:gd name="adj" fmla="val 7692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4" name="Picture 44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286500" y="3302000"/>
            <a:ext cx="457200" cy="457200"/>
          </a:xfrm>
          <a:prstGeom prst="rect">
            <a:avLst/>
          </a:prstGeom>
        </p:spPr>
      </p:pic>
      <p:sp>
        <p:nvSpPr>
          <p:cNvPr id="45" name="AutoShape 45"/>
          <p:cNvSpPr/>
          <p:nvPr/>
        </p:nvSpPr>
        <p:spPr>
          <a:xfrm>
            <a:off x="6858000" y="3302000"/>
            <a:ext cx="17145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质量控制</a:t>
            </a:r>
            <a:endParaRPr lang="en-US" sz="1100"/>
          </a:p>
        </p:txBody>
      </p:sp>
      <p:sp>
        <p:nvSpPr>
          <p:cNvPr id="46" name="AutoShape 46"/>
          <p:cNvSpPr/>
          <p:nvPr/>
        </p:nvSpPr>
        <p:spPr>
          <a:xfrm>
            <a:off x="6858000" y="3683000"/>
            <a:ext cx="762000" cy="254000"/>
          </a:xfrm>
          <a:prstGeom prst="roundRect">
            <a:avLst>
              <a:gd name="adj" fmla="val 25000"/>
            </a:avLst>
          </a:prstGeom>
          <a:solidFill>
            <a:srgbClr val="BFDBF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7" name="AutoShape 47"/>
          <p:cNvSpPr/>
          <p:nvPr/>
        </p:nvSpPr>
        <p:spPr>
          <a:xfrm>
            <a:off x="6921500" y="3683000"/>
            <a:ext cx="635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当前阶段</a:t>
            </a:r>
            <a:endParaRPr lang="en-US" sz="1100"/>
          </a:p>
        </p:txBody>
      </p:sp>
      <p:sp>
        <p:nvSpPr>
          <p:cNvPr id="48" name="AutoShape 48"/>
          <p:cNvSpPr/>
          <p:nvPr/>
        </p:nvSpPr>
        <p:spPr>
          <a:xfrm>
            <a:off x="6858000" y="4064000"/>
            <a:ext cx="1651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依赖Agent内置审查员进行基础校验</a:t>
            </a:r>
            <a:endParaRPr lang="en-US" sz="1100"/>
          </a:p>
        </p:txBody>
      </p:sp>
      <p:sp>
        <p:nvSpPr>
          <p:cNvPr id="49" name="AutoShape 49"/>
          <p:cNvSpPr/>
          <p:nvPr/>
        </p:nvSpPr>
        <p:spPr>
          <a:xfrm>
            <a:off x="8953500" y="3048000"/>
            <a:ext cx="2667000" cy="1651000"/>
          </a:xfrm>
          <a:prstGeom prst="roundRect">
            <a:avLst>
              <a:gd name="adj" fmla="val 7692"/>
            </a:avLst>
          </a:prstGeom>
          <a:solidFill>
            <a:srgbClr val="ECFDF5">
              <a:alpha val="100000"/>
            </a:srgbClr>
          </a:solidFill>
          <a:ln w="12700" cap="flat" cmpd="sng">
            <a:solidFill>
              <a:srgbClr val="A7F3D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50" name="Picture 50"/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144000" y="3302000"/>
            <a:ext cx="457200" cy="457200"/>
          </a:xfrm>
          <a:prstGeom prst="rect">
            <a:avLst/>
          </a:prstGeom>
        </p:spPr>
      </p:pic>
      <p:sp>
        <p:nvSpPr>
          <p:cNvPr id="51" name="AutoShape 51"/>
          <p:cNvSpPr/>
          <p:nvPr/>
        </p:nvSpPr>
        <p:spPr>
          <a:xfrm>
            <a:off x="9715500" y="3302000"/>
            <a:ext cx="17145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65F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质量控制</a:t>
            </a:r>
            <a:endParaRPr lang="en-US" sz="1100"/>
          </a:p>
        </p:txBody>
      </p:sp>
      <p:sp>
        <p:nvSpPr>
          <p:cNvPr id="52" name="AutoShape 52"/>
          <p:cNvSpPr/>
          <p:nvPr/>
        </p:nvSpPr>
        <p:spPr>
          <a:xfrm>
            <a:off x="9715500" y="3683000"/>
            <a:ext cx="762000" cy="254000"/>
          </a:xfrm>
          <a:prstGeom prst="roundRect">
            <a:avLst>
              <a:gd name="adj" fmla="val 25000"/>
            </a:avLst>
          </a:prstGeom>
          <a:solidFill>
            <a:srgbClr val="A7F3D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3" name="AutoShape 53"/>
          <p:cNvSpPr/>
          <p:nvPr/>
        </p:nvSpPr>
        <p:spPr>
          <a:xfrm>
            <a:off x="9779000" y="3683000"/>
            <a:ext cx="635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065F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工厂愿景</a:t>
            </a:r>
            <a:endParaRPr lang="en-US" sz="1100"/>
          </a:p>
        </p:txBody>
      </p:sp>
      <p:sp>
        <p:nvSpPr>
          <p:cNvPr id="54" name="AutoShape 54"/>
          <p:cNvSpPr/>
          <p:nvPr/>
        </p:nvSpPr>
        <p:spPr>
          <a:xfrm>
            <a:off x="9715500" y="4064000"/>
            <a:ext cx="1651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建立跨阶段自动质量门禁，全流程拦截</a:t>
            </a:r>
            <a:endParaRPr lang="en-US" sz="1100"/>
          </a:p>
        </p:txBody>
      </p:sp>
      <p:sp>
        <p:nvSpPr>
          <p:cNvPr id="55" name="AutoShape 55"/>
          <p:cNvSpPr/>
          <p:nvPr/>
        </p:nvSpPr>
        <p:spPr>
          <a:xfrm>
            <a:off x="381000" y="4953000"/>
            <a:ext cx="2667000" cy="1524000"/>
          </a:xfrm>
          <a:prstGeom prst="roundRect">
            <a:avLst>
              <a:gd name="adj" fmla="val 8333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56" name="Picture 56"/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571500" y="5207000"/>
            <a:ext cx="457200" cy="457200"/>
          </a:xfrm>
          <a:prstGeom prst="rect">
            <a:avLst/>
          </a:prstGeom>
        </p:spPr>
      </p:pic>
      <p:sp>
        <p:nvSpPr>
          <p:cNvPr id="57" name="AutoShape 57"/>
          <p:cNvSpPr/>
          <p:nvPr/>
        </p:nvSpPr>
        <p:spPr>
          <a:xfrm>
            <a:off x="1143000" y="5143500"/>
            <a:ext cx="17145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输出形式</a:t>
            </a:r>
            <a:endParaRPr lang="en-US" sz="1100"/>
          </a:p>
        </p:txBody>
      </p:sp>
      <p:sp>
        <p:nvSpPr>
          <p:cNvPr id="58" name="AutoShape 58"/>
          <p:cNvSpPr/>
          <p:nvPr/>
        </p:nvSpPr>
        <p:spPr>
          <a:xfrm>
            <a:off x="1143000" y="5524500"/>
            <a:ext cx="1651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仅输出单一格式的报告文档，形式固定</a:t>
            </a:r>
            <a:endParaRPr lang="en-US" sz="1100"/>
          </a:p>
        </p:txBody>
      </p:sp>
      <p:sp>
        <p:nvSpPr>
          <p:cNvPr id="59" name="AutoShape 59"/>
          <p:cNvSpPr/>
          <p:nvPr/>
        </p:nvSpPr>
        <p:spPr>
          <a:xfrm>
            <a:off x="3238500" y="4953000"/>
            <a:ext cx="2667000" cy="1524000"/>
          </a:xfrm>
          <a:prstGeom prst="roundRect">
            <a:avLst>
              <a:gd name="adj" fmla="val 8333"/>
            </a:avLst>
          </a:prstGeom>
          <a:solidFill>
            <a:srgbClr val="ECFDF5">
              <a:alpha val="100000"/>
            </a:srgbClr>
          </a:solidFill>
          <a:ln w="12700" cap="flat" cmpd="sng">
            <a:solidFill>
              <a:srgbClr val="A7F3D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0" name="Picture 60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3429000" y="5207000"/>
            <a:ext cx="457200" cy="457200"/>
          </a:xfrm>
          <a:prstGeom prst="rect">
            <a:avLst/>
          </a:prstGeom>
        </p:spPr>
      </p:pic>
      <p:sp>
        <p:nvSpPr>
          <p:cNvPr id="61" name="AutoShape 61"/>
          <p:cNvSpPr/>
          <p:nvPr/>
        </p:nvSpPr>
        <p:spPr>
          <a:xfrm>
            <a:off x="4000500" y="5143500"/>
            <a:ext cx="17145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065F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输出形式</a:t>
            </a:r>
            <a:endParaRPr lang="en-US" sz="1100"/>
          </a:p>
        </p:txBody>
      </p:sp>
      <p:sp>
        <p:nvSpPr>
          <p:cNvPr id="62" name="AutoShape 62"/>
          <p:cNvSpPr/>
          <p:nvPr/>
        </p:nvSpPr>
        <p:spPr>
          <a:xfrm>
            <a:off x="4000500" y="5524500"/>
            <a:ext cx="1651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标准化交付包，直接满足GJB归档要求</a:t>
            </a:r>
            <a:endParaRPr lang="en-US" sz="1100"/>
          </a:p>
        </p:txBody>
      </p:sp>
      <p:sp>
        <p:nvSpPr>
          <p:cNvPr id="63" name="AutoShape 63"/>
          <p:cNvSpPr/>
          <p:nvPr/>
        </p:nvSpPr>
        <p:spPr>
          <a:xfrm>
            <a:off x="6096000" y="4953000"/>
            <a:ext cx="2667000" cy="1524000"/>
          </a:xfrm>
          <a:prstGeom prst="roundRect">
            <a:avLst>
              <a:gd name="adj" fmla="val 8333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4" name="Picture 64"/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6286500" y="5207000"/>
            <a:ext cx="457200" cy="457200"/>
          </a:xfrm>
          <a:prstGeom prst="rect">
            <a:avLst/>
          </a:prstGeom>
        </p:spPr>
      </p:pic>
      <p:sp>
        <p:nvSpPr>
          <p:cNvPr id="65" name="AutoShape 65"/>
          <p:cNvSpPr/>
          <p:nvPr/>
        </p:nvSpPr>
        <p:spPr>
          <a:xfrm>
            <a:off x="6858000" y="5143500"/>
            <a:ext cx="17145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人工参与</a:t>
            </a:r>
            <a:endParaRPr lang="en-US" sz="1100"/>
          </a:p>
        </p:txBody>
      </p:sp>
      <p:sp>
        <p:nvSpPr>
          <p:cNvPr id="66" name="AutoShape 66"/>
          <p:cNvSpPr/>
          <p:nvPr/>
        </p:nvSpPr>
        <p:spPr>
          <a:xfrm>
            <a:off x="6858000" y="5524500"/>
            <a:ext cx="1651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参与度较高，需频繁进行审核与确认</a:t>
            </a:r>
            <a:endParaRPr lang="en-US" sz="1100"/>
          </a:p>
        </p:txBody>
      </p:sp>
      <p:sp>
        <p:nvSpPr>
          <p:cNvPr id="67" name="AutoShape 67"/>
          <p:cNvSpPr/>
          <p:nvPr/>
        </p:nvSpPr>
        <p:spPr>
          <a:xfrm>
            <a:off x="8953500" y="4953000"/>
            <a:ext cx="2667000" cy="1524000"/>
          </a:xfrm>
          <a:prstGeom prst="roundRect">
            <a:avLst>
              <a:gd name="adj" fmla="val 8333"/>
            </a:avLst>
          </a:prstGeom>
          <a:solidFill>
            <a:srgbClr val="ECFDF5">
              <a:alpha val="100000"/>
            </a:srgbClr>
          </a:solidFill>
          <a:ln w="12700" cap="flat" cmpd="sng">
            <a:solidFill>
              <a:srgbClr val="A7F3D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8" name="Picture 68"/>
          <p:cNvPicPr>
            <a:picLocks noChangeAspect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9144000" y="5207000"/>
            <a:ext cx="457200" cy="457200"/>
          </a:xfrm>
          <a:prstGeom prst="rect">
            <a:avLst/>
          </a:prstGeom>
        </p:spPr>
      </p:pic>
      <p:sp>
        <p:nvSpPr>
          <p:cNvPr id="69" name="AutoShape 69"/>
          <p:cNvSpPr/>
          <p:nvPr/>
        </p:nvSpPr>
        <p:spPr>
          <a:xfrm>
            <a:off x="9715500" y="5143500"/>
            <a:ext cx="17145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065F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人工参与</a:t>
            </a:r>
            <a:endParaRPr lang="en-US" sz="1100"/>
          </a:p>
        </p:txBody>
      </p:sp>
      <p:sp>
        <p:nvSpPr>
          <p:cNvPr id="70" name="AutoShape 70"/>
          <p:cNvSpPr/>
          <p:nvPr/>
        </p:nvSpPr>
        <p:spPr>
          <a:xfrm>
            <a:off x="9715500" y="5524500"/>
            <a:ext cx="1651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大幅减少，仅在关键决策点进行干预</a:t>
            </a:r>
            <a:endParaRPr lang="en-US" sz="110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>
            <a:off x="0" y="685800"/>
            <a:ext cx="12192007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cxnSp>
        <p:nvCxnSpPr>
          <p:cNvPr id="4" name="Connector 4"/>
          <p:cNvCxnSpPr/>
          <p:nvPr/>
        </p:nvCxnSpPr>
        <p:spPr>
          <a:xfrm rot="5209099">
            <a:off x="10915564" y="400138"/>
            <a:ext cx="457376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lg" len="lg"/>
            <a:tailEnd type="none" w="lg" len="lg"/>
          </a:ln>
        </p:spPr>
      </p:cxnSp>
      <p:pic>
        <p:nvPicPr>
          <p:cNvPr id="5" name="Picture 5"/>
          <p:cNvPicPr>
            <a:picLocks noChangeAspect="1"/>
          </p:cNvPicPr>
          <p:nvPr/>
        </p:nvPicPr>
        <p:blipFill>
          <a:blip r:embed="rId2"/>
          <a:srcRect l="511" r="511"/>
          <a:stretch>
            <a:fillRect/>
          </a:stretch>
        </p:blipFill>
        <p:spPr>
          <a:xfrm>
            <a:off x="11226800" y="50800"/>
            <a:ext cx="533400" cy="635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6" name="AutoShape 6"/>
          <p:cNvSpPr/>
          <p:nvPr/>
        </p:nvSpPr>
        <p:spPr>
          <a:xfrm>
            <a:off x="469900" y="139700"/>
            <a:ext cx="9715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总结：从五大智能体到软件工厂的范式演进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469900" y="1016000"/>
            <a:ext cx="3556000" cy="1397000"/>
          </a:xfrm>
          <a:prstGeom prst="roundRect">
            <a:avLst>
              <a:gd name="adj" fmla="val 9090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0400" y="1282700"/>
            <a:ext cx="762000" cy="7620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1549400" y="1206500"/>
            <a:ext cx="228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SafeWise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1549400" y="1651000"/>
            <a:ext cx="228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系统安全性分析</a:t>
            </a:r>
            <a:b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基于STPA多Agent流水线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4318000" y="1016000"/>
            <a:ext cx="3556000" cy="1397000"/>
          </a:xfrm>
          <a:prstGeom prst="roundRect">
            <a:avLst>
              <a:gd name="adj" fmla="val 9090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08500" y="1282700"/>
            <a:ext cx="762000" cy="7620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5397500" y="1206500"/>
            <a:ext cx="228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SafeMatrix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5397500" y="1651000"/>
            <a:ext cx="228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软件功能安全分析</a:t>
            </a:r>
            <a:b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集成 SFTA + FMEA 分析能力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8166100" y="1016000"/>
            <a:ext cx="3556000" cy="1397000"/>
          </a:xfrm>
          <a:prstGeom prst="roundRect">
            <a:avLst>
              <a:gd name="adj" fmla="val 9090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56600" y="1282700"/>
            <a:ext cx="762000" cy="7620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9245600" y="1206500"/>
            <a:ext cx="228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SmartInsight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9245600" y="1651000"/>
            <a:ext cx="228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智能化代码走查</a:t>
            </a:r>
            <a:b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Agentic搜索 + 自动误报消除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469900" y="2667000"/>
            <a:ext cx="3556000" cy="1397000"/>
          </a:xfrm>
          <a:prstGeom prst="roundRect">
            <a:avLst>
              <a:gd name="adj" fmla="val 9090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60400" y="2933700"/>
            <a:ext cx="762000" cy="762000"/>
          </a:xfrm>
          <a:prstGeom prst="rect">
            <a:avLst/>
          </a:prstGeom>
        </p:spPr>
      </p:pic>
      <p:sp>
        <p:nvSpPr>
          <p:cNvPr id="21" name="AutoShape 21"/>
          <p:cNvSpPr/>
          <p:nvPr/>
        </p:nvSpPr>
        <p:spPr>
          <a:xfrm>
            <a:off x="1549400" y="2857500"/>
            <a:ext cx="228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SmartST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1549400" y="3302000"/>
            <a:ext cx="228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全链路系统测试</a:t>
            </a:r>
            <a:b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基于需求驱动的自动化验证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4318000" y="2667000"/>
            <a:ext cx="3556000" cy="1397000"/>
          </a:xfrm>
          <a:prstGeom prst="roundRect">
            <a:avLst>
              <a:gd name="adj" fmla="val 9090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508500" y="2933700"/>
            <a:ext cx="762000" cy="762000"/>
          </a:xfrm>
          <a:prstGeom prst="rect">
            <a:avLst/>
          </a:prstGeom>
        </p:spPr>
      </p:pic>
      <p:sp>
        <p:nvSpPr>
          <p:cNvPr id="25" name="AutoShape 25"/>
          <p:cNvSpPr/>
          <p:nvPr/>
        </p:nvSpPr>
        <p:spPr>
          <a:xfrm>
            <a:off x="5397500" y="2857500"/>
            <a:ext cx="228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SmartUT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5397500" y="3302000"/>
            <a:ext cx="228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智能单元测试</a:t>
            </a:r>
            <a:b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自动化生成高覆盖率测试用例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469900" y="4318000"/>
            <a:ext cx="11252200" cy="889000"/>
          </a:xfrm>
          <a:prstGeom prst="roundRect">
            <a:avLst>
              <a:gd name="adj" fmla="val 14285"/>
            </a:avLst>
          </a:prstGeom>
          <a:solidFill>
            <a:srgbClr val="DBEAF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8" name="AutoShape 28"/>
          <p:cNvSpPr/>
          <p:nvPr/>
        </p:nvSpPr>
        <p:spPr>
          <a:xfrm>
            <a:off x="723900" y="4445000"/>
            <a:ext cx="107442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1E40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核心理念：让大模型承担繁重、重复的分析劳动，释放工程师精力，专注于创造性的判断与决策。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469900" y="5461000"/>
            <a:ext cx="11252200" cy="889000"/>
          </a:xfrm>
          <a:prstGeom prst="roundRect">
            <a:avLst>
              <a:gd name="adj" fmla="val 14285"/>
            </a:avLst>
          </a:prstGeom>
          <a:solidFill>
            <a:srgbClr val="1E40A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0" name="AutoShape 30"/>
          <p:cNvSpPr/>
          <p:nvPr/>
        </p:nvSpPr>
        <p:spPr>
          <a:xfrm>
            <a:off x="723900" y="5588000"/>
            <a:ext cx="107442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从工具 ➔ 智能体 ➔ 软件工厂 —— 这是装备软件研发的下一个范式</a:t>
            </a:r>
            <a:endParaRPr lang="en-US" sz="110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2794000" y="4648200"/>
            <a:ext cx="4432300" cy="157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t" anchorCtr="0"/>
          <a:lstStyle/>
          <a:p>
            <a:pPr algn="l">
              <a:defRPr/>
            </a:pPr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 rot="-899999">
            <a:off x="8978900" y="406400"/>
            <a:ext cx="5981700" cy="59817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cxnSp>
        <p:nvCxnSpPr>
          <p:cNvPr id="4" name="Connector 4"/>
          <p:cNvCxnSpPr/>
          <p:nvPr/>
        </p:nvCxnSpPr>
        <p:spPr>
          <a:xfrm>
            <a:off x="749300" y="3797300"/>
            <a:ext cx="6591312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gradFill rotWithShape="0">
              <a:gsLst>
                <a:gs pos="39000">
                  <a:srgbClr val="4C67C3">
                    <a:alpha val="100000"/>
                  </a:srgbClr>
                </a:gs>
                <a:gs pos="100000">
                  <a:srgbClr val="F6F8FC">
                    <a:alpha val="100000"/>
                  </a:srgbClr>
                </a:gs>
              </a:gsLst>
              <a:lin ang="0"/>
            </a:gradFill>
            <a:prstDash val="solid"/>
            <a:miter lim="10000000"/>
            <a:headEnd type="none" w="med" len="med"/>
            <a:tailEnd type="none" w="med" len="med"/>
          </a:ln>
        </p:spPr>
      </p:cxnSp>
      <p:sp>
        <p:nvSpPr>
          <p:cNvPr id="5" name="AutoShape 5"/>
          <p:cNvSpPr/>
          <p:nvPr/>
        </p:nvSpPr>
        <p:spPr>
          <a:xfrm>
            <a:off x="9474200" y="3327400"/>
            <a:ext cx="76200" cy="76200"/>
          </a:xfrm>
          <a:prstGeom prst="ellipse">
            <a:avLst/>
          </a:prstGeom>
          <a:solidFill>
            <a:srgbClr val="4C67C3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6" name="AutoShape 6"/>
          <p:cNvSpPr/>
          <p:nvPr/>
        </p:nvSpPr>
        <p:spPr>
          <a:xfrm>
            <a:off x="2095500" y="4279900"/>
            <a:ext cx="127000" cy="127000"/>
          </a:xfrm>
          <a:prstGeom prst="ellipse">
            <a:avLst/>
          </a:prstGeom>
          <a:solidFill>
            <a:srgbClr val="4C67C4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7" name="AutoShape 7"/>
          <p:cNvSpPr/>
          <p:nvPr/>
        </p:nvSpPr>
        <p:spPr>
          <a:xfrm>
            <a:off x="1892300" y="4279900"/>
            <a:ext cx="127000" cy="127000"/>
          </a:xfrm>
          <a:prstGeom prst="ellipse">
            <a:avLst/>
          </a:prstGeom>
          <a:solidFill>
            <a:srgbClr val="4C67C4">
              <a:alpha val="9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1689100" y="4279900"/>
            <a:ext cx="127000" cy="127000"/>
          </a:xfrm>
          <a:prstGeom prst="ellipse">
            <a:avLst/>
          </a:prstGeom>
          <a:solidFill>
            <a:srgbClr val="4C67C4">
              <a:alpha val="8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/>
        </p:nvSpPr>
        <p:spPr>
          <a:xfrm>
            <a:off x="1485900" y="4279900"/>
            <a:ext cx="127000" cy="127000"/>
          </a:xfrm>
          <a:prstGeom prst="ellipse">
            <a:avLst/>
          </a:prstGeom>
          <a:solidFill>
            <a:srgbClr val="4C67C4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10"/>
          <p:cNvSpPr/>
          <p:nvPr/>
        </p:nvSpPr>
        <p:spPr>
          <a:xfrm>
            <a:off x="1282700" y="4279900"/>
            <a:ext cx="127000" cy="127000"/>
          </a:xfrm>
          <a:prstGeom prst="ellipse">
            <a:avLst/>
          </a:prstGeom>
          <a:solidFill>
            <a:srgbClr val="4C67C4">
              <a:alpha val="6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1" name="AutoShape 11"/>
          <p:cNvSpPr/>
          <p:nvPr/>
        </p:nvSpPr>
        <p:spPr>
          <a:xfrm>
            <a:off x="1079500" y="4279900"/>
            <a:ext cx="127000" cy="127000"/>
          </a:xfrm>
          <a:prstGeom prst="ellipse">
            <a:avLst/>
          </a:prstGeom>
          <a:solidFill>
            <a:srgbClr val="4C67C4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876300" y="4279900"/>
            <a:ext cx="127000" cy="127000"/>
          </a:xfrm>
          <a:prstGeom prst="ellipse">
            <a:avLst/>
          </a:prstGeom>
          <a:solidFill>
            <a:srgbClr val="4C67C4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3" name="AutoShape 13"/>
          <p:cNvSpPr/>
          <p:nvPr/>
        </p:nvSpPr>
        <p:spPr>
          <a:xfrm rot="10800000">
            <a:off x="7556500" y="3733800"/>
            <a:ext cx="127000" cy="127000"/>
          </a:xfrm>
          <a:prstGeom prst="ellipse">
            <a:avLst/>
          </a:prstGeom>
          <a:solidFill>
            <a:srgbClr val="4C67C4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14"/>
          <p:cNvSpPr/>
          <p:nvPr/>
        </p:nvSpPr>
        <p:spPr>
          <a:xfrm rot="10800000">
            <a:off x="7759700" y="3733800"/>
            <a:ext cx="127000" cy="127000"/>
          </a:xfrm>
          <a:prstGeom prst="ellipse">
            <a:avLst/>
          </a:prstGeom>
          <a:solidFill>
            <a:srgbClr val="4C67C4">
              <a:alpha val="9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5" name="AutoShape 15"/>
          <p:cNvSpPr/>
          <p:nvPr/>
        </p:nvSpPr>
        <p:spPr>
          <a:xfrm rot="10800000">
            <a:off x="7962900" y="3733800"/>
            <a:ext cx="127000" cy="127000"/>
          </a:xfrm>
          <a:prstGeom prst="ellipse">
            <a:avLst/>
          </a:prstGeom>
          <a:solidFill>
            <a:srgbClr val="4C67C4">
              <a:alpha val="8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6" name="AutoShape 16"/>
          <p:cNvSpPr/>
          <p:nvPr/>
        </p:nvSpPr>
        <p:spPr>
          <a:xfrm rot="10800000">
            <a:off x="8166100" y="3733800"/>
            <a:ext cx="127000" cy="127000"/>
          </a:xfrm>
          <a:prstGeom prst="ellipse">
            <a:avLst/>
          </a:prstGeom>
          <a:solidFill>
            <a:srgbClr val="4C67C4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7" name="AutoShape 17"/>
          <p:cNvSpPr/>
          <p:nvPr/>
        </p:nvSpPr>
        <p:spPr>
          <a:xfrm rot="10800000">
            <a:off x="8369300" y="3733800"/>
            <a:ext cx="127000" cy="127000"/>
          </a:xfrm>
          <a:prstGeom prst="ellipse">
            <a:avLst/>
          </a:prstGeom>
          <a:solidFill>
            <a:srgbClr val="4C67C4">
              <a:alpha val="6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8" name="AutoShape 18"/>
          <p:cNvSpPr/>
          <p:nvPr/>
        </p:nvSpPr>
        <p:spPr>
          <a:xfrm rot="10800000">
            <a:off x="8572500" y="3733800"/>
            <a:ext cx="127000" cy="127000"/>
          </a:xfrm>
          <a:prstGeom prst="ellipse">
            <a:avLst/>
          </a:prstGeom>
          <a:solidFill>
            <a:srgbClr val="4C67C4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9" name="AutoShape 19"/>
          <p:cNvSpPr/>
          <p:nvPr/>
        </p:nvSpPr>
        <p:spPr>
          <a:xfrm rot="10800000">
            <a:off x="8775700" y="3733800"/>
            <a:ext cx="127000" cy="127000"/>
          </a:xfrm>
          <a:prstGeom prst="ellipse">
            <a:avLst/>
          </a:prstGeom>
          <a:solidFill>
            <a:srgbClr val="4C67C4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2">
            <a:alphaModFix amt="30000"/>
          </a:blip>
          <a:srcRect/>
          <a:stretch>
            <a:fillRect/>
          </a:stretch>
        </p:blipFill>
        <p:spPr>
          <a:xfrm>
            <a:off x="11633200" y="3009900"/>
            <a:ext cx="1130300" cy="889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2" name="AutoShape 22"/>
          <p:cNvSpPr/>
          <p:nvPr/>
        </p:nvSpPr>
        <p:spPr>
          <a:xfrm>
            <a:off x="2374900" y="2387600"/>
            <a:ext cx="7112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3600" b="1" i="0" u="none" strike="noStrike">
                <a:solidFill>
                  <a:srgbClr val="0070C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请各位领导批评指正，谢谢！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647700" y="927100"/>
            <a:ext cx="82931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4800" b="1" i="0" u="none" strike="noStrike">
                <a:solidFill>
                  <a:srgbClr val="0070C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汇报完毕！</a:t>
            </a:r>
            <a:endParaRPr lang="en-US"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11477</Words>
  <Application>WPS 演示</Application>
  <PresentationFormat/>
  <Paragraphs>985</Paragraphs>
  <Slides>37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37</vt:i4>
      </vt:variant>
    </vt:vector>
  </HeadingPairs>
  <TitlesOfParts>
    <vt:vector size="47" baseType="lpstr">
      <vt:lpstr>Arial</vt:lpstr>
      <vt:lpstr>宋体</vt:lpstr>
      <vt:lpstr>Wingdings</vt:lpstr>
      <vt:lpstr>Arial</vt:lpstr>
      <vt:lpstr>微软雅黑</vt:lpstr>
      <vt:lpstr>Noto Sans SC</vt:lpstr>
      <vt:lpstr>Calibri</vt:lpstr>
      <vt:lpstr>Arial Unicode MS</vt:lpstr>
      <vt:lpstr>Office 主题​​</vt:lpstr>
      <vt:lpstr>默认主题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朱海涛</cp:lastModifiedBy>
  <cp:revision>3</cp:revision>
  <dcterms:created xsi:type="dcterms:W3CDTF">2026-04-16T07:48:37Z</dcterms:created>
  <dcterms:modified xsi:type="dcterms:W3CDTF">2026-04-16T07:51:08Z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449DFE8B8011485D8FB21DE236133C53</vt:lpwstr>
  </property>
  <property fmtid="{D5CDD505-2E9C-101B-9397-08002B2CF9AE}" pid="3" name="KSOProductBuildVer">
    <vt:lpwstr>2052-11.8.0.16981</vt:lpwstr>
  </property>
</Properties>
</file>