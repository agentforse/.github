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0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3" r:id="rId4"/>
    <p:sldMasterId id="2147483665" r:id="rId5"/>
  </p:sldMasterIdLst>
  <p:notesMasterIdLst>
    <p:notesMasterId r:id="rId7"/>
  </p:notesMasterIdLst>
  <p:handoutMasterIdLst>
    <p:handoutMasterId r:id="rId34"/>
  </p:handoutMasterIdLst>
  <p:sldIdLst>
    <p:sldId id="256" r:id="rId6"/>
    <p:sldId id="257" r:id="rId8"/>
    <p:sldId id="259" r:id="rId9"/>
    <p:sldId id="260" r:id="rId10"/>
    <p:sldId id="261" r:id="rId11"/>
    <p:sldId id="288" r:id="rId12"/>
    <p:sldId id="263" r:id="rId13"/>
    <p:sldId id="265" r:id="rId14"/>
    <p:sldId id="266" r:id="rId15"/>
    <p:sldId id="314" r:id="rId16"/>
    <p:sldId id="269" r:id="rId17"/>
    <p:sldId id="270" r:id="rId18"/>
    <p:sldId id="271" r:id="rId19"/>
    <p:sldId id="273" r:id="rId20"/>
    <p:sldId id="274" r:id="rId21"/>
    <p:sldId id="275" r:id="rId22"/>
    <p:sldId id="331" r:id="rId23"/>
    <p:sldId id="329" r:id="rId24"/>
    <p:sldId id="330" r:id="rId25"/>
    <p:sldId id="277" r:id="rId26"/>
    <p:sldId id="279" r:id="rId27"/>
    <p:sldId id="280" r:id="rId28"/>
    <p:sldId id="289" r:id="rId29"/>
    <p:sldId id="282" r:id="rId30"/>
    <p:sldId id="315" r:id="rId31"/>
    <p:sldId id="286" r:id="rId32"/>
    <p:sldId id="287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领导、专家，大家下午好。今天我将向大家汇报我们团队在装备软件研发领域的最新探索成果——“基于大模型智能体的装备软件研发新范式”。我们将其命名为AgentForSE，旨在通过五大智能体，实现对装备软件研发全生命周期的全栈赋能。这项工作不仅是技术上的革新，更是对未来软件研发模式的一次深刻思考。接下来，我将详细介绍这一创新范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次汇报将分为三个部分。首先，我们将深入分析当前装备软件研发面临的核心挑战，并提出我们基于智能体的应对思路。其次，我将详细介绍AgentForSE平台中的五大智能体，包括它们各自的功能定位、系统架构和核心能力。最后，我们将共同展望基于这些智能体构建的“软件工厂”蓝图，探讨其未来的发展方向和核心机制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装备软件的研发，尤其是在航天航空等高安全领域，面临着诸多严峻挑战。首先，安全性分析的门槛极高，像STPA、FTA这类复杂的分析方法，不仅需要工程师具备深厚的专业知识，而且人工分析的效率非常低下。其次，需求与测试之间的追溯关系往往难以建立，导致测试覆盖率无法得到精确度量。此外，代码走查成本高昂，静态分析工具的误报率居高不下，以及嵌入式软件单元测试覆盖率低等问题，都严重制约了研发效率和产品质量。这些痛点，正是我们研发AgentForSE平台的出发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提出了基于智能体的应对思路。我们将装备软件研发的全生命周期，从需求分析到审查交付，进行了分解，并为每个关键环节配备了专门的智能体。例如，SafeWise负责系统安全分析，SafeMatrix负责功能安全分析，SmartInsight负责代码走查，SmartST和SmartUT则分别负责系统测试和单元测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理念是，利用大模型作为推理引擎，通过Agent流水线取代传统的人工串行流程，实现从文档到结构化数据再到自动输出的全程可追溯。最终，我们的目标是构建一个高效、智能的“软件工厂”，将MetaGPT的理念真正落地到装备软件研发领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AgentForSE平台的五大智能体全景。它们分别是：负责系统安全分析的SafeWise，它采用多Agent流水线执行STPA分析；负责功能安全分析的SafeMatrix，它集成了FTA和FMEA分析；负责代码走查的SmartInsight，它基于LangChain的Agentic能力；负责系统测试的SmartST，它构建了从需求到测试的全链路自动化；以及负责单元测试的SmartUT。这五大智能体各司其职，又相互协作，共同构成了我们智能研发平台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次汇报将分为三个部分。首先，我们将深入分析当前装备软件研发面临的核心挑战，并提出我们基于智能体的应对思路。其次，我将详细介绍AgentForSE平台中的五大智能体，包括它们各自的功能定位、系统架构和核心能力。最后，我们将共同展望基于这些智能体构建的“软件工厂”蓝图，探讨其未来的发展方向和核心机制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SafeWise，我们的系统安全分析智能体。它的定位是一个面向航天航空等复杂系统的STPA多智能体安全分析平台。STPA是一种先进的系统理论过程分析方法，传统上需要数周时间，并且要求分析师具备极高的专业素养。SafeWise的核心价值就在于，通过AI技术，将这个过程从数周压缩到数小时，极大地提升了效率。它主要服务于系统安全工程师和飞行器、航天器的研制团队，适用于飞行控制、姿态控制等高安全等级的应用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afeWise的核心是它的三阶段Agent流水线。第一阶段，我们通过一系列Agent，从损失分析开始，逐步推导出危险、安全约束和安全需求。第二阶段，Agent会进行控制结构建模，并分析不安全控制行为（UCA），进而生成设计约束。第三阶段，Agent会进行致因分析和场景分析，并最终生成测试用例。每个阶段结束后，都会有一个评审Agent进行质量把关。整个过程形成了一个完整的追溯链，例如，我们可以从一个测试用例，追溯到它所覆盖的损失场景、不安全控制行为、危险，甚至最初的损失定义，以及相关的安全约束和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SafeWise已经具备了多Agent协同流水线、实时进度推送、完整的追溯链以及对主流大模型的支持等核心能力。在未来，我们计划进一步增强其功能，包括增加STAMP因果图的可视化，实现与SafeMatrix的联动，支持国军标格式报告的导出，并引入专家经验库来持续提升分析的质量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接下来是SafeMatrix，我们的软件功能安全分析智能体。它专注于软件层面的功能安全，覆盖了从需求到设计阶段的SFTA（软件故障树分析）和FMEA（软件失效模式与影响分析）全流程。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它的核心价值在于能够根据需求规格（SRS）和设计文档（SDD）自动生成故障树和FMEA表格，并通过多轮人机协作来精化分析质量，最终输出满足交付要求的标准Word报告。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其独特之处在于实现了三阶段的串联分析，并支持版本追踪和增量更新，大大提高了迭代效率。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afeMatrix的分析流程分为两个主要阶段。第一阶段是基于需求文档（SRS）进行SFTA分析，生成系统级的故障树。第二阶段是基于设计文档（SDD），将故障树扩展到模块级，并进行FMEA分析，包括严重度、发生率、探测度和风险优先数（RPN）的评分。我们特别设计了版本追踪与增量更新机制，当需求变更时，系统能自动检测并提示设计阶段的分析结果已过期，并提供自动结构同步和仅对受影响部分进行增量分析的能力，这极大地节省了重复劳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afeMatrix目前已经实现了两阶段SFTA和FMEA的一体化分析、可视化的故障树画布、版本管理以及一键导出Word报告等核心功能。未来，我们将致力于支持更多标准化的报告模板，如GJB和DO-178C，并实现与SafeWise的深度联动，让STPA的分析结果能够自动驱动SFTA的生成。同时，引入历史项目经验库和支持FMECA扩展也是我们的重要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智能体是SmartInsight，一个面向嵌入式和装备软件的AI代码走查平台。它的核心能力主要有四项：首先是设计一致性验证，确保代码实现与设计文档保持一致；其次是需求满足性确认，验证代码是否满足了需求规格；第三是基于故障模式库进行已知故障检查；最后，也是非常实用的一点，是对静态分析工具的误报进行AI确认和消除，帮助工程师聚焦于真正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Insight的工作流充分体现了Agent的智能性。当需要验证一条需求或设计项时，Agent会像一个资深工程师一样，首先通过list_dir了解代码结构，然后用glob_search和grep_code逐步缩小范围，最后通过read_source_file读取具体文件内容来确认实现细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“先粗搜、再细读、最后归纳”的动态搜索策略，与传统的一次性把所有代码塞进Prompt的方式有本质区别，它不依赖完整的代码上下文，效率更高，也更准确。所有分析结果都附有可追溯到具体代码行的证据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Insight目前已经具备了强大的Agentic搜索能力、对多种静态分析工具的兼容性、误报消除以及报告自动生成等功能。未来，我们计划将其接入CI/CD流水线，实现代码提交即触发走查。同时，利用历史走查经验反哺经验库，实现持续的自我优化。支持增量走查和可视化的进度追踪看板也是我们下一步的重点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接下来是SmartUT，我们的单元测试智能体。它的定位是为嵌入式和装备软件自动生成符合标准的单元测试用例。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其核心价值在于降低单元测试的编写门槛，提升C/C++代码的测试覆盖率，并与SmartST在系统测试层面形成互补。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目前，SmartUT还处于早期研发阶段，我们正在规划其核心能力，包括函数级测试用例的自动生成、覆盖率分析、边界值推断，以及与SmartInsight的联动，实现基于走查结果的针对性测试补充。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最后一个智能体是SmartST，系统测试智能体。它是一个面向配置项测试场景的、基于浏览器的需求驱动测试平台。其核心目标是打通从需求文档到测试报告的全链路自动化。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它的核心价值在于，通过需求驱动测试设计，确保测试的全覆盖；利用AI自动生成测试用例草稿，极大提升设计效率；实现执行结果与需求的双向追溯；并且支持私有化部署，保证数据安全。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ST的核心业务链路设计得非常清晰。从用户上传需求文档开始，系统会自动解析并结构化需求。工程师在确认需求后，AI才会基于这些已确认的需求生成测试用例草稿。这种“质量门禁”设计确保了测试用例的准确性。用例发布后，测试人员可以进行执行回填，并最终导出包含覆盖率统计的测试报告。整个流程实现了需求的增量重解析和用例的定向重生成，保证了变更的高效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SmartST目前已经实现了文档解析、需求提取、用例生成、执行回填和报告导出等全链路核心功能。未来，我们将加强与SmartInsight的联动，实现走查问题到测试用例的自动关联。同时，支持GJB 5000A等标准报告、接入CI/CD实现自动化回归测试，以及实现测试执行的自动化，将是我们下一步的重点发展方向。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最后一个智能体是SmartST，系统测试智能体。它是一个面向配置项测试场景的、基于浏览器的需求驱动测试平台。其核心目标是打通从需求文档到测试报告的全链路自动化。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它的核心价值在于，通过需求驱动测试设计，确保测试的全覆盖；利用AI自动生成测试用例草稿，极大提升设计效率；实现执行结果与需求的双向追溯；并且支持私有化部署，保证数据安全。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ST的核心业务链路设计得非常清晰。从用户上传需求文档开始，系统会自动解析并结构化需求。工程师在确认需求后，AI才会基于这些已确认的需求生成测试用例草稿。这种“质量门禁”设计确保了测试用例的准确性。用例发布后，测试人员可以进行执行回填，并最终导出包含覆盖率统计的测试报告。整个流程实现了需求的增量重解析和用例的定向重生成，保证了变更的高效管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SmartST目前已经实现了文档解析、需求提取、用例生成、执行回填和报告导出等全链路核心功能。未来，我们将加强与SmartInsight的联动，实现走查问题到测试用例的自动关联。同时，支持GJB 5000A等标准报告、接入CI/CD实现自动化回归测试，以及实现测试执行的自动化，将是我们下一步的重点发展方向。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本次汇报将分为三个部分。首先，我们将深入分析当前装备软件研发面临的核心挑战，并提出我们基于智能体的应对思路。其次，我将详细介绍AgentForSE平台中的五大智能体，包括它们各自的功能定位、系统架构和核心能力。最后，我们将共同展望基于这些智能体构建的“软件工厂”蓝图，探讨其未来的发展方向和核心机制。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我们的软件工厂蓝图，深受MetaGPT理念的启发。其核心思想就是用大模型驱动多个智能体，模拟一个完整的软件工程团队，像工厂流水线一样生产高质量的软件。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在传统开发模式中，从需求分析到测试评审，每个环节都依赖人工，效率低且容易出错。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在我们的AI软件工厂中，这些角色将被SafeWise、SafeMatrix、SmartInsight、SmartST和SmartUT等智能体所取代或增强。它们分工明确，协同工作，实现了自动化的需求分析、架构设计、代码生成以及测试评审。这就是MetaGPT带给我们的，从单Agent到真正软件工厂的进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详细介绍我们构想的装备软件智能工厂的总体架构。这个架构借鉴了MetaGPT的多智能体协同思想，并结合了航天装备软件的全流程工程化要求。它分为六个层次：底层的基础设施层，提供安全合规的算力和存储；第二层是大模型服务层，为智能体提供智能引擎；第三层是核心的智能体编排层，负责调度和管理所有智能体；第四层是我们的五大领域智能体；第五层是覆盖研发全生命周期的工程过程层；最顶层是应用交付层，为用户提供一站式的工作台和标准化的交付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本次汇报进行总结。AgentForSE平台通过五大智能体，全面覆盖了装备软件研制的各个环节。我们的核心理念非常明确：就是让大模型去承担那些繁重、重复的分析劳动，从而将工程师从这些工作中解放出来，让他们能够专注于更具创造性的判断和决策。我们坚信，从传统的工具，到智能的Agent，再到高效的软件工厂，这不仅是技术的演进，更是装备软件研发的下一个范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我的汇报到此结束。非常感谢各位领导和专家的聆听，恳请大家批评指正。谢谢！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6.svg"/><Relationship Id="rId11" Type="http://schemas.openxmlformats.org/officeDocument/2006/relationships/image" Target="../media/image15.png"/><Relationship Id="rId10" Type="http://schemas.openxmlformats.org/officeDocument/2006/relationships/image" Target="../media/image14.sv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2" Type="http://schemas.openxmlformats.org/officeDocument/2006/relationships/notesSlide" Target="../notesSlides/notesSlide4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34.svg"/><Relationship Id="rId2" Type="http://schemas.openxmlformats.org/officeDocument/2006/relationships/image" Target="../media/image6.png"/><Relationship Id="rId19" Type="http://schemas.openxmlformats.org/officeDocument/2006/relationships/image" Target="../media/image33.png"/><Relationship Id="rId18" Type="http://schemas.openxmlformats.org/officeDocument/2006/relationships/image" Target="../media/image32.svg"/><Relationship Id="rId17" Type="http://schemas.openxmlformats.org/officeDocument/2006/relationships/image" Target="../media/image31.png"/><Relationship Id="rId16" Type="http://schemas.openxmlformats.org/officeDocument/2006/relationships/image" Target="../media/image30.svg"/><Relationship Id="rId15" Type="http://schemas.openxmlformats.org/officeDocument/2006/relationships/image" Target="../media/image29.png"/><Relationship Id="rId14" Type="http://schemas.openxmlformats.org/officeDocument/2006/relationships/image" Target="../media/image28.svg"/><Relationship Id="rId13" Type="http://schemas.openxmlformats.org/officeDocument/2006/relationships/image" Target="../media/image27.png"/><Relationship Id="rId12" Type="http://schemas.openxmlformats.org/officeDocument/2006/relationships/image" Target="../media/image26.svg"/><Relationship Id="rId11" Type="http://schemas.openxmlformats.org/officeDocument/2006/relationships/image" Target="../media/image25.png"/><Relationship Id="rId10" Type="http://schemas.openxmlformats.org/officeDocument/2006/relationships/image" Target="../media/image24.sv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4.svg"/><Relationship Id="rId11" Type="http://schemas.openxmlformats.org/officeDocument/2006/relationships/image" Target="../media/image43.png"/><Relationship Id="rId10" Type="http://schemas.openxmlformats.org/officeDocument/2006/relationships/image" Target="../media/image42.sv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svg"/><Relationship Id="rId7" Type="http://schemas.openxmlformats.org/officeDocument/2006/relationships/image" Target="../media/image4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6.pn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54.svg"/><Relationship Id="rId11" Type="http://schemas.openxmlformats.org/officeDocument/2006/relationships/image" Target="../media/image53.png"/><Relationship Id="rId10" Type="http://schemas.openxmlformats.org/officeDocument/2006/relationships/image" Target="../media/image52.sv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svg"/><Relationship Id="rId8" Type="http://schemas.openxmlformats.org/officeDocument/2006/relationships/image" Target="../media/image65.png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0.svg"/><Relationship Id="rId12" Type="http://schemas.openxmlformats.org/officeDocument/2006/relationships/image" Target="../media/image69.png"/><Relationship Id="rId11" Type="http://schemas.openxmlformats.org/officeDocument/2006/relationships/image" Target="../media/image68.svg"/><Relationship Id="rId10" Type="http://schemas.openxmlformats.org/officeDocument/2006/relationships/image" Target="../media/image6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6.svg"/><Relationship Id="rId7" Type="http://schemas.openxmlformats.org/officeDocument/2006/relationships/image" Target="../media/image75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72.svg"/><Relationship Id="rId3" Type="http://schemas.openxmlformats.org/officeDocument/2006/relationships/image" Target="../media/image71.png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78.svg"/><Relationship Id="rId3" Type="http://schemas.openxmlformats.org/officeDocument/2006/relationships/image" Target="../media/image7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png"/><Relationship Id="rId8" Type="http://schemas.openxmlformats.org/officeDocument/2006/relationships/image" Target="../media/image86.svg"/><Relationship Id="rId7" Type="http://schemas.openxmlformats.org/officeDocument/2006/relationships/image" Target="../media/image85.png"/><Relationship Id="rId6" Type="http://schemas.openxmlformats.org/officeDocument/2006/relationships/image" Target="../media/image84.svg"/><Relationship Id="rId5" Type="http://schemas.openxmlformats.org/officeDocument/2006/relationships/image" Target="../media/image83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8.svg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21.png"/><Relationship Id="rId7" Type="http://schemas.openxmlformats.org/officeDocument/2006/relationships/image" Target="../media/image92.svg"/><Relationship Id="rId6" Type="http://schemas.openxmlformats.org/officeDocument/2006/relationships/image" Target="../media/image91.png"/><Relationship Id="rId5" Type="http://schemas.openxmlformats.org/officeDocument/2006/relationships/image" Target="../media/image17.png"/><Relationship Id="rId4" Type="http://schemas.openxmlformats.org/officeDocument/2006/relationships/image" Target="../media/image90.svg"/><Relationship Id="rId3" Type="http://schemas.openxmlformats.org/officeDocument/2006/relationships/image" Target="../media/image89.png"/><Relationship Id="rId20" Type="http://schemas.openxmlformats.org/officeDocument/2006/relationships/notesSlide" Target="../notesSlides/notesSlide14.xml"/><Relationship Id="rId2" Type="http://schemas.openxmlformats.org/officeDocument/2006/relationships/image" Target="../media/image6.pn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102.svg"/><Relationship Id="rId17" Type="http://schemas.openxmlformats.org/officeDocument/2006/relationships/image" Target="../media/image101.png"/><Relationship Id="rId16" Type="http://schemas.openxmlformats.org/officeDocument/2006/relationships/image" Target="../media/image100.svg"/><Relationship Id="rId15" Type="http://schemas.openxmlformats.org/officeDocument/2006/relationships/image" Target="../media/image99.png"/><Relationship Id="rId14" Type="http://schemas.openxmlformats.org/officeDocument/2006/relationships/image" Target="../media/image98.svg"/><Relationship Id="rId13" Type="http://schemas.openxmlformats.org/officeDocument/2006/relationships/image" Target="../media/image97.png"/><Relationship Id="rId12" Type="http://schemas.openxmlformats.org/officeDocument/2006/relationships/image" Target="../media/image96.svg"/><Relationship Id="rId11" Type="http://schemas.openxmlformats.org/officeDocument/2006/relationships/image" Target="../media/image95.png"/><Relationship Id="rId10" Type="http://schemas.openxmlformats.org/officeDocument/2006/relationships/image" Target="../media/image94.sv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104.svg"/><Relationship Id="rId3" Type="http://schemas.openxmlformats.org/officeDocument/2006/relationships/image" Target="../media/image103.png"/><Relationship Id="rId2" Type="http://schemas.openxmlformats.org/officeDocument/2006/relationships/image" Target="../media/image55.png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png"/><Relationship Id="rId8" Type="http://schemas.openxmlformats.org/officeDocument/2006/relationships/image" Target="../media/image110.svg"/><Relationship Id="rId7" Type="http://schemas.openxmlformats.org/officeDocument/2006/relationships/image" Target="../media/image109.png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106.svg"/><Relationship Id="rId3" Type="http://schemas.openxmlformats.org/officeDocument/2006/relationships/image" Target="../media/image105.png"/><Relationship Id="rId2" Type="http://schemas.openxmlformats.org/officeDocument/2006/relationships/image" Target="../media/image6.png"/><Relationship Id="rId14" Type="http://schemas.openxmlformats.org/officeDocument/2006/relationships/notesSlide" Target="../notesSlides/notesSlide1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14.svg"/><Relationship Id="rId11" Type="http://schemas.openxmlformats.org/officeDocument/2006/relationships/image" Target="../media/image113.png"/><Relationship Id="rId10" Type="http://schemas.openxmlformats.org/officeDocument/2006/relationships/image" Target="../media/image112.svg"/><Relationship Id="rId1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120.svg"/><Relationship Id="rId7" Type="http://schemas.openxmlformats.org/officeDocument/2006/relationships/image" Target="../media/image119.png"/><Relationship Id="rId6" Type="http://schemas.openxmlformats.org/officeDocument/2006/relationships/image" Target="../media/image118.svg"/><Relationship Id="rId5" Type="http://schemas.openxmlformats.org/officeDocument/2006/relationships/image" Target="../media/image117.png"/><Relationship Id="rId4" Type="http://schemas.openxmlformats.org/officeDocument/2006/relationships/image" Target="../media/image108.svg"/><Relationship Id="rId3" Type="http://schemas.openxmlformats.org/officeDocument/2006/relationships/image" Target="../media/image107.png"/><Relationship Id="rId2" Type="http://schemas.openxmlformats.org/officeDocument/2006/relationships/image" Target="../media/image116.sv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11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svg"/><Relationship Id="rId8" Type="http://schemas.openxmlformats.org/officeDocument/2006/relationships/image" Target="../media/image125.png"/><Relationship Id="rId7" Type="http://schemas.openxmlformats.org/officeDocument/2006/relationships/image" Target="../media/image124.svg"/><Relationship Id="rId6" Type="http://schemas.openxmlformats.org/officeDocument/2006/relationships/image" Target="../media/image123.png"/><Relationship Id="rId5" Type="http://schemas.openxmlformats.org/officeDocument/2006/relationships/image" Target="../media/image55.png"/><Relationship Id="rId4" Type="http://schemas.openxmlformats.org/officeDocument/2006/relationships/image" Target="../media/image82.svg"/><Relationship Id="rId3" Type="http://schemas.openxmlformats.org/officeDocument/2006/relationships/image" Target="../media/image81.png"/><Relationship Id="rId21" Type="http://schemas.openxmlformats.org/officeDocument/2006/relationships/notesSlide" Target="../notesSlides/notesSlide18.xml"/><Relationship Id="rId20" Type="http://schemas.openxmlformats.org/officeDocument/2006/relationships/slideLayout" Target="../slideLayouts/slideLayout13.xml"/><Relationship Id="rId2" Type="http://schemas.openxmlformats.org/officeDocument/2006/relationships/image" Target="../media/image122.svg"/><Relationship Id="rId19" Type="http://schemas.openxmlformats.org/officeDocument/2006/relationships/image" Target="../media/image6.png"/><Relationship Id="rId18" Type="http://schemas.openxmlformats.org/officeDocument/2006/relationships/image" Target="../media/image134.svg"/><Relationship Id="rId17" Type="http://schemas.openxmlformats.org/officeDocument/2006/relationships/image" Target="../media/image133.png"/><Relationship Id="rId16" Type="http://schemas.openxmlformats.org/officeDocument/2006/relationships/image" Target="../media/image132.svg"/><Relationship Id="rId15" Type="http://schemas.openxmlformats.org/officeDocument/2006/relationships/image" Target="../media/image131.png"/><Relationship Id="rId14" Type="http://schemas.openxmlformats.org/officeDocument/2006/relationships/image" Target="../media/image35.png"/><Relationship Id="rId13" Type="http://schemas.openxmlformats.org/officeDocument/2006/relationships/image" Target="../media/image130.svg"/><Relationship Id="rId12" Type="http://schemas.openxmlformats.org/officeDocument/2006/relationships/image" Target="../media/image129.png"/><Relationship Id="rId11" Type="http://schemas.openxmlformats.org/officeDocument/2006/relationships/image" Target="../media/image128.svg"/><Relationship Id="rId10" Type="http://schemas.openxmlformats.org/officeDocument/2006/relationships/image" Target="../media/image127.png"/><Relationship Id="rId1" Type="http://schemas.openxmlformats.org/officeDocument/2006/relationships/image" Target="../media/image12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6.png"/><Relationship Id="rId3" Type="http://schemas.openxmlformats.org/officeDocument/2006/relationships/image" Target="../media/image136.svg"/><Relationship Id="rId2" Type="http://schemas.openxmlformats.org/officeDocument/2006/relationships/image" Target="../media/image135.png"/><Relationship Id="rId1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png"/><Relationship Id="rId8" Type="http://schemas.openxmlformats.org/officeDocument/2006/relationships/image" Target="../media/image118.svg"/><Relationship Id="rId7" Type="http://schemas.openxmlformats.org/officeDocument/2006/relationships/image" Target="../media/image117.png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116.svg"/><Relationship Id="rId3" Type="http://schemas.openxmlformats.org/officeDocument/2006/relationships/image" Target="../media/image115.png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120.svg"/><Relationship Id="rId1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svg"/><Relationship Id="rId8" Type="http://schemas.openxmlformats.org/officeDocument/2006/relationships/image" Target="../media/image123.png"/><Relationship Id="rId7" Type="http://schemas.openxmlformats.org/officeDocument/2006/relationships/image" Target="../media/image55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122.svg"/><Relationship Id="rId3" Type="http://schemas.openxmlformats.org/officeDocument/2006/relationships/image" Target="../media/image121.png"/><Relationship Id="rId22" Type="http://schemas.openxmlformats.org/officeDocument/2006/relationships/notesSlide" Target="../notesSlides/notesSlide21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34.svg"/><Relationship Id="rId2" Type="http://schemas.openxmlformats.org/officeDocument/2006/relationships/image" Target="../media/image6.png"/><Relationship Id="rId19" Type="http://schemas.openxmlformats.org/officeDocument/2006/relationships/image" Target="../media/image133.png"/><Relationship Id="rId18" Type="http://schemas.openxmlformats.org/officeDocument/2006/relationships/image" Target="../media/image132.svg"/><Relationship Id="rId17" Type="http://schemas.openxmlformats.org/officeDocument/2006/relationships/image" Target="../media/image131.png"/><Relationship Id="rId16" Type="http://schemas.openxmlformats.org/officeDocument/2006/relationships/image" Target="../media/image35.png"/><Relationship Id="rId15" Type="http://schemas.openxmlformats.org/officeDocument/2006/relationships/image" Target="../media/image130.svg"/><Relationship Id="rId14" Type="http://schemas.openxmlformats.org/officeDocument/2006/relationships/image" Target="../media/image129.png"/><Relationship Id="rId13" Type="http://schemas.openxmlformats.org/officeDocument/2006/relationships/image" Target="../media/image128.svg"/><Relationship Id="rId12" Type="http://schemas.openxmlformats.org/officeDocument/2006/relationships/image" Target="../media/image127.png"/><Relationship Id="rId11" Type="http://schemas.openxmlformats.org/officeDocument/2006/relationships/image" Target="../media/image126.svg"/><Relationship Id="rId10" Type="http://schemas.openxmlformats.org/officeDocument/2006/relationships/image" Target="../media/image125.png"/><Relationship Id="rId1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36.svg"/><Relationship Id="rId3" Type="http://schemas.openxmlformats.org/officeDocument/2006/relationships/image" Target="../media/image135.png"/><Relationship Id="rId2" Type="http://schemas.openxmlformats.org/officeDocument/2006/relationships/image" Target="../media/image55.png"/><Relationship Id="rId1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4.svg"/><Relationship Id="rId8" Type="http://schemas.openxmlformats.org/officeDocument/2006/relationships/image" Target="../media/image143.png"/><Relationship Id="rId7" Type="http://schemas.openxmlformats.org/officeDocument/2006/relationships/image" Target="../media/image142.svg"/><Relationship Id="rId6" Type="http://schemas.openxmlformats.org/officeDocument/2006/relationships/image" Target="../media/image141.png"/><Relationship Id="rId5" Type="http://schemas.openxmlformats.org/officeDocument/2006/relationships/image" Target="../media/image140.svg"/><Relationship Id="rId4" Type="http://schemas.openxmlformats.org/officeDocument/2006/relationships/image" Target="../media/image139.png"/><Relationship Id="rId3" Type="http://schemas.openxmlformats.org/officeDocument/2006/relationships/image" Target="../media/image138.svg"/><Relationship Id="rId20" Type="http://schemas.openxmlformats.org/officeDocument/2006/relationships/notesSlide" Target="../notesSlides/notesSlide24.xml"/><Relationship Id="rId2" Type="http://schemas.openxmlformats.org/officeDocument/2006/relationships/image" Target="../media/image137.pn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6.png"/><Relationship Id="rId17" Type="http://schemas.openxmlformats.org/officeDocument/2006/relationships/image" Target="../media/image152.svg"/><Relationship Id="rId16" Type="http://schemas.openxmlformats.org/officeDocument/2006/relationships/image" Target="../media/image151.png"/><Relationship Id="rId15" Type="http://schemas.openxmlformats.org/officeDocument/2006/relationships/image" Target="../media/image150.svg"/><Relationship Id="rId14" Type="http://schemas.openxmlformats.org/officeDocument/2006/relationships/image" Target="../media/image149.png"/><Relationship Id="rId13" Type="http://schemas.openxmlformats.org/officeDocument/2006/relationships/image" Target="../media/image148.svg"/><Relationship Id="rId12" Type="http://schemas.openxmlformats.org/officeDocument/2006/relationships/image" Target="../media/image147.png"/><Relationship Id="rId11" Type="http://schemas.openxmlformats.org/officeDocument/2006/relationships/image" Target="../media/image146.svg"/><Relationship Id="rId10" Type="http://schemas.openxmlformats.org/officeDocument/2006/relationships/image" Target="../media/image145.png"/><Relationship Id="rId1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png"/><Relationship Id="rId8" Type="http://schemas.openxmlformats.org/officeDocument/2006/relationships/image" Target="../media/image158.svg"/><Relationship Id="rId7" Type="http://schemas.openxmlformats.org/officeDocument/2006/relationships/image" Target="../media/image157.png"/><Relationship Id="rId6" Type="http://schemas.openxmlformats.org/officeDocument/2006/relationships/image" Target="../media/image156.svg"/><Relationship Id="rId5" Type="http://schemas.openxmlformats.org/officeDocument/2006/relationships/image" Target="../media/image155.png"/><Relationship Id="rId4" Type="http://schemas.openxmlformats.org/officeDocument/2006/relationships/image" Target="../media/image154.svg"/><Relationship Id="rId3" Type="http://schemas.openxmlformats.org/officeDocument/2006/relationships/image" Target="../media/image153.png"/><Relationship Id="rId2" Type="http://schemas.openxmlformats.org/officeDocument/2006/relationships/image" Target="../media/image118.svg"/><Relationship Id="rId15" Type="http://schemas.openxmlformats.org/officeDocument/2006/relationships/notesSlide" Target="../notesSlides/notesSlide25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6.png"/><Relationship Id="rId12" Type="http://schemas.openxmlformats.org/officeDocument/2006/relationships/image" Target="../media/image160.svg"/><Relationship Id="rId11" Type="http://schemas.openxmlformats.org/officeDocument/2006/relationships/image" Target="../media/image159.png"/><Relationship Id="rId10" Type="http://schemas.openxmlformats.org/officeDocument/2006/relationships/image" Target="../media/image152.svg"/><Relationship Id="rId1" Type="http://schemas.openxmlformats.org/officeDocument/2006/relationships/image" Target="../media/image117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7.png"/><Relationship Id="rId8" Type="http://schemas.openxmlformats.org/officeDocument/2006/relationships/image" Target="../media/image166.svg"/><Relationship Id="rId7" Type="http://schemas.openxmlformats.org/officeDocument/2006/relationships/image" Target="../media/image165.png"/><Relationship Id="rId6" Type="http://schemas.openxmlformats.org/officeDocument/2006/relationships/image" Target="../media/image164.svg"/><Relationship Id="rId5" Type="http://schemas.openxmlformats.org/officeDocument/2006/relationships/image" Target="../media/image163.png"/><Relationship Id="rId4" Type="http://schemas.openxmlformats.org/officeDocument/2006/relationships/image" Target="../media/image162.svg"/><Relationship Id="rId3" Type="http://schemas.openxmlformats.org/officeDocument/2006/relationships/image" Target="../media/image161.png"/><Relationship Id="rId2" Type="http://schemas.openxmlformats.org/officeDocument/2006/relationships/image" Target="../media/image6.png"/><Relationship Id="rId14" Type="http://schemas.openxmlformats.org/officeDocument/2006/relationships/notesSlide" Target="../notesSlides/notesSlide26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170.svg"/><Relationship Id="rId11" Type="http://schemas.openxmlformats.org/officeDocument/2006/relationships/image" Target="../media/image169.png"/><Relationship Id="rId10" Type="http://schemas.openxmlformats.org/officeDocument/2006/relationships/image" Target="../media/image168.svg"/><Relationship Id="rId1" Type="http://schemas.openxmlformats.org/officeDocument/2006/relationships/image" Target="../media/image5.jpe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72.png"/><Relationship Id="rId3" Type="http://schemas.openxmlformats.org/officeDocument/2006/relationships/image" Target="../media/image17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17" b="17"/>
          <a:stretch>
            <a:fillRect/>
          </a:stretch>
        </p:blipFill>
        <p:spPr>
          <a:xfrm>
            <a:off x="6934200" y="-1028700"/>
            <a:ext cx="8407400" cy="84074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0" y="2400300"/>
            <a:ext cx="12192000" cy="19304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F9F9F9">
                  <a:alpha val="100000"/>
                </a:srgbClr>
              </a:gs>
              <a:gs pos="88000">
                <a:srgbClr val="FFFFFF">
                  <a:alpha val="9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46000"/>
          </a:blip>
          <a:srcRect l="123" r="123"/>
          <a:stretch>
            <a:fillRect/>
          </a:stretch>
        </p:blipFill>
        <p:spPr>
          <a:xfrm>
            <a:off x="10668000" y="2717800"/>
            <a:ext cx="1511300" cy="1193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701800" y="4953000"/>
            <a:ext cx="10502900" cy="127000"/>
          </a:xfrm>
          <a:prstGeom prst="roundRect">
            <a:avLst>
              <a:gd name="adj" fmla="val 0"/>
            </a:avLst>
          </a:prstGeom>
          <a:gradFill rotWithShape="0">
            <a:gsLst>
              <a:gs pos="67000">
                <a:srgbClr val="4C67C3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 rot="10800000" flipV="1">
            <a:off x="152400" y="2349500"/>
            <a:ext cx="12039600" cy="50800"/>
          </a:xfrm>
          <a:prstGeom prst="roundRect">
            <a:avLst>
              <a:gd name="adj" fmla="val 0"/>
            </a:avLst>
          </a:prstGeom>
          <a:gradFill rotWithShape="0">
            <a:gsLst>
              <a:gs pos="2000">
                <a:srgbClr val="FFFFFF">
                  <a:alpha val="100000"/>
                </a:srgbClr>
              </a:gs>
              <a:gs pos="67000">
                <a:srgbClr val="4C67C3">
                  <a:alpha val="100000"/>
                </a:srgbClr>
              </a:gs>
              <a:gs pos="100000">
                <a:srgbClr val="FFFFFF">
                  <a:alpha val="6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38300" y="4953000"/>
            <a:ext cx="127000" cy="127000"/>
          </a:xfrm>
          <a:prstGeom prst="ellipse">
            <a:avLst/>
          </a:prstGeom>
          <a:solidFill>
            <a:srgbClr val="4C67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60500" y="4953000"/>
            <a:ext cx="127000" cy="127000"/>
          </a:xfrm>
          <a:prstGeom prst="ellipse">
            <a:avLst/>
          </a:prstGeom>
          <a:solidFill>
            <a:srgbClr val="4C67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57300" y="4953000"/>
            <a:ext cx="127000" cy="127000"/>
          </a:xfrm>
          <a:prstGeom prst="ellipse">
            <a:avLst/>
          </a:prstGeom>
          <a:solidFill>
            <a:srgbClr val="4C67C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54100" y="4953000"/>
            <a:ext cx="127000" cy="127000"/>
          </a:xfrm>
          <a:prstGeom prst="ellipse">
            <a:avLst/>
          </a:prstGeom>
          <a:solidFill>
            <a:srgbClr val="4C67C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50900" y="4953000"/>
            <a:ext cx="127000" cy="127000"/>
          </a:xfrm>
          <a:prstGeom prst="ellipse">
            <a:avLst/>
          </a:prstGeom>
          <a:solidFill>
            <a:srgbClr val="4C67C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" y="4953000"/>
            <a:ext cx="127000" cy="127000"/>
          </a:xfrm>
          <a:prstGeom prst="ellipse">
            <a:avLst/>
          </a:prstGeom>
          <a:solidFill>
            <a:srgbClr val="4C67C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44500" y="4953000"/>
            <a:ext cx="127000" cy="127000"/>
          </a:xfrm>
          <a:prstGeom prst="ellipse">
            <a:avLst/>
          </a:prstGeom>
          <a:solidFill>
            <a:srgbClr val="4C67C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41300" y="4953000"/>
            <a:ext cx="127000" cy="127000"/>
          </a:xfrm>
          <a:prstGeom prst="ellipse">
            <a:avLst/>
          </a:prstGeom>
          <a:solidFill>
            <a:srgbClr val="4C67C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994900" y="2209800"/>
            <a:ext cx="76200" cy="76200"/>
          </a:xfrm>
          <a:prstGeom prst="ellipse">
            <a:avLst/>
          </a:prstGeom>
          <a:solidFill>
            <a:srgbClr val="4B83C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1912600" y="2247900"/>
            <a:ext cx="76200" cy="76200"/>
          </a:xfrm>
          <a:prstGeom prst="ellipse">
            <a:avLst/>
          </a:prstGeom>
          <a:solidFill>
            <a:srgbClr val="4B83C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rcRect t="363" b="363"/>
          <a:stretch>
            <a:fillRect/>
          </a:stretch>
        </p:blipFill>
        <p:spPr>
          <a:xfrm>
            <a:off x="381000" y="203200"/>
            <a:ext cx="1841500" cy="1028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0" y="24765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2784475"/>
            <a:ext cx="12192000" cy="1406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基于大模型智能体的装备软件研发</a:t>
            </a:r>
            <a:r>
              <a:rPr lang="zh-CN" altLang="en-US" sz="3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进展</a:t>
            </a:r>
            <a:endParaRPr lang="zh-CN" altLang="en-US" sz="3200" b="1" i="0" u="none" strike="noStrike">
              <a:solidFill>
                <a:srgbClr val="1F232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0" y="431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五大Agent赋能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693400" y="6527800"/>
            <a:ext cx="927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26000" y="3797300"/>
            <a:ext cx="76200" cy="76200"/>
          </a:xfrm>
          <a:prstGeom prst="ellipse">
            <a:avLst/>
          </a:prstGeom>
          <a:solidFill>
            <a:srgbClr val="74DC8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54100" y="2171700"/>
            <a:ext cx="3302000" cy="3314700"/>
          </a:xfrm>
          <a:prstGeom prst="ellipse">
            <a:avLst/>
          </a:prstGeom>
          <a:solidFill>
            <a:srgbClr val="4C67C3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2">
            <a:off x="3175000" y="3822700"/>
            <a:ext cx="118116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36600" y="1854200"/>
            <a:ext cx="3937000" cy="3962400"/>
          </a:xfrm>
          <a:prstGeom prst="ellipse">
            <a:avLst/>
          </a:prstGeom>
          <a:noFill/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25600" y="2743200"/>
            <a:ext cx="2146300" cy="21590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51100" y="3060700"/>
            <a:ext cx="533400" cy="1308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" y="1663700"/>
            <a:ext cx="4292600" cy="4318000"/>
          </a:xfrm>
          <a:prstGeom prst="ellipse">
            <a:avLst/>
          </a:prstGeom>
          <a:noFill/>
          <a:ln w="12700" cap="flat" cmpd="sng">
            <a:solidFill>
              <a:srgbClr val="74DC8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22800" y="3797300"/>
            <a:ext cx="762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2" name="Connector 12"/>
          <p:cNvCxnSpPr/>
          <p:nvPr/>
        </p:nvCxnSpPr>
        <p:spPr>
          <a:xfrm rot="-95468">
            <a:off x="4356188" y="3816350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 rot="2700000">
            <a:off x="355600" y="1409700"/>
            <a:ext cx="4762500" cy="47625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4C67C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02900" y="368300"/>
            <a:ext cx="762000" cy="90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5" name="Connector 15"/>
          <p:cNvCxnSpPr/>
          <p:nvPr/>
        </p:nvCxnSpPr>
        <p:spPr>
          <a:xfrm rot="10720977">
            <a:off x="5118027" y="2108200"/>
            <a:ext cx="11049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029200" y="20828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5400000">
            <a:off x="5676900" y="1828800"/>
            <a:ext cx="444500" cy="5334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5400000">
            <a:off x="5410200" y="1866900"/>
            <a:ext cx="444500" cy="4445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9"/>
          <p:cNvCxnSpPr/>
          <p:nvPr/>
        </p:nvCxnSpPr>
        <p:spPr>
          <a:xfrm rot="5145555">
            <a:off x="6108587" y="20829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-17406">
            <a:off x="5727700" y="22987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651500" y="1739900"/>
            <a:ext cx="355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62700" y="1651000"/>
            <a:ext cx="5486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装备软件研发痛点与智能体应对思路</a:t>
            </a:r>
            <a:endParaRPr lang="en-US" sz="24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 rot="5400000">
            <a:off x="6337300" y="3530600"/>
            <a:ext cx="444500" cy="5588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 rot="5400000">
            <a:off x="6057900" y="3581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5" name="Connector 25"/>
          <p:cNvCxnSpPr/>
          <p:nvPr/>
        </p:nvCxnSpPr>
        <p:spPr>
          <a:xfrm rot="5145555">
            <a:off x="6768987" y="3797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6" name="Connector 26"/>
          <p:cNvCxnSpPr/>
          <p:nvPr/>
        </p:nvCxnSpPr>
        <p:spPr>
          <a:xfrm>
            <a:off x="6375400" y="40259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11900" y="3454400"/>
            <a:ext cx="368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35800" y="3365500"/>
            <a:ext cx="485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各</a:t>
            </a:r>
            <a:r>
              <a:rPr lang="zh-CN" alt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</a:t>
            </a:r>
            <a:r>
              <a:rPr 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功能介绍</a:t>
            </a:r>
            <a:endParaRPr lang="en-US" sz="2400" b="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 rot="2700000">
            <a:off x="-762000" y="609600"/>
            <a:ext cx="6286500" cy="6286500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 rot="5400000">
            <a:off x="5613400" y="5181600"/>
            <a:ext cx="444500" cy="5461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 rot="5400000">
            <a:off x="5334000" y="5232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2" name="Connector 32"/>
          <p:cNvCxnSpPr/>
          <p:nvPr/>
        </p:nvCxnSpPr>
        <p:spPr>
          <a:xfrm rot="5145555">
            <a:off x="6045087" y="5448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3" name="Connector 33"/>
          <p:cNvCxnSpPr/>
          <p:nvPr/>
        </p:nvCxnSpPr>
        <p:spPr>
          <a:xfrm>
            <a:off x="5651500" y="5676900"/>
            <a:ext cx="49530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5575300" y="5105400"/>
            <a:ext cx="3683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73800" y="5016500"/>
            <a:ext cx="5359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基于智能体的软件工厂蓝图</a:t>
            </a:r>
            <a:endParaRPr lang="en-US" sz="2400" b="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6" name="Connector 36"/>
          <p:cNvCxnSpPr/>
          <p:nvPr/>
        </p:nvCxnSpPr>
        <p:spPr>
          <a:xfrm rot="10736345">
            <a:off x="5067241" y="5454650"/>
            <a:ext cx="685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4978400" y="54356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8" name="Connector 38"/>
          <p:cNvCxnSpPr/>
          <p:nvPr/>
        </p:nvCxnSpPr>
        <p:spPr>
          <a:xfrm rot="10677246">
            <a:off x="5524387" y="3810001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5461000" y="3771900"/>
            <a:ext cx="88900" cy="889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痛点</a:t>
            </a:r>
            <a:r>
              <a:rPr lang="zh-CN" alt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</a:t>
            </a:r>
            <a:endParaRPr lang="zh-CN" altLang="en-US" sz="2400" b="1" i="0" u="none" strike="noStrike">
              <a:solidFill>
                <a:srgbClr val="005A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69900" y="952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装备软件研发的核心挑战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1778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08000" y="177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2032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1844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安全性分析门槛高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51000" y="2603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STPA/FTA/FMEA等分析需深厚专业积累，人工分析效率低且易出错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18000" y="1778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318000" y="177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572000" y="2032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21844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461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需求-测试追溯难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461000" y="2603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测试用例与需求规格脱节，覆盖率无法精准度量，变更影响难评估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1778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28000" y="1778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82000" y="2032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4400" y="21844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271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代码走查成本大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71000" y="2603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依赖专家经验，走查人员配置多、周期长，且检查标准难以统一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08000" y="3937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08000" y="3937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62000" y="4191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43434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651000" y="4191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静态分析误报多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651000" y="4762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传统扫描工具误报率高，大量无效告警消耗人工，确认耗时耗力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318000" y="3937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4318000" y="3937000"/>
            <a:ext cx="76200" cy="18415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572000" y="4191000"/>
            <a:ext cx="711200" cy="711200"/>
          </a:xfrm>
          <a:prstGeom prst="ellipse">
            <a:avLst/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4400" y="4343400"/>
            <a:ext cx="406400" cy="406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5461000" y="4191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单元测试覆盖低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461000" y="4762500"/>
            <a:ext cx="222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嵌入式软件依赖硬件环境，单测编写难度大，整体自动化程度不足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3937000"/>
            <a:ext cx="3556000" cy="1841500"/>
          </a:xfrm>
          <a:prstGeom prst="roundRect">
            <a:avLst>
              <a:gd name="adj" fmla="val 6896"/>
            </a:avLst>
          </a:prstGeom>
          <a:solidFill>
            <a:srgbClr val="005AB4">
              <a:alpha val="8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128000" y="4445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痛点直击 · 驱动研发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005AB4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针对上述核心挑战，打造 AgentForSE 智能研发平台</a:t>
            </a:r>
            <a:endParaRPr lang="en-US" sz="1200" b="0" i="0" u="none" strike="noStrike">
              <a:solidFill>
                <a:srgbClr val="005AB4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智能体应对思路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" y="1016000"/>
            <a:ext cx="5461000" cy="5334000"/>
          </a:xfrm>
          <a:prstGeom prst="roundRect">
            <a:avLst>
              <a:gd name="adj" fmla="val 238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97DB7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23900" y="1206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装备软件研发全生命周期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23900" y="1778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1968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1879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需求分析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SafeWise (系统安全分析)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" y="2667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28575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2768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安全性设计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SafeMatrix (功能安全分析)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3900" y="3556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3746500"/>
            <a:ext cx="381000" cy="381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657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编码实现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SmartInsight (自动化代码走查)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" y="4445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4635500"/>
            <a:ext cx="381000" cy="381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4546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测试验证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SmartST (系统测试) / SmartUT (单元测试)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" y="5334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4400" y="5524500"/>
            <a:ext cx="381000" cy="381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54356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审查交付</a:t>
            </a: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数据全流程可追溯，质量闭环管理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61100" y="1016000"/>
            <a:ext cx="5461000" cy="5334000"/>
          </a:xfrm>
          <a:prstGeom prst="roundRect">
            <a:avLst>
              <a:gd name="adj" fmla="val 238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15100" y="1206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核心设计理念 (MetaGPT落地)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15100" y="1778000"/>
            <a:ext cx="4953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05600" y="20320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429500" y="1905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双引擎驱动架构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以大模型为推理引擎，以规则引擎为质量门禁，确保结果合规。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515100" y="2921000"/>
            <a:ext cx="4953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5600" y="31750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429500" y="3048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流水线协作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多智能体并行取代人工串行流程，大幅提升研发与测试效率。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515100" y="4064000"/>
            <a:ext cx="4953000" cy="1016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05600" y="4318000"/>
            <a:ext cx="508000" cy="508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429500" y="4191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数据结构化与可追溯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 → 结构化数据 → 自动输出，实现研发资产的沉淀与复用。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515100" y="5207000"/>
            <a:ext cx="4953000" cy="889000"/>
          </a:xfrm>
          <a:prstGeom prst="roundRect">
            <a:avLst>
              <a:gd name="adj" fmla="val 714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705600" y="5397500"/>
            <a:ext cx="508000" cy="508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429500" y="5334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最终目标：构建“装备软件工厂”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AgentForSE 五大智能体全景图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15240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80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SafeWise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系统安全分析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6856">
            <a:off x="6350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080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STPA 安全分析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STPA 多 Agent 流水线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7686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4400" y="15240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8956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SafeMatrix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8956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功能安全分析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26856">
            <a:off x="30226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8956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FTA + FMEA 综合分析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8956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故障分析多 Agent 流水线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1562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2000" y="1524000"/>
            <a:ext cx="762000" cy="762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2832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SmartInsight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2832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智能代码走查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6856">
            <a:off x="54102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52832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代码质量深度确认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2832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 Agentic 架构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5438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29600" y="1524000"/>
            <a:ext cx="762000" cy="762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6708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SmartST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708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系统自动化测试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26856">
            <a:off x="77978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76708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需求驱动的测试生成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708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测试全链路闭环管理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931400" y="1143000"/>
            <a:ext cx="2133600" cy="4953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005AB4">
                <a:alpha val="2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617200" y="1524000"/>
            <a:ext cx="762000" cy="762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0058400" y="2540000"/>
            <a:ext cx="1879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SmartUT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058400" y="3302000"/>
            <a:ext cx="187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单元测试生成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26856">
            <a:off x="10185425" y="3930650"/>
            <a:ext cx="1625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10058400" y="4191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自动化单元测试用例生成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0058400" y="5207000"/>
            <a:ext cx="1879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技术特点：</a:t>
            </a:r>
            <a:b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专用单元测试 Agent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693400" y="6527800"/>
            <a:ext cx="927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26000" y="3797300"/>
            <a:ext cx="76200" cy="76200"/>
          </a:xfrm>
          <a:prstGeom prst="ellipse">
            <a:avLst/>
          </a:prstGeom>
          <a:solidFill>
            <a:srgbClr val="74DC8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54100" y="2171700"/>
            <a:ext cx="3302000" cy="3314700"/>
          </a:xfrm>
          <a:prstGeom prst="ellipse">
            <a:avLst/>
          </a:prstGeom>
          <a:solidFill>
            <a:srgbClr val="4C67C3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2">
            <a:off x="3175000" y="3822700"/>
            <a:ext cx="118116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36600" y="1854200"/>
            <a:ext cx="3937000" cy="3962400"/>
          </a:xfrm>
          <a:prstGeom prst="ellipse">
            <a:avLst/>
          </a:prstGeom>
          <a:noFill/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25600" y="2743200"/>
            <a:ext cx="2146300" cy="21590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51100" y="3060700"/>
            <a:ext cx="533400" cy="1308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" y="1663700"/>
            <a:ext cx="4292600" cy="4318000"/>
          </a:xfrm>
          <a:prstGeom prst="ellipse">
            <a:avLst/>
          </a:prstGeom>
          <a:noFill/>
          <a:ln w="12700" cap="flat" cmpd="sng">
            <a:solidFill>
              <a:srgbClr val="74DC8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22800" y="3797300"/>
            <a:ext cx="762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2" name="Connector 12"/>
          <p:cNvCxnSpPr/>
          <p:nvPr/>
        </p:nvCxnSpPr>
        <p:spPr>
          <a:xfrm rot="-95468">
            <a:off x="4356188" y="3816350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 rot="2700000">
            <a:off x="355600" y="1409700"/>
            <a:ext cx="4762500" cy="47625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4C67C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02900" y="368300"/>
            <a:ext cx="762000" cy="90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5" name="Connector 15"/>
          <p:cNvCxnSpPr/>
          <p:nvPr/>
        </p:nvCxnSpPr>
        <p:spPr>
          <a:xfrm rot="10720977">
            <a:off x="5118027" y="2108200"/>
            <a:ext cx="11049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029200" y="20828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5400000">
            <a:off x="5676900" y="1828800"/>
            <a:ext cx="444500" cy="5334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5400000">
            <a:off x="5410200" y="1866900"/>
            <a:ext cx="444500" cy="4445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9"/>
          <p:cNvCxnSpPr/>
          <p:nvPr/>
        </p:nvCxnSpPr>
        <p:spPr>
          <a:xfrm rot="5145555">
            <a:off x="6108587" y="20829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-17406">
            <a:off x="5727700" y="22987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651500" y="1739900"/>
            <a:ext cx="355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62700" y="1651000"/>
            <a:ext cx="5486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装备软件研发痛点与智能体应对思路</a:t>
            </a:r>
            <a:endParaRPr lang="en-US" sz="240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 rot="5400000">
            <a:off x="6337300" y="3530600"/>
            <a:ext cx="444500" cy="5588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 rot="5400000">
            <a:off x="6057900" y="3581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5" name="Connector 25"/>
          <p:cNvCxnSpPr/>
          <p:nvPr/>
        </p:nvCxnSpPr>
        <p:spPr>
          <a:xfrm rot="5145555">
            <a:off x="6768987" y="3797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6" name="Connector 26"/>
          <p:cNvCxnSpPr/>
          <p:nvPr/>
        </p:nvCxnSpPr>
        <p:spPr>
          <a:xfrm>
            <a:off x="6375400" y="40259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11900" y="3454400"/>
            <a:ext cx="368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35800" y="3365500"/>
            <a:ext cx="485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各</a:t>
            </a:r>
            <a:r>
              <a:rPr lang="zh-CN" alt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</a:t>
            </a:r>
            <a:r>
              <a:rPr 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功能介绍</a:t>
            </a:r>
            <a:endParaRPr lang="en-US" sz="24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 rot="2700000">
            <a:off x="-762000" y="609600"/>
            <a:ext cx="6286500" cy="6286500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 rot="5400000">
            <a:off x="5613400" y="5181600"/>
            <a:ext cx="444500" cy="5461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 rot="5400000">
            <a:off x="5334000" y="5232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2" name="Connector 32"/>
          <p:cNvCxnSpPr/>
          <p:nvPr/>
        </p:nvCxnSpPr>
        <p:spPr>
          <a:xfrm rot="5145555">
            <a:off x="6045087" y="5448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3" name="Connector 33"/>
          <p:cNvCxnSpPr/>
          <p:nvPr/>
        </p:nvCxnSpPr>
        <p:spPr>
          <a:xfrm>
            <a:off x="5651500" y="5676900"/>
            <a:ext cx="49530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5575300" y="5105400"/>
            <a:ext cx="3683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73800" y="5016500"/>
            <a:ext cx="5359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基于智能体的软件工厂蓝图</a:t>
            </a:r>
            <a:endParaRPr lang="en-US" sz="2400" b="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6" name="Connector 36"/>
          <p:cNvCxnSpPr/>
          <p:nvPr/>
        </p:nvCxnSpPr>
        <p:spPr>
          <a:xfrm rot="10736345">
            <a:off x="5067241" y="5454650"/>
            <a:ext cx="685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4978400" y="54356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8" name="Connector 38"/>
          <p:cNvCxnSpPr/>
          <p:nvPr/>
        </p:nvCxnSpPr>
        <p:spPr>
          <a:xfrm rot="10677246">
            <a:off x="5524387" y="3810001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5461000" y="3771900"/>
            <a:ext cx="88900" cy="889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SafeWise — 系统安全分析智能体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143000"/>
            <a:ext cx="3556000" cy="4953000"/>
          </a:xfrm>
          <a:prstGeom prst="roundRect">
            <a:avLst>
              <a:gd name="adj" fmla="val 5714"/>
            </a:avLst>
          </a:prstGeom>
          <a:solidFill>
            <a:srgbClr val="005AB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524000"/>
            <a:ext cx="812800" cy="812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2540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核心价值 · 效率飞跃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30480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打破传统人工分析的效率瓶颈，利用AI多智能体协同能力，将原本需要</a:t>
            </a:r>
            <a:r>
              <a:rPr lang="en-US" sz="16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数周</a:t>
            </a: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的STPA分析工作，极致压缩至</a:t>
            </a:r>
            <a:r>
              <a:rPr lang="en-US" sz="20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数小时</a:t>
            </a: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内自动完成。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1143000"/>
            <a:ext cx="3683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1397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34000" y="14224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产品定位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2095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面向航天航空等复杂系统，专为高安全等级需求打造的</a:t>
            </a:r>
            <a:r>
              <a:rPr lang="en-US" sz="12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STPA多智能体安全分析平台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143000"/>
            <a:ext cx="3683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13970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14224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核心分析方法 STPA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2095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2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系统理论过程分析 (STPA)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方法论，通过AI深度理解系统结构与控制约束，精准识别潜在的不安全控制行为。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18000" y="3746500"/>
            <a:ext cx="3683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000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334000" y="40259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核心目标用户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72000" y="4699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专业的系统安全工程师、飞行器/航天器总体研制团队，以及负责复杂系统可靠性验证的技术专家。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28000" y="3746500"/>
            <a:ext cx="3683000" cy="2349500"/>
          </a:xfrm>
          <a:prstGeom prst="roundRect">
            <a:avLst>
              <a:gd name="adj" fmla="val 64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82000" y="40005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144000" y="40259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典型应用场景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82000" y="4699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覆盖飞行控制系统、航天器姿态控制、复杂机电系统等对安全完整性等级 (SIL) 要求极高的关键领域。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SafeWise — 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三阶段 Agent 流水线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Connector 5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381000" y="1016000"/>
            <a:ext cx="3556000" cy="2540000"/>
          </a:xfrm>
          <a:prstGeom prst="roundRect">
            <a:avLst>
              <a:gd name="adj" fmla="val 50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71500" y="1206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阶段：危险与需求分析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71500" y="1714500"/>
            <a:ext cx="3175000" cy="1524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98500" y="1841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从损失场景出发，层层推导约束与需求：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LossAgent → HazardAgent → SafetyConstraintAgent → RequirementAgent → ReviewAgent</a:t>
            </a:r>
            <a:endParaRPr lang="en-US" sz="12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191000" y="1016000"/>
            <a:ext cx="3556000" cy="2540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1206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阶段：控制结构与UCA分析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81500" y="1714500"/>
            <a:ext cx="3175000" cy="1524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08500" y="1841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构建系统控制模型，分析不安全控制行为：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ControlStructureAgent → UCAAgent → DesignConstraintAgent → ReviewAgent</a:t>
            </a:r>
            <a:endParaRPr lang="en-US" sz="1200" b="1" i="0" u="none" strike="noStrike">
              <a:solidFill>
                <a:srgbClr val="16A3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1016000"/>
            <a:ext cx="3556000" cy="2540000"/>
          </a:xfrm>
          <a:prstGeom prst="roundRect">
            <a:avLst>
              <a:gd name="adj" fmla="val 50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91500" y="1206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阶段：致因与测试设计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1714500"/>
            <a:ext cx="3175000" cy="1524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18500" y="18415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基于因果链生成测试场景与用例：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CausalAgent → ScenarioAgent → TestCaseAgent → ReviewAgent</a:t>
            </a:r>
            <a:endParaRPr lang="en-US" sz="1200" b="1" i="0" u="none" strike="noStrike">
              <a:solidFill>
                <a:srgbClr val="EA580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81000" y="3810000"/>
            <a:ext cx="11430000" cy="2286000"/>
          </a:xfrm>
          <a:prstGeom prst="roundRect">
            <a:avLst>
              <a:gd name="adj" fmla="val 5555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71500" y="4000500"/>
            <a:ext cx="1104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🔗 全链路可追溯性示例 (Traceability)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71500" y="4572000"/>
            <a:ext cx="5397500" cy="1143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正向推导链：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TC-001 (测试用例) → LS-001 (损失场景) → UCA-003 (不安全控制) → H-002 (危险源) → L-001 (核心损失)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59500" y="4572000"/>
            <a:ext cx="5397500" cy="1143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50000" y="4699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需求关联链：</a:t>
            </a: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TC-001 (测试用例) → SC-002 (安全约束) → REQ-005 (功能需求) → SYS-001 (系统设计规范)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2.1 SafeWise — 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已有能力与当前研发重点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" y="1016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23900" y="12065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当前已有能力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23900" y="1841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070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1930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多Agent协同流水线，支持一键启动全流程自动化分析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23900" y="2730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9591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2819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基于WebSocket实时推送分析进度，状态可视化透明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3900" y="3619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848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3708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构建完整追溯链：损失→危险→约束→需求→UCA→测试用例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" y="4508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47371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597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全面兼容OpenAI生态模型 (DeepSeek / GPT-4o / Qwen / Claude)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900" y="53975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3B82F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5626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5486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完善的系统工程配置：支持飞行阶段、控制链路及系统组成管理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61100" y="1016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15100" y="12065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当前研发重点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15100" y="18415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2133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88200" y="1968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 STAMP 因果图可视化功能，直观展示系统层级与反馈回路关系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15100" y="29210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32131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88200" y="3048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实现与 SafeMatrix 深度联动，自动将 STPA 分析结果导入 FTA 进行量化分析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15100" y="40005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42926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188200" y="4127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GJB 900A 等国军标格式报告一键导出，满足军工领域标准化交付要求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515100" y="5080000"/>
            <a:ext cx="4953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38100" dir="2700000" algn="tl" rotWithShape="0">
              <a:srgbClr val="F97316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05600" y="53721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188200" y="5207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引入行业专家经验库，通过预定义规则与案例，持续提升约束生成与需求分析的质量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SafeMatrix — 软件功能安全分析智能体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016000"/>
            <a:ext cx="3556000" cy="1651000"/>
          </a:xfrm>
          <a:prstGeom prst="roundRect">
            <a:avLst>
              <a:gd name="adj" fmla="val 923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206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1206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产品定位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1778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专注软件功能安全，覆盖需求-设计两阶段SFTA + FMEA全流程的智能化分析工具。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2921000"/>
            <a:ext cx="3556000" cy="1651000"/>
          </a:xfrm>
          <a:prstGeom prst="roundRect">
            <a:avLst>
              <a:gd name="adj" fmla="val 923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111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111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分析方法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683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核心融合两大权威方法：软件故障树分析 (SFTA) + 软件失效模式与影响分析 (FMEA)。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4826000"/>
            <a:ext cx="3556000" cy="1397000"/>
          </a:xfrm>
          <a:prstGeom prst="roundRect">
            <a:avLst>
              <a:gd name="adj" fmla="val 10909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5016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5016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目标用户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软件可靠性工程师、功能安全专家及研发管理人员。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18000" y="1016000"/>
            <a:ext cx="3556000" cy="2794000"/>
          </a:xfrm>
          <a:prstGeom prst="roundRect">
            <a:avLst>
              <a:gd name="adj" fmla="val 5454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0" y="1206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07000" y="1206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核心价值赋能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4572000" y="18415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自动生成：</a:t>
            </a:r>
            <a:r>
              <a:rPr lang="en-US" sz="1200" b="0" i="0" u="none" strike="noStrike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基于SRS</a:t>
            </a:r>
            <a:r>
              <a:rPr lang="en-US" sz="1200" b="0" i="0" u="none" strike="noStrike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200" b="0" i="0" u="none" strike="noStrike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SDD文档</a:t>
            </a:r>
            <a:r>
              <a:rPr lang="en-US" sz="12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软件代码</a:t>
            </a:r>
            <a:r>
              <a:rPr lang="en-US" sz="1200" b="0" i="0" u="none" strike="noStrike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一键生成故障树与FMEA表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人机协作：</a:t>
            </a:r>
            <a:r>
              <a:rPr lang="en-US" sz="1200" b="0" i="0" u="none" strike="noStrike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多轮交互迭代，持续精化分析质量</a:t>
            </a:r>
            <a:endParaRPr lang="en-US" sz="1200" b="0" i="0" u="none" strike="noStrike" dirty="0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标准交付：</a:t>
            </a:r>
            <a:r>
              <a:rPr lang="en-US" sz="1200" b="0" i="0" u="none" strike="noStrike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自动输出满足要求的Word格式分析报告</a:t>
            </a:r>
            <a:endParaRPr lang="en-US" sz="1200" b="0" i="0" u="none" strike="noStrike" dirty="0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2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200" b="1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知识沉淀</a:t>
            </a:r>
            <a:r>
              <a:rPr lang="en-US" altLang="zh-CN" sz="1200" b="1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2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内置典型软件失效模式库，支持自定义扩充</a:t>
            </a:r>
            <a:endParaRPr lang="en-US" altLang="zh-CN" sz="1200" dirty="0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endParaRPr lang="en-US" sz="1200" b="0" i="0" u="none" strike="noStrike" dirty="0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0" y="4064000"/>
            <a:ext cx="3556000" cy="2159000"/>
          </a:xfrm>
          <a:prstGeom prst="roundRect">
            <a:avLst>
              <a:gd name="adj" fmla="val 7058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4254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207000" y="4254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差异化竞争力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72000" y="4953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实现“三阶段串联分析”闭环，支持分析过程的</a:t>
            </a:r>
            <a:r>
              <a:rPr lang="en-US" sz="12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版本追踪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200" b="1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增量更新</a:t>
            </a: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，大幅提升迭代效率。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28000" y="1016000"/>
            <a:ext cx="3302000" cy="5207000"/>
          </a:xfrm>
          <a:prstGeom prst="roundRect">
            <a:avLst>
              <a:gd name="adj" fmla="val 4615"/>
            </a:avLst>
          </a:prstGeom>
          <a:solidFill>
            <a:srgbClr val="005AB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63000" y="1778000"/>
            <a:ext cx="2032000" cy="2032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255000" y="41910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AGENT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55000" y="4953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INTELLIGENCE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255000" y="5588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智能驱动 · 安全同行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SafeMatrix — 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三阶段分析详解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81000" y="1143000"/>
            <a:ext cx="3556000" cy="4953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" y="1397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1524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阶段一：需求阶段 SFTA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" y="2286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核心依据：软件需求规格说明书 (SRS)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323">
            <a:off x="635013" y="2787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" y="3048000"/>
            <a:ext cx="3048000" cy="1016000"/>
          </a:xfrm>
          <a:prstGeom prst="roundRect">
            <a:avLst>
              <a:gd name="adj" fmla="val 6250"/>
            </a:avLst>
          </a:prstGeom>
          <a:solidFill>
            <a:srgbClr val="F0F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17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执行流程：</a:t>
            </a:r>
            <a:b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SRS解析 → 故障树生成 → 质量评审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4318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灵活的分析支持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" y="4762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针对单棵故障树，系统支持：</a:t>
            </a:r>
            <a:b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迭代改进分析 • 历史重新分析 • 版本 Diff 对比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18000" y="1143000"/>
            <a:ext cx="3556000" cy="4953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1397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334000" y="1524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阶段二：SFTA + FMEA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72000" y="2286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核心依据：软件详细设计文档 (SDD)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4572013" y="2787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572000" y="3048000"/>
            <a:ext cx="3048000" cy="1143000"/>
          </a:xfrm>
          <a:prstGeom prst="roundRect">
            <a:avLst>
              <a:gd name="adj" fmla="val 5555"/>
            </a:avLst>
          </a:prstGeom>
          <a:solidFill>
            <a:srgbClr val="F0F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699000" y="3175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执行流程：</a:t>
            </a:r>
            <a:b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SDD解析 → 模块级树扩展 → FMEA评分 → 审查与缓解措施制定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72000" y="4445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多维度风险量化评估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72000" y="4889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S/O/D 计算 RPN 风险值，精准定位高风险点并输出优化方案。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1143000"/>
            <a:ext cx="3556000" cy="4953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9000" y="13970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271000" y="1524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版本追踪与增量更新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509000" y="2286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智能化变更感知与自动同步机制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14323">
            <a:off x="8509013" y="2787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B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8509000" y="3048000"/>
            <a:ext cx="3048000" cy="1016000"/>
          </a:xfrm>
          <a:prstGeom prst="roundRect">
            <a:avLst>
              <a:gd name="adj" fmla="val 6250"/>
            </a:avLst>
          </a:prstGeom>
          <a:solidFill>
            <a:srgbClr val="F0F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636000" y="3175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变更检测：</a:t>
            </a:r>
            <a:b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需求变更后，自动标记设计分析结果的“过期”状态。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509000" y="4318000"/>
            <a:ext cx="304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驱动的高效增量分析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509000" y="47625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支持分析结构自动同步，仅对变更影响的部分进行增量 LLM 扩展，避免重复劳动。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2.2 SafeMatrix — 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已有能力与当前研发重点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143000"/>
            <a:ext cx="5461000" cy="5334000"/>
          </a:xfrm>
          <a:prstGeom prst="roundRect">
            <a:avLst>
              <a:gd name="adj" fmla="val 357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139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当前已有能力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159000"/>
            <a:ext cx="4953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324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2222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 SFTA + FMEA 一体化深度分析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921000"/>
            <a:ext cx="4953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0861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2984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故障树可视化画布 (交互式支持 AND/OR/基本事件节点)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683000"/>
            <a:ext cx="4953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848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3746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项目版本管理与 Diff 差异对比面板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4953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6101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508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智能体 Prompt 灵活配置 (支持多 Agent 独立调优)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207000"/>
            <a:ext cx="4953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435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97000" y="5308600"/>
            <a:ext cx="419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一键导出 Word 报告 (含故障树 PNG + FMEA 表 + RPN 色标)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1143000"/>
            <a:ext cx="5461000" cy="5334000"/>
          </a:xfrm>
          <a:prstGeom prst="roundRect">
            <a:avLst>
              <a:gd name="adj" fmla="val 3571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1397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当前研发重点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2159000"/>
            <a:ext cx="495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24511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112000" y="2286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 GJB / DO-178C 等行业标准报告模板自动生成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3175000"/>
            <a:ext cx="495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34671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12000" y="3302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深度接入 SafeWise 平台，STPA 分析结果自动驱动 SFTA 生成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4191000"/>
            <a:ext cx="495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4831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112000" y="4318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引入历史项目经验库，基于 AI 推荐提升分析效率与准确率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77000" y="5207000"/>
            <a:ext cx="4953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54991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112000" y="5334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功能扩展：全面支持 FMECA 分析标准 (增加 Criticality Analysis)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88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SmartInsight — 代码走查智能体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" y="1651000"/>
            <a:ext cx="11252200" cy="762000"/>
          </a:xfrm>
          <a:prstGeom prst="roundRect">
            <a:avLst>
              <a:gd name="adj" fmla="val 16666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B4D2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5000" y="1778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产品定位：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面向嵌入式/装备软件领域，提供专业、自动化、深度的 AI 代码走查智能体平台，助力研发质量提升。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9900" y="2667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8F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9900" y="2667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97D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" y="2921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651000" y="292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设计一致性验证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651000" y="3429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智能比对代码实现逻辑与软件概要设计、详细设计报告的描述，确保开发过程严格遵循设计规范。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61100" y="2667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8F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61100" y="2667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97D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6700" y="29210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42200" y="292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需求满足性确认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442200" y="3429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深度解析代码功能，自动校验代码对软件需求规格说明书中各项指标、功能点的覆盖与满足程度。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" y="4572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8F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69900" y="4572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97D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" y="48260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51000" y="4826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已知故障模式检查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651000" y="5334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基于行业沉淀的软件故障模式库，快速扫描代码，精准识别并定位代码中潜在的已知故障模式风险。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61100" y="4572000"/>
            <a:ext cx="5461000" cy="1651000"/>
          </a:xfrm>
          <a:prstGeom prst="roundRect">
            <a:avLst>
              <a:gd name="adj" fmla="val 9230"/>
            </a:avLst>
          </a:prstGeom>
          <a:solidFill>
            <a:srgbClr val="F8F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61100" y="4572000"/>
            <a:ext cx="76200" cy="1651000"/>
          </a:xfrm>
          <a:prstGeom prst="roundRect">
            <a:avLst>
              <a:gd name="adj" fmla="val 0"/>
            </a:avLst>
          </a:prstGeom>
          <a:solidFill>
            <a:srgbClr val="097D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6700" y="48260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442200" y="4826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静态分析误报消除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42200" y="5334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AI介入静态分析工具输出结果，自动确认告警的有效性，大幅消除误报干扰，帮助工程师聚焦真实问题。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SmartInsight — 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Agentic Search 工作流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" y="1016000"/>
            <a:ext cx="5461000" cy="5334000"/>
          </a:xfrm>
          <a:prstGeom prst="roundRect">
            <a:avLst>
              <a:gd name="adj" fmla="val 2857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23900" y="1206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Agent 自主搜索代码仓库流程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23900" y="1778000"/>
            <a:ext cx="4953000" cy="825500"/>
          </a:xfrm>
          <a:prstGeom prst="roundRect">
            <a:avLst>
              <a:gd name="adj" fmla="val 123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19304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1841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1: 目录探索 (list_dir)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遍历仓库根目录，快速建立整体代码结构的宏观认知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23900" y="2730500"/>
            <a:ext cx="4953000" cy="825500"/>
          </a:xfrm>
          <a:prstGeom prst="roundRect">
            <a:avLst>
              <a:gd name="adj" fmla="val 123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8829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27940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2: 范围筛选 (glob_search)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按文件后缀或路径模式过滤，大幅缩小目标文件范围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23900" y="3683000"/>
            <a:ext cx="4953000" cy="825500"/>
          </a:xfrm>
          <a:prstGeom prst="roundRect">
            <a:avLst>
              <a:gd name="adj" fmla="val 123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38354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3746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3: 内容检索 (grep_code)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通过关键词或函数名正则匹配，精准定位核心代码片段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23900" y="4635500"/>
            <a:ext cx="4953000" cy="825500"/>
          </a:xfrm>
          <a:prstGeom prst="roundRect">
            <a:avLst>
              <a:gd name="adj" fmla="val 1230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47879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46990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4: 细节确认 (read_source_file)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读取候选文件完整内容，深度解析逻辑实现与业务细节</a:t>
            </a:r>
            <a:endParaRPr lang="en-US" sz="11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23900" y="5588000"/>
            <a:ext cx="4953000" cy="635000"/>
          </a:xfrm>
          <a:prstGeom prst="roundRect">
            <a:avLst>
              <a:gd name="adj" fmla="val 1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5651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5588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5: 结构化输出</a:t>
            </a:r>
            <a:r>
              <a:rPr lang="en-US" sz="11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(Status + Confidence + Evidence + Source)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84900" y="1016000"/>
            <a:ext cx="5461000" cy="5334000"/>
          </a:xfrm>
          <a:prstGeom prst="roundRect">
            <a:avLst>
              <a:gd name="adj" fmla="val 2857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38900" y="1206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核心优势与特点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38900" y="1778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9400" y="1968500"/>
            <a:ext cx="609600" cy="609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366000" y="1841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渐进式深度搜索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遵循“先粗搜、再细读、最后归纳”的逻辑，避免无效遍历，效率更高。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438900" y="2921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29400" y="3111500"/>
            <a:ext cx="609600" cy="609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366000" y="2984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 ReAct 模式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根据每一步的搜索结果，实时动态调整下一步的检索策略，而非机械执行固定脚本。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438900" y="4064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29400" y="4254500"/>
            <a:ext cx="609600" cy="609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366000" y="4127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证据链全链路可溯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所有分析结论均附带具体的 Source File 及精确代码行号，支持人工复核验证。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438900" y="5207000"/>
            <a:ext cx="4953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29400" y="5397500"/>
            <a:ext cx="609600" cy="6096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366000" y="52705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拒绝暴力 Prompt Stuffing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不依赖将海量代码一次性塞入上下文，突破 Token 限制，实现对大型项目的有效分析。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2.3 SmartInsight — 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已有能力与当前研发重点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" y="1079500"/>
            <a:ext cx="5334000" cy="5207000"/>
          </a:xfrm>
          <a:prstGeom prst="roundRect">
            <a:avLst>
              <a:gd name="adj" fmla="val 2439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23900" y="1270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当前已有能力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3900" y="1905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70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006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 ReAct风格 Agentic 自主搜索引擎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" y="2667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832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2768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12+ 主流静态分析工具报告归一化自动导入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900" y="3429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594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3530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代码扫描误报 AI 智能确认与自动过滤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" y="4191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356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292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经验库沉淀，支持历史知识复用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" y="4953000"/>
            <a:ext cx="4826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118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054600"/>
            <a:ext cx="393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RepoMap 代码仓结构化地图智能生成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" y="5715000"/>
            <a:ext cx="4826000" cy="508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5816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97000" y="5816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自动化生成 PPT/Word 可视化走查报告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61100" y="1079500"/>
            <a:ext cx="5334000" cy="5207000"/>
          </a:xfrm>
          <a:prstGeom prst="roundRect">
            <a:avLst>
              <a:gd name="adj" fmla="val 2439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15100" y="12700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当前研发重点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15100" y="20320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22860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239000" y="2159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深度接入 CI/CD 流水线，实现代码提交即自动触发安全走查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15100" y="30480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33020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239000" y="3175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闭环反哺机制：利用历史走查经验持续优化经验库，提升AI精准度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15100" y="40640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43180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239000" y="4191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支持代码变更增量走查，仅针对 Diff 部分分析，大幅提升效率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515100" y="5080000"/>
            <a:ext cx="4826000" cy="8255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5600" y="5334000"/>
            <a:ext cx="355600" cy="3556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239000" y="5207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建设可视化看板，支持走查进度追踪与项目安全覆盖率实时监控</a:t>
            </a:r>
            <a:endParaRPr lang="en-US" sz="1100"/>
          </a:p>
        </p:txBody>
      </p:sp>
      <p:cxnSp>
        <p:nvCxnSpPr>
          <p:cNvPr id="39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0" name="Picture 5"/>
          <p:cNvPicPr>
            <a:picLocks noChangeAspect="1"/>
          </p:cNvPicPr>
          <p:nvPr/>
        </p:nvPicPr>
        <p:blipFill>
          <a:blip r:embed="rId5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2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SmartUT — 单元测试智能体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1143000"/>
            <a:ext cx="3556000" cy="1524000"/>
          </a:xfrm>
          <a:prstGeom prst="roundRect">
            <a:avLst>
              <a:gd name="adj" fmla="val 833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397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1397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1905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面向嵌入式与装备软件领域，专注于单元测试用例自动生成的智能体工具。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2921000"/>
            <a:ext cx="3556000" cy="1524000"/>
          </a:xfrm>
          <a:prstGeom prst="roundRect">
            <a:avLst>
              <a:gd name="adj" fmla="val 833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3175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175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683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自动生成完全符合装备软件行业标准的高质量单元测试用例，减少人工投入。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4699000"/>
            <a:ext cx="3556000" cy="1524000"/>
          </a:xfrm>
          <a:prstGeom prst="roundRect">
            <a:avLst>
              <a:gd name="adj" fmla="val 833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953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4953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当前研发状态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5461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处于早期研发与验证阶段，核心算法能力正在规划与原型开发中。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18000" y="1143000"/>
            <a:ext cx="3683000" cy="2159000"/>
          </a:xfrm>
          <a:prstGeom prst="roundRect">
            <a:avLst>
              <a:gd name="adj" fmla="val 5882"/>
            </a:avLst>
          </a:prstGeom>
          <a:solidFill>
            <a:srgbClr val="FFFAF0">
              <a:alpha val="100000"/>
            </a:srgbClr>
          </a:solidFill>
          <a:ln w="12700" cap="flat" cmpd="sng">
            <a:solidFill>
              <a:srgbClr val="E6A000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1397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334000" y="1397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78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核心价值与优势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72000" y="2032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降低门槛：大幅降低嵌入式单元测试编写难度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提升覆盖：显著提升C/C++代码测试覆盖率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层次互补：与SmartST系统测试形成完整闭环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0" y="3556000"/>
            <a:ext cx="3683000" cy="2667000"/>
          </a:xfrm>
          <a:prstGeom prst="roundRect">
            <a:avLst>
              <a:gd name="adj" fmla="val 4761"/>
            </a:avLst>
          </a:prstGeom>
          <a:solidFill>
            <a:srgbClr val="F0FFF5">
              <a:alpha val="100000"/>
            </a:srgbClr>
          </a:solidFill>
          <a:ln w="12700" cap="flat" cmpd="sng">
            <a:solidFill>
              <a:srgbClr val="1E9650">
                <a:alpha val="4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3810000"/>
            <a:ext cx="508000" cy="508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334000" y="3810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96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未来核心能力规划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72000" y="444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自动化生成：函数级测试用例一键生成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深度分析：支持语句/分支/MC/DC覆盖率分析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智能推断：基于代码逻辑的边界值自动推断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● 生态联动：与SmartInsight实现数据互通</a:t>
            </a: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255000" y="1143000"/>
            <a:ext cx="3302000" cy="4953000"/>
          </a:xfrm>
          <a:prstGeom prst="roundRect">
            <a:avLst>
              <a:gd name="adj" fmla="val 3846"/>
            </a:avLst>
          </a:prstGeom>
          <a:solidFill>
            <a:srgbClr val="F5F7FA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509000" y="1524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SmartUT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09000" y="2159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UNIT TEST</a:t>
            </a:r>
            <a:b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INTELLIGENT AGENT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9098">
            <a:off x="8763018" y="3168650"/>
            <a:ext cx="228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8509000" y="3556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致力于解决嵌入式软件单元测试中</a:t>
            </a:r>
            <a:b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“编写难、成本高、覆盖低”的痛点，</a:t>
            </a:r>
            <a:b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打造智能化的测试研发新范式。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469900" y="1378585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23900" y="1632585"/>
            <a:ext cx="812800" cy="812800"/>
          </a:xfrm>
          <a:prstGeom prst="ellipse">
            <a:avLst/>
          </a:prstGeom>
          <a:solidFill>
            <a:srgbClr val="097DB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100" y="1835785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1632585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2204085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面向嵌入式与装备软件领域，专注于单元测试用例自动生成的智能体工具。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61100" y="1378585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15100" y="1632585"/>
            <a:ext cx="812800" cy="812800"/>
          </a:xfrm>
          <a:prstGeom prst="ellipse">
            <a:avLst/>
          </a:prstGeom>
          <a:solidFill>
            <a:srgbClr val="097DB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8300" y="1835785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569200" y="1632585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569200" y="2204085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自动生成完全符合装备软件行业标准的高质量单元测试用例，减少人工投入。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" y="3664585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23900" y="3918585"/>
            <a:ext cx="812800" cy="812800"/>
          </a:xfrm>
          <a:prstGeom prst="ellipse">
            <a:avLst/>
          </a:prstGeom>
          <a:solidFill>
            <a:srgbClr val="097DB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100" y="4121785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78000" y="3918585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78000" y="4490085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专注于嵌入式C/C++软件单元测试场景，特别适配国防军工、航空航天等高安全要求领域的测试验证。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61100" y="3664585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15100" y="3918585"/>
            <a:ext cx="812800" cy="812800"/>
          </a:xfrm>
          <a:prstGeom prst="ellipse">
            <a:avLst/>
          </a:prstGeom>
          <a:solidFill>
            <a:srgbClr val="097DB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8300" y="4121785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569200" y="3918585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569200" y="4490085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降低门槛：大幅降低嵌入式单元测试编写难度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提升覆盖：显著提升C/C++代码测试覆盖率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层次互补：与SmartST系统测试形成完整闭环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6"/>
          <p:cNvSpPr/>
          <p:nvPr/>
        </p:nvSpPr>
        <p:spPr>
          <a:xfrm>
            <a:off x="469900" y="12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SmartUT — 单元测试智能体</a:t>
            </a:r>
            <a:endParaRPr lang="en-US" sz="1100"/>
          </a:p>
        </p:txBody>
      </p:sp>
      <p:pic>
        <p:nvPicPr>
          <p:cNvPr id="29" name="Picture 5"/>
          <p:cNvPicPr>
            <a:picLocks noChangeAspect="1"/>
          </p:cNvPicPr>
          <p:nvPr/>
        </p:nvPicPr>
        <p:blipFill>
          <a:blip r:embed="rId9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508000" y="1271905"/>
            <a:ext cx="11176000" cy="1651000"/>
          </a:xfrm>
          <a:prstGeom prst="roundRect">
            <a:avLst>
              <a:gd name="adj" fmla="val 12307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98500" y="1525905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5700" y="1652905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" y="2160905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代码上传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22500" y="1525905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79700" y="1652905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222500" y="2160905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代码解析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1525905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700" y="1652905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746500" y="2160905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策略生成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70500" y="1525905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7700" y="1652905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270500" y="2160905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用例生成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94500" y="1525905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51700" y="1652905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2160905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用例评审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1525905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75700" y="1652905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318500" y="2160905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用例导出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842500" y="1525905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99700" y="1652905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842500" y="2160905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报告导出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3240405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🛡️ 质量门禁设计 Quality Gate Design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08000" y="3875405"/>
            <a:ext cx="3556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4065905"/>
            <a:ext cx="457200" cy="457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333500" y="410400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输入源严格准入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98500" y="4637405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仅基于已确认的代码版本生成测试用例，从源头保证测试数据的准确性与有效性。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318000" y="3875405"/>
            <a:ext cx="3556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08500" y="4065905"/>
            <a:ext cx="457200" cy="4572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5143500" y="410400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用例定向重生成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508500" y="4637405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针对评审未通过的测试用例，支持单独定向触发重生成流程，避免无效用例的反复迭代浪费。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3875405"/>
            <a:ext cx="3556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18500" y="4065905"/>
            <a:ext cx="457200" cy="4572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8953500" y="410400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代码变更增量分析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318500" y="4637405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当代码发生变更时，系统支持增量重分析机制，仅处理变更部分，大幅提升处理效率。</a:t>
            </a:r>
            <a:endParaRPr lang="en-US" sz="1100"/>
          </a:p>
        </p:txBody>
      </p:sp>
      <p:sp>
        <p:nvSpPr>
          <p:cNvPr id="5" name="AutoShape 6"/>
          <p:cNvSpPr/>
          <p:nvPr/>
        </p:nvSpPr>
        <p:spPr>
          <a:xfrm>
            <a:off x="469900" y="12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SmartUT — </a:t>
            </a:r>
            <a:r>
              <a:rPr lang="zh-CN" alt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核心业务</a:t>
            </a:r>
            <a:r>
              <a:rPr lang="zh-CN" alt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链路</a:t>
            </a:r>
            <a:endParaRPr lang="zh-CN" altLang="en-US" sz="2400" b="1" i="0" u="none" strike="noStrike">
              <a:solidFill>
                <a:srgbClr val="005A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44" name="Picture 5"/>
          <p:cNvPicPr>
            <a:picLocks noChangeAspect="1"/>
          </p:cNvPicPr>
          <p:nvPr/>
        </p:nvPicPr>
        <p:blipFill>
          <a:blip r:embed="rId19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2.4 SmartUT — 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已有能力与当前研发重点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" y="1143000"/>
            <a:ext cx="5461000" cy="5207000"/>
          </a:xfrm>
          <a:prstGeom prst="roundRect">
            <a:avLst>
              <a:gd name="adj" fmla="val 2439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239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当前已有能力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3900" y="2032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197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133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代码自动解析，快速理解代码结构与函数调用关系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" y="2794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959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2895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基于代码逻辑，AI自动生成高质量单元测试用例草稿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900" y="3556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3721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3657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支持语句/分支/MC/DC等多种覆盖率分析模式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" y="4318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4483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419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边界值自动推断，提升测试有效性与覆盖深度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" y="5080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5245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181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自动化统计覆盖率，并一键导出标准化单元测试报告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61100" y="1143000"/>
            <a:ext cx="5461000" cy="5207000"/>
          </a:xfrm>
          <a:prstGeom prst="roundRect">
            <a:avLst>
              <a:gd name="adj" fmla="val 2439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151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当前研发重点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15100" y="2032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2349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88200" y="2159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与SmartInsight深度联动，实现走查问题到单元测试用例的自动关联与追踪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15100" y="3175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3492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88200" y="3302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适配标准规范，支持自动生成GJB 5000A软件测试过程符合性报告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15100" y="4318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4635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188200" y="4445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无缝接入CI/CD流水线，代码提交时自动触发单元测试，提升交付效率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15100" y="5461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0200" y="56896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88200" y="5562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实现测试执行自动化，深度集成C++TEST / GoogleTest等主流单元测试框架</a:t>
            </a:r>
            <a:endParaRPr lang="en-US" sz="1100"/>
          </a:p>
        </p:txBody>
      </p:sp>
      <p:cxnSp>
        <p:nvCxnSpPr>
          <p:cNvPr id="36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" name="Picture 5"/>
          <p:cNvPicPr>
            <a:picLocks noChangeAspect="1"/>
          </p:cNvPicPr>
          <p:nvPr/>
        </p:nvPicPr>
        <p:blipFill>
          <a:blip r:embed="rId4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2.5 SmartST — 系统测试智能体</a:t>
            </a:r>
            <a:endParaRPr lang="en-US" sz="2400" b="1">
              <a:solidFill>
                <a:srgbClr val="005A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69900" y="1778000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23900" y="2032000"/>
            <a:ext cx="812800" cy="812800"/>
          </a:xfrm>
          <a:prstGeom prst="ellipse">
            <a:avLst/>
          </a:prstGeom>
          <a:solidFill>
            <a:srgbClr val="097DB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100" y="2235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8000" y="260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面向配置项测试场景的需求驱动系统测试B/S平台，为测试团队提供标准化的协作与执行环境。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61100" y="1778000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15100" y="2032000"/>
            <a:ext cx="812800" cy="812800"/>
          </a:xfrm>
          <a:prstGeom prst="ellipse">
            <a:avLst/>
          </a:prstGeom>
          <a:solidFill>
            <a:srgbClr val="097DB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18300" y="22352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5692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569200" y="2603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实现从需求文档解析、用例设计到测试执行、报告生成的全链路自动化，打通测试流程数据孤岛。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9900" y="4064000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23900" y="4318000"/>
            <a:ext cx="812800" cy="812800"/>
          </a:xfrm>
          <a:prstGeom prst="ellipse">
            <a:avLst/>
          </a:prstGeom>
          <a:solidFill>
            <a:srgbClr val="097DB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00" y="45212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78000" y="431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78000" y="4889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专注于装备软件配置项级系统测试场景，特别适配国防军工、航空航天等高安全要求领域的测试验证。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61100" y="4064000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15100" y="4318000"/>
            <a:ext cx="812800" cy="812800"/>
          </a:xfrm>
          <a:prstGeom prst="ellipse">
            <a:avLst/>
          </a:prstGeom>
          <a:solidFill>
            <a:srgbClr val="097DB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18300" y="45212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569200" y="4318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569200" y="48895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需求驱动：确保测试点对需求的100%全覆盖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AI赋能：自动生成用例草稿，设计效率提升60%+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1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安全可控：支持私有化部署，核心数据不出内网</a:t>
            </a:r>
            <a:endParaRPr lang="en-US" sz="11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4" name="Connector 4"/>
          <p:cNvCxnSpPr/>
          <p:nvPr/>
        </p:nvCxnSpPr>
        <p:spPr>
          <a:xfrm rot="5304531">
            <a:off x="10909300" y="400138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508000" y="1714500"/>
            <a:ext cx="11176000" cy="1651000"/>
          </a:xfrm>
          <a:prstGeom prst="roundRect">
            <a:avLst>
              <a:gd name="adj" fmla="val 12307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98500" y="1968500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700" y="2095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" y="2603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文档上传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22500" y="1968500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97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222500" y="2603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需求解析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1968500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700" y="2095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746500" y="2603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需求确认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70500" y="1968500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27700" y="2095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270500" y="2603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用例生成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94500" y="1968500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51700" y="2095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2603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用例发布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1968500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775700" y="2095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8318500" y="2603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执行回填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842500" y="1968500"/>
            <a:ext cx="13335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5AB4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99700" y="20955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842500" y="2603500"/>
            <a:ext cx="133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报告导出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368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🛡️ 质量门禁设计 Quality Gate Design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08000" y="4318000"/>
            <a:ext cx="3556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4508500"/>
            <a:ext cx="457200" cy="457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333500" y="454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输入源严格准入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98500" y="5080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仅基于状态为 `confirmed` 的需求生成用例，从源头保证测试数据的准确性与有效性。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318000" y="4318000"/>
            <a:ext cx="3556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08500" y="4508500"/>
            <a:ext cx="457200" cy="4572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5143500" y="454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拒绝需求定向重生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4508500" y="5080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针对被人工拒绝的需求，支持单独定向触发重生成流程，避免无效用例的反复迭代浪费。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128000" y="4318000"/>
            <a:ext cx="3556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BEAFE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18500" y="4508500"/>
            <a:ext cx="457200" cy="4572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8953500" y="4546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变更需求增量解析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8318500" y="5080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当原始需求发生变更时，系统支持增量重解析机制，仅处理变更部分，大幅提升处理效率。</a:t>
            </a:r>
            <a:endParaRPr lang="en-US" sz="1100"/>
          </a:p>
        </p:txBody>
      </p:sp>
      <p:sp>
        <p:nvSpPr>
          <p:cNvPr id="42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2.5 SmartST — </a:t>
            </a:r>
            <a:r>
              <a:rPr lang="zh-CN" alt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核心业务</a:t>
            </a:r>
            <a:r>
              <a:rPr lang="zh-CN" alt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链路</a:t>
            </a:r>
            <a:endParaRPr lang="zh-CN" altLang="en-US" sz="2400" b="1">
              <a:solidFill>
                <a:srgbClr val="005A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 rot="-3580">
            <a:off x="3" y="679450"/>
            <a:ext cx="1219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8000000"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2.5 SmartST — </a:t>
            </a: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已有能力与当前研发重点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9900" y="1143000"/>
            <a:ext cx="5461000" cy="5207000"/>
          </a:xfrm>
          <a:prstGeom prst="roundRect">
            <a:avLst>
              <a:gd name="adj" fmla="val 2439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239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当前已有能力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23900" y="2032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1971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133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文档自动解析与需求结构化提取，快速理解业务意图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23900" y="2794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2959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2895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基于确认需求，AI自动生成高质量测试用例草稿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900" y="3556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3721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3657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支持需求增量重解析 + 用例定向重生成，响应敏捷迭代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23900" y="4318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4483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419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执行结果自动回填，完整保留测试证据链与历史记录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900" y="5080000"/>
            <a:ext cx="4953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5245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97000" y="5181600"/>
            <a:ext cx="406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自动化统计需求覆盖率，并一键导出标准化测试报告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61100" y="1143000"/>
            <a:ext cx="5461000" cy="5207000"/>
          </a:xfrm>
          <a:prstGeom prst="roundRect">
            <a:avLst>
              <a:gd name="adj" fmla="val 2439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15100" y="1397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当前研发重点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15100" y="2032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2349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88200" y="2159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与SmartInsight深度联动，实现走查问题到测试用例的自动关联与追踪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15100" y="3175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3492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188200" y="3302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适配标准规范，支持自动生成GJB 5000A软件测试过程符合性报告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15100" y="4318000"/>
            <a:ext cx="4953000" cy="9525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4635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188200" y="44450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无缝接入CI/CD流水线，代码提交时自动触发回归测试，提升交付效率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15100" y="5461000"/>
            <a:ext cx="4953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200" y="5689600"/>
            <a:ext cx="304800" cy="3048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88200" y="5562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实现测试执行自动化，深度集成主流自动化测试框架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693400" y="6527800"/>
            <a:ext cx="9271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26000" y="3797300"/>
            <a:ext cx="76200" cy="76200"/>
          </a:xfrm>
          <a:prstGeom prst="ellipse">
            <a:avLst/>
          </a:prstGeom>
          <a:solidFill>
            <a:srgbClr val="74DC8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54100" y="2171700"/>
            <a:ext cx="3302000" cy="3314700"/>
          </a:xfrm>
          <a:prstGeom prst="ellipse">
            <a:avLst/>
          </a:prstGeom>
          <a:solidFill>
            <a:srgbClr val="4C67C3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2">
            <a:off x="3175000" y="3822700"/>
            <a:ext cx="1181168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36600" y="1854200"/>
            <a:ext cx="3937000" cy="3962400"/>
          </a:xfrm>
          <a:prstGeom prst="ellipse">
            <a:avLst/>
          </a:prstGeom>
          <a:noFill/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25600" y="2743200"/>
            <a:ext cx="2146300" cy="21590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51100" y="3060700"/>
            <a:ext cx="533400" cy="1308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目录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8800" y="1663700"/>
            <a:ext cx="4292600" cy="4318000"/>
          </a:xfrm>
          <a:prstGeom prst="ellipse">
            <a:avLst/>
          </a:prstGeom>
          <a:noFill/>
          <a:ln w="12700" cap="flat" cmpd="sng">
            <a:solidFill>
              <a:srgbClr val="74DC89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22800" y="3797300"/>
            <a:ext cx="762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2" name="Connector 12"/>
          <p:cNvCxnSpPr/>
          <p:nvPr/>
        </p:nvCxnSpPr>
        <p:spPr>
          <a:xfrm rot="-95468">
            <a:off x="4356188" y="3816350"/>
            <a:ext cx="457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 rot="2700000">
            <a:off x="355600" y="1409700"/>
            <a:ext cx="4762500" cy="47625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4C67C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502900" y="368300"/>
            <a:ext cx="762000" cy="90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15" name="Connector 15"/>
          <p:cNvCxnSpPr/>
          <p:nvPr/>
        </p:nvCxnSpPr>
        <p:spPr>
          <a:xfrm rot="10720977">
            <a:off x="5118027" y="2108200"/>
            <a:ext cx="110497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5029200" y="20828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5400000">
            <a:off x="5676900" y="1828800"/>
            <a:ext cx="444500" cy="5334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5400000">
            <a:off x="5410200" y="1866900"/>
            <a:ext cx="444500" cy="4445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9" name="Connector 19"/>
          <p:cNvCxnSpPr/>
          <p:nvPr/>
        </p:nvCxnSpPr>
        <p:spPr>
          <a:xfrm rot="5145555">
            <a:off x="6108587" y="20829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0" name="Connector 20"/>
          <p:cNvCxnSpPr/>
          <p:nvPr/>
        </p:nvCxnSpPr>
        <p:spPr>
          <a:xfrm rot="-17406">
            <a:off x="5727700" y="22987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651500" y="1739900"/>
            <a:ext cx="355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62700" y="1651000"/>
            <a:ext cx="5486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装备软件研发痛点与智能体应对思路</a:t>
            </a:r>
            <a:endParaRPr lang="en-US" sz="240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 rot="5400000">
            <a:off x="6337300" y="3530600"/>
            <a:ext cx="444500" cy="5588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 rot="5400000">
            <a:off x="6057900" y="3581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5" name="Connector 25"/>
          <p:cNvCxnSpPr/>
          <p:nvPr/>
        </p:nvCxnSpPr>
        <p:spPr>
          <a:xfrm rot="5145555">
            <a:off x="6768987" y="3797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26" name="Connector 26"/>
          <p:cNvCxnSpPr/>
          <p:nvPr/>
        </p:nvCxnSpPr>
        <p:spPr>
          <a:xfrm>
            <a:off x="6375400" y="4025900"/>
            <a:ext cx="50165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311900" y="3454400"/>
            <a:ext cx="3683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035800" y="3365500"/>
            <a:ext cx="4851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各</a:t>
            </a:r>
            <a:r>
              <a:rPr lang="zh-CN" alt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智能体</a:t>
            </a:r>
            <a:r>
              <a:rPr lang="en-US" sz="2400" i="0" u="none" strike="noStrike">
                <a:solidFill>
                  <a:srgbClr val="4C6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功能介绍</a:t>
            </a:r>
            <a:endParaRPr lang="en-US" sz="2400" i="0" u="none" strike="noStrike">
              <a:solidFill>
                <a:srgbClr val="4C6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AutoShape 29"/>
          <p:cNvSpPr/>
          <p:nvPr/>
        </p:nvSpPr>
        <p:spPr>
          <a:xfrm rot="2700000">
            <a:off x="-762000" y="609600"/>
            <a:ext cx="6286500" cy="6286500"/>
          </a:xfrm>
          <a:prstGeom prst="arc">
            <a:avLst>
              <a:gd name="adj1" fmla="val 16200000"/>
              <a:gd name="adj2" fmla="val 0"/>
            </a:avLst>
          </a:prstGeom>
          <a:noFill/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 rot="5400000">
            <a:off x="5613400" y="5181600"/>
            <a:ext cx="444500" cy="546100"/>
          </a:xfrm>
          <a:prstGeom prst="roundRect">
            <a:avLst>
              <a:gd name="adj" fmla="val 0"/>
            </a:avLst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 rot="5400000">
            <a:off x="5334000" y="5232400"/>
            <a:ext cx="444500" cy="457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2" name="Connector 32"/>
          <p:cNvCxnSpPr/>
          <p:nvPr/>
        </p:nvCxnSpPr>
        <p:spPr>
          <a:xfrm rot="5145555">
            <a:off x="6045087" y="5448417"/>
            <a:ext cx="34313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3" name="Connector 33"/>
          <p:cNvCxnSpPr/>
          <p:nvPr/>
        </p:nvCxnSpPr>
        <p:spPr>
          <a:xfrm>
            <a:off x="5651500" y="5676900"/>
            <a:ext cx="495301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874CB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5575300" y="5105400"/>
            <a:ext cx="3683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73800" y="5016500"/>
            <a:ext cx="53594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50000"/>
              </a:lnSpc>
              <a:spcBef>
                <a:spcPts val="600"/>
              </a:spcBef>
              <a:defRPr/>
            </a:pPr>
            <a:r>
              <a:rPr lang="en-US" sz="2400" b="1" i="0" u="none" strike="no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基于智能体的软件工厂蓝图</a:t>
            </a:r>
            <a:endParaRPr lang="en-US" sz="2400" b="1" i="0" u="none" strike="no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cxnSp>
        <p:nvCxnSpPr>
          <p:cNvPr id="36" name="Connector 36"/>
          <p:cNvCxnSpPr/>
          <p:nvPr/>
        </p:nvCxnSpPr>
        <p:spPr>
          <a:xfrm rot="10736345">
            <a:off x="5067241" y="5454650"/>
            <a:ext cx="6858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4978400" y="5435600"/>
            <a:ext cx="889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8" name="Connector 38"/>
          <p:cNvCxnSpPr/>
          <p:nvPr/>
        </p:nvCxnSpPr>
        <p:spPr>
          <a:xfrm rot="10677246">
            <a:off x="5524387" y="3810001"/>
            <a:ext cx="711313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C67C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5461000" y="3771900"/>
            <a:ext cx="88900" cy="889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1905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MetaGPT理念：从单Agent到软件工厂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079500"/>
            <a:ext cx="11430000" cy="1016000"/>
          </a:xfrm>
          <a:prstGeom prst="roundRect">
            <a:avLst>
              <a:gd name="adj" fmla="val 12500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71500" y="1206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核心思想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1206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利用大语言模型(LLM)驱动多智能体(Agent)协作，模拟完整的软件工程团队（产品、研发、测试、运维），将软件开发流程标准化、自动化，像现代化工厂流水线一样高效、高质量地批量生产软件。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" y="2286000"/>
            <a:ext cx="5461000" cy="4191000"/>
          </a:xfrm>
          <a:prstGeom prst="roundRect">
            <a:avLst>
              <a:gd name="adj" fmla="val 303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81000" y="2286000"/>
            <a:ext cx="5461000" cy="508000"/>
          </a:xfrm>
          <a:prstGeom prst="roundRect">
            <a:avLst>
              <a:gd name="adj" fmla="val 25000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81000" y="2286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 传统软件开发模式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2984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3162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3048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人工分析师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人工梳理需求，产出冗长的需求规格说明书 (PRD)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3873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4051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70000" y="3937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人工设计师/架构师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手绘架构图，编写详细设计文档，依赖个人经验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8000" y="4762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500" y="4940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70000" y="4826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人工开发者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手动编写业务逻辑代码，效率低且易产生语法错误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5651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8500" y="58293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70000" y="5715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人工测试/审查员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手动执行测试用例，代码评审周期长，覆盖率低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096000" y="2286000"/>
            <a:ext cx="5461000" cy="4191000"/>
          </a:xfrm>
          <a:prstGeom prst="roundRect">
            <a:avLst>
              <a:gd name="adj" fmla="val 303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97DB7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096000" y="2286000"/>
            <a:ext cx="5461000" cy="508000"/>
          </a:xfrm>
          <a:prstGeom prst="roundRect">
            <a:avLst>
              <a:gd name="adj" fmla="val 25000"/>
            </a:avLst>
          </a:prstGeom>
          <a:solidFill>
            <a:srgbClr val="097DB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096000" y="22860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🤖 AI 软件工厂 (MetaGPT)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2984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31623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85000" y="3048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SafeWise / SafeMatrix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输入产品一句话需求，自动生成安全分析与技术架构文档</a:t>
            </a:r>
            <a:endParaRPr lang="en-US" sz="11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223000" y="3873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40513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85000" y="3937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SmartInsight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自动进行代码静态走查，生成结构化、可视化的质量报告</a:t>
            </a:r>
            <a:endParaRPr lang="en-US" sz="11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223000" y="4762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49403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6985000" y="4826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SmartST / SmartUT Agent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根据设计文档自动生成功能代码，并执行单元测试与回归</a:t>
            </a:r>
            <a:endParaRPr lang="en-US" sz="11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223000" y="56515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13500" y="58293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6985000" y="57150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多Agent 流水线协作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50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角色间通过共享知识库流转信息，自动完成版本归档与交付</a:t>
            </a:r>
            <a:endParaRPr lang="en-US" sz="1100" b="0" i="0" u="none" strike="noStrike">
              <a:solidFill>
                <a:srgbClr val="505A6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8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9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40" name="Picture 5"/>
          <p:cNvPicPr>
            <a:picLocks noChangeAspect="1"/>
          </p:cNvPicPr>
          <p:nvPr/>
        </p:nvPicPr>
        <p:blipFill>
          <a:blip r:embed="rId18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127000"/>
            <a:ext cx="762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25400" rIns="63500" bIns="254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装备软件智能工厂 · 总体架构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609600"/>
            <a:ext cx="762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0" rIns="635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97DB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核心理念：MetaGPT多智能体协同 · 航天装备软件全流程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1430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333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137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基础设施层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500" y="190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构建私有化算力池、容器云与对象存储集群；部署军工级数据库，严格执行内网隔离策略，确保核心数据不出域，全面满足安全合规要求。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191000" y="11430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1500" y="1333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16500" y="137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大模型服务层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190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集成私有化LLM推理引擎与向量数据库，提供高性能Embedding服务；建立统一Prompt工程库与模型智能调度中心，为上层应用提供统一的AI能力支撑。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11430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333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26500" y="1371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智能体编排层 (核心)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1905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借鉴MetaGPT思想，实现多角色智能体协同与任务自动拆解；依托统一Orchestrator进行全局调度、复杂流程编排与状态管控，并内置关键节点的人工评审机制。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81000" y="3746500"/>
            <a:ext cx="3556000" cy="2413000"/>
          </a:xfrm>
          <a:prstGeom prst="roundRect">
            <a:avLst>
              <a:gd name="adj" fmla="val 5263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>
              <a:solidFill>
                <a:srgbClr val="FF0000"/>
              </a:solidFill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3937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065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领域智能体层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71500" y="4508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针对航天装备特性定制五大专业智能体：SafeWise(系统安全)、SafeMatrix(功能安全)、SmartInsight(代码走查)、SmartST(系统测试)、SmartUT(单元测试)。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191000" y="37465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81500" y="39370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0165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工程过程层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81500" y="4508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覆盖“需求→安全设计→编码→测试→审查→交付”全生命周期；深度适配GJB 5000A、GJB 900A及DO-178C等军工/航空航天标准流程要求。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01000" y="3746500"/>
            <a:ext cx="3556000" cy="2413000"/>
          </a:xfrm>
          <a:prstGeom prst="roundRect">
            <a:avLst>
              <a:gd name="adj" fmla="val 5263"/>
            </a:avLst>
          </a:prstGeom>
          <a:solidFill>
            <a:srgbClr val="EBF5FF">
              <a:alpha val="100000"/>
            </a:srgbClr>
          </a:solidFill>
          <a:ln w="12700" cap="flat" cmpd="sng">
            <a:solidFill>
              <a:srgbClr val="097DB7">
                <a:alpha val="4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1500" y="39370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826500" y="39751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A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应用交付层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91500" y="4508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提供研发一站式工作台与实时质量看板，支持全链路数据追溯；任务结束自动输出标准化测试报告、产品归档包及完整的工程交付物。</a:t>
            </a:r>
            <a:endParaRPr lang="en-US" sz="1100"/>
          </a:p>
        </p:txBody>
      </p:sp>
      <p:cxnSp>
        <p:nvCxnSpPr>
          <p:cNvPr id="29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30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31" name="Picture 5"/>
          <p:cNvPicPr>
            <a:picLocks noChangeAspect="1"/>
          </p:cNvPicPr>
          <p:nvPr/>
        </p:nvPicPr>
        <p:blipFill>
          <a:blip r:embed="rId13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" name="Connector 3"/>
          <p:cNvCxnSpPr/>
          <p:nvPr/>
        </p:nvCxnSpPr>
        <p:spPr>
          <a:xfrm>
            <a:off x="0" y="685800"/>
            <a:ext cx="121920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id="4" name="Connector 4"/>
          <p:cNvCxnSpPr/>
          <p:nvPr/>
        </p:nvCxnSpPr>
        <p:spPr>
          <a:xfrm rot="5209099">
            <a:off x="10915564" y="400138"/>
            <a:ext cx="457376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97DB7">
                <a:alpha val="100000"/>
              </a:srgbClr>
            </a:solidFill>
            <a:prstDash val="solid"/>
            <a:miter lim="10000000"/>
            <a:headEnd type="none" w="lg" len="lg"/>
            <a:tailEnd type="none" w="lg" len="lg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511" r="511"/>
          <a:stretch>
            <a:fillRect/>
          </a:stretch>
        </p:blipFill>
        <p:spPr>
          <a:xfrm>
            <a:off x="11226800" y="50800"/>
            <a:ext cx="5334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69900" y="139700"/>
            <a:ext cx="9715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5A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总结：Agent全域覆盖与研发范式演进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69900" y="1016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1282700"/>
            <a:ext cx="762000" cy="762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49400" y="120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SafeWise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49400" y="1651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系统安全性分析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基于STPA多Agent流水线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1016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12827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97500" y="120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SafeMatrix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97500" y="1651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软件功能安全分析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SFTA + FMEA 分析能力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66100" y="1016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6600" y="12827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245600" y="1206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SmartInsight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245600" y="1651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智能化代码走查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Agentic搜索 + 自动误报消除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9900" y="2667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933700"/>
            <a:ext cx="762000" cy="762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49400" y="285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SmartST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49400" y="3302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全链路系统测试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基于需求驱动的自动化验证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18000" y="2667000"/>
            <a:ext cx="3556000" cy="1397000"/>
          </a:xfrm>
          <a:prstGeom prst="roundRect">
            <a:avLst>
              <a:gd name="adj" fmla="val 909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08500" y="2933700"/>
            <a:ext cx="762000" cy="762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397500" y="2857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SmartUT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397500" y="3302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智能单元测试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自动化生成高覆盖率测试用例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9900" y="4318000"/>
            <a:ext cx="11252200" cy="889000"/>
          </a:xfrm>
          <a:prstGeom prst="roundRect">
            <a:avLst>
              <a:gd name="adj" fmla="val 14285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23900" y="4445000"/>
            <a:ext cx="1074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核心理念：让大模型承担繁重、重复的分析劳动，释放工程师精力，专注于创造性的判断与决策。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69900" y="5461000"/>
            <a:ext cx="11252200" cy="889000"/>
          </a:xfrm>
          <a:prstGeom prst="roundRect">
            <a:avLst>
              <a:gd name="adj" fmla="val 14285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23900" y="5588000"/>
            <a:ext cx="10744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从工具 ➔ 智能体 ➔ 软件工厂 —— 这是装备软件研发的下一个范式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794000" y="4648200"/>
            <a:ext cx="44323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-899999">
            <a:off x="8978900" y="406400"/>
            <a:ext cx="5981700" cy="5981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" name="Connector 4"/>
          <p:cNvCxnSpPr/>
          <p:nvPr/>
        </p:nvCxnSpPr>
        <p:spPr>
          <a:xfrm>
            <a:off x="749300" y="3797300"/>
            <a:ext cx="6591312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gradFill rotWithShape="0">
              <a:gsLst>
                <a:gs pos="39000">
                  <a:srgbClr val="4C67C3">
                    <a:alpha val="100000"/>
                  </a:srgbClr>
                </a:gs>
                <a:gs pos="100000">
                  <a:srgbClr val="F6F8FC">
                    <a:alpha val="100000"/>
                  </a:srgbClr>
                </a:gs>
              </a:gsLst>
              <a:lin ang="0"/>
            </a:gra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9474200" y="3327400"/>
            <a:ext cx="76200" cy="76200"/>
          </a:xfrm>
          <a:prstGeom prst="ellipse">
            <a:avLst/>
          </a:prstGeom>
          <a:solidFill>
            <a:srgbClr val="4C67C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095500" y="4279900"/>
            <a:ext cx="127000" cy="127000"/>
          </a:xfrm>
          <a:prstGeom prst="ellipse">
            <a:avLst/>
          </a:prstGeom>
          <a:solidFill>
            <a:srgbClr val="4C67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892300" y="4279900"/>
            <a:ext cx="127000" cy="127000"/>
          </a:xfrm>
          <a:prstGeom prst="ellipse">
            <a:avLst/>
          </a:prstGeom>
          <a:solidFill>
            <a:srgbClr val="4C67C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689100" y="4279900"/>
            <a:ext cx="127000" cy="127000"/>
          </a:xfrm>
          <a:prstGeom prst="ellipse">
            <a:avLst/>
          </a:prstGeom>
          <a:solidFill>
            <a:srgbClr val="4C67C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485900" y="4279900"/>
            <a:ext cx="127000" cy="127000"/>
          </a:xfrm>
          <a:prstGeom prst="ellipse">
            <a:avLst/>
          </a:prstGeom>
          <a:solidFill>
            <a:srgbClr val="4C67C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82700" y="4279900"/>
            <a:ext cx="127000" cy="127000"/>
          </a:xfrm>
          <a:prstGeom prst="ellipse">
            <a:avLst/>
          </a:prstGeom>
          <a:solidFill>
            <a:srgbClr val="4C67C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279900"/>
            <a:ext cx="127000" cy="127000"/>
          </a:xfrm>
          <a:prstGeom prst="ellipse">
            <a:avLst/>
          </a:prstGeom>
          <a:solidFill>
            <a:srgbClr val="4C67C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76300" y="4279900"/>
            <a:ext cx="127000" cy="127000"/>
          </a:xfrm>
          <a:prstGeom prst="ellipse">
            <a:avLst/>
          </a:prstGeom>
          <a:solidFill>
            <a:srgbClr val="4C67C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 rot="10800000">
            <a:off x="7556500" y="3733800"/>
            <a:ext cx="127000" cy="127000"/>
          </a:xfrm>
          <a:prstGeom prst="ellipse">
            <a:avLst/>
          </a:prstGeom>
          <a:solidFill>
            <a:srgbClr val="4C67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 rot="10800000">
            <a:off x="7759700" y="3733800"/>
            <a:ext cx="127000" cy="127000"/>
          </a:xfrm>
          <a:prstGeom prst="ellipse">
            <a:avLst/>
          </a:prstGeom>
          <a:solidFill>
            <a:srgbClr val="4C67C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 rot="10800000">
            <a:off x="7962900" y="3733800"/>
            <a:ext cx="127000" cy="127000"/>
          </a:xfrm>
          <a:prstGeom prst="ellipse">
            <a:avLst/>
          </a:prstGeom>
          <a:solidFill>
            <a:srgbClr val="4C67C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 rot="10800000">
            <a:off x="8166100" y="3733800"/>
            <a:ext cx="127000" cy="127000"/>
          </a:xfrm>
          <a:prstGeom prst="ellipse">
            <a:avLst/>
          </a:prstGeom>
          <a:solidFill>
            <a:srgbClr val="4C67C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 rot="10800000">
            <a:off x="8369300" y="3733800"/>
            <a:ext cx="127000" cy="127000"/>
          </a:xfrm>
          <a:prstGeom prst="ellipse">
            <a:avLst/>
          </a:prstGeom>
          <a:solidFill>
            <a:srgbClr val="4C67C4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 rot="10800000">
            <a:off x="8572500" y="3733800"/>
            <a:ext cx="127000" cy="127000"/>
          </a:xfrm>
          <a:prstGeom prst="ellipse">
            <a:avLst/>
          </a:prstGeom>
          <a:solidFill>
            <a:srgbClr val="4C67C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 rot="10800000">
            <a:off x="8775700" y="3733800"/>
            <a:ext cx="127000" cy="127000"/>
          </a:xfrm>
          <a:prstGeom prst="ellipse">
            <a:avLst/>
          </a:prstGeom>
          <a:solidFill>
            <a:srgbClr val="4C67C4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alphaModFix amt="30000"/>
          </a:blip>
          <a:srcRect/>
          <a:stretch>
            <a:fillRect/>
          </a:stretch>
        </p:blipFill>
        <p:spPr>
          <a:xfrm>
            <a:off x="11633200" y="3009900"/>
            <a:ext cx="11303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92200" y="4648200"/>
            <a:ext cx="1574800" cy="157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2374900" y="2387600"/>
            <a:ext cx="711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请各位领导批评指正，谢谢！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" y="927100"/>
            <a:ext cx="82931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汇报完毕！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7406</Words>
  <Application>WPS 演示</Application>
  <PresentationFormat/>
  <Paragraphs>652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Arial</vt:lpstr>
      <vt:lpstr>宋体</vt:lpstr>
      <vt:lpstr>Wingdings</vt:lpstr>
      <vt:lpstr>Arial</vt:lpstr>
      <vt:lpstr>Noto Sans SC</vt:lpstr>
      <vt:lpstr>微软雅黑</vt:lpstr>
      <vt:lpstr>Calibri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朱海涛</cp:lastModifiedBy>
  <cp:revision>28</cp:revision>
  <dcterms:created xsi:type="dcterms:W3CDTF">2026-04-16T07:08:00Z</dcterms:created>
  <dcterms:modified xsi:type="dcterms:W3CDTF">2026-04-16T13:44:55Z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8C69B1C7D0BB46689624B83799EC5CF1</vt:lpwstr>
  </property>
  <property fmtid="{D5CDD505-2E9C-101B-9397-08002B2CF9AE}" pid="3" name="KSOProductBuildVer">
    <vt:lpwstr>2052-11.8.0.16981</vt:lpwstr>
  </property>
</Properties>
</file>