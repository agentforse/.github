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4.svg" ContentType="image/svg+xml"/>
  <Override PartName="/ppt/media/image118.svg" ContentType="image/svg+xml"/>
  <Override PartName="/ppt/media/image12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0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6.svg" ContentType="image/svg+xml"/>
  <Override PartName="/ppt/media/image58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5" r:id="rId5"/>
  </p:sldMasterIdLst>
  <p:notesMasterIdLst>
    <p:notesMasterId r:id="rId7"/>
  </p:notesMasterIdLst>
  <p:handoutMasterIdLst>
    <p:handoutMasterId r:id="rId34"/>
  </p:handoutMasterIdLst>
  <p:sldIdLst>
    <p:sldId id="256" r:id="rId6"/>
    <p:sldId id="257" r:id="rId8"/>
    <p:sldId id="259" r:id="rId9"/>
    <p:sldId id="260" r:id="rId10"/>
    <p:sldId id="261" r:id="rId11"/>
    <p:sldId id="288" r:id="rId12"/>
    <p:sldId id="266" r:id="rId15"/>
    <p:sldId id="270" r:id="rId18"/>
    <p:sldId id="274" r:id="rId21"/>
    <p:sldId id="330" r:id="rId25"/>
    <p:sldId id="280" r:id="rId28"/>
    <p:sldId id="289" r:id="rId29"/>
    <p:sldId id="282" r:id="rId30"/>
    <p:sldId id="315" r:id="rId31"/>
    <p:sldId id="286" r:id="rId32"/>
    <p:sldId id="287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领导、专家，大家下午好。今天我将向大家汇报我们团队在装备软件研发领域的最新探索成果——“基于大模型智能体的装备软件研发新范式”。我们将其命名为AgentForSE，旨在通过五大智能体，实现对装备软件研发全生命周期的全栈赋能。这项工作不仅是技术上的革新，更是对未来软件研发模式的一次深刻思考。接下来，我将详细介绍这一创新范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次汇报将分为三个部分。首先，我们将深入分析当前装备软件研发面临的核心挑战，并提出我们基于智能体的应对思路。其次，我将详细介绍AgentForSE平台中的五大智能体，包括它们各自的功能定位、系统架构和核心能力。最后，我们将共同展望基于这些智能体构建的“软件工厂”蓝图，探讨其未来的发展方向和核心机制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装备软件的研发，尤其是在航天航空等高安全领域，面临着诸多严峻挑战。首先，安全性分析的门槛极高，像STPA、FTA这类复杂的分析方法，不仅需要工程师具备深厚的专业知识，而且人工分析的效率非常低下。其次，需求与测试之间的追溯关系往往难以建立，导致测试覆盖率无法得到精确度量。此外，代码走查成本高昂，静态分析工具的误报率居高不下，以及嵌入式软件单元测试覆盖率低等问题，都严重制约了研发效率和产品质量。这些痛点，正是我们研发AgentForSE平台的出发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提出了基于智能体的应对思路。我们将装备软件研发的全生命周期，从需求分析到审查交付，进行了分解，并为每个关键环节配备了专门的智能体。例如，SafeWise负责系统安全分析，SafeMatrix负责功能安全分析，SmartInsight负责代码走查，SmartST和SmartUT则分别负责系统测试和单元测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理念是，利用大模型作为推理引擎，通过Agent流水线取代传统的人工串行流程，实现从文档到结构化数据再到自动输出的全程可追溯。最终，我们的目标是构建一个高效、智能的“软件工厂”，将MetaGPT的理念真正落地到装备软件研发领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AgentForSE平台的五大智能体全景。它们分别是：负责系统安全分析的SafeWise，它采用多Agent流水线执行STPA分析；负责功能安全分析的SafeMatrix，它集成了FTA和FMEA分析；负责代码走查的SmartInsight，它基于LangChain的Agentic能力；负责系统测试的SmartST，它构建了从需求到测试的全链路自动化；以及负责单元测试的SmartUT。这五大智能体各司其职，又相互协作，共同构成了我们智能研发平台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次汇报将分为三个部分。首先，我们将深入分析当前装备软件研发面临的核心挑战，并提出我们基于智能体的应对思路。其次，我将详细介绍AgentForSE平台中的五大智能体，包括它们各自的功能定位、系统架构和核心能力。最后，我们将共同展望基于这些智能体构建的“软件工厂”蓝图，探讨其未来的发展方向和核心机制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SafeWise已经具备了多Agent协同流水线、实时进度推送、完整的追溯链以及对主流大模型的支持等核心能力。在未来，我们计划进一步增强其功能，包括增加STAMP因果图的可视化，实现与SafeMatrix的联动，支持国军标格式报告的导出，并引入专家经验库来持续提升分析的质量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afeMatrix目前已经实现了两阶段SFTA和FMEA的一体化分析、可视化的故障树画布、版本管理以及一键导出Word报告等核心功能。未来，我们将致力于支持更多标准化的报告模板，如GJB和DO-178C，并实现与SafeWise的深度联动，让STPA的分析结果能够自动驱动SFTA的生成。同时，引入历史项目经验库和支持FMECA扩展也是我们的重要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Insight目前已经具备了强大的Agentic搜索能力、对多种静态分析工具的兼容性、误报消除以及报告自动生成等功能。未来，我们计划将其接入CI/CD流水线，实现代码提交即触发走查。同时，利用历史走查经验反哺经验库，实现持续的自我优化。支持增量走查和可视化的进度追踪看板也是我们下一步的重点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SmartST目前已经实现了文档解析、需求提取、用例生成、执行回填和报告导出等全链路核心功能。未来，我们将加强与SmartInsight的联动，实现走查问题到测试用例的自动关联。同时，支持GJB 5000A等标准报告、接入CI/CD实现自动化回归测试，以及实现测试执行的自动化，将是我们下一步的重点发展方向。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SmartST目前已经实现了文档解析、需求提取、用例生成、执行回填和报告导出等全链路核心功能。未来，我们将加强与SmartInsight的联动，实现走查问题到测试用例的自动关联。同时，支持GJB 5000A等标准报告、接入CI/CD实现自动化回归测试，以及实现测试执行的自动化，将是我们下一步的重点发展方向。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次汇报将分为三个部分。首先，我们将深入分析当前装备软件研发面临的核心挑战，并提出我们基于智能体的应对思路。其次，我将详细介绍AgentForSE平台中的五大智能体，包括它们各自的功能定位、系统架构和核心能力。最后，我们将共同展望基于这些智能体构建的“软件工厂”蓝图，探讨其未来的发展方向和核心机制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我们的软件工厂蓝图，深受MetaGPT理念的启发。其核心思想就是用大模型驱动多个智能体，模拟一个完整的软件工程团队，像工厂流水线一样生产高质量的软件。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在传统开发模式中，从需求分析到测试评审，每个环节都依赖人工，效率低且容易出错。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在我们的AI软件工厂中，这些角色将被SafeWise、SafeMatrix、SmartInsight、SmartST和SmartUT等智能体所取代或增强。它们分工明确，协同工作，实现了自动化的需求分析、架构设计、代码生成以及测试评审。这就是MetaGPT带给我们的，从单Agent到真正软件工厂的进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详细介绍我们构想的装备软件智能工厂的总体架构。这个架构借鉴了MetaGPT的多智能体协同思想，并结合了航天装备软件的全流程工程化要求。它分为六个层次：底层的基础设施层，提供安全合规的算力和存储；第二层是大模型服务层，为智能体提供智能引擎；第三层是核心的智能体编排层，负责调度和管理所有智能体；第四层是我们的五大领域智能体；第五层是覆盖研发全生命周期的工程过程层；最顶层是应用交付层，为用户提供一站式的工作台和标准化的交付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汇报进行总结。AgentForSE平台通过五大智能体，全面覆盖了装备软件研制的各个环节。我们的核心理念非常明确：就是让大模型去承担那些繁重、重复的分析劳动，从而将工程师从这些工作中解放出来，让他们能够专注于更具创造性的判断和决策。我们坚信，从传统的工具，到智能的Agent，再到高效的软件工厂，这不仅是技术的演进，更是装备软件研发的下一个范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我的汇报到此结束。非常感谢各位领导和专家的聆听，恳请大家批评指正。谢谢！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13.png"/><Relationship Id="rId10" Type="http://schemas.openxmlformats.org/officeDocument/2006/relationships/image" Target="../media/image14.svg"/><Relationship Id="rId11" Type="http://schemas.openxmlformats.org/officeDocument/2006/relationships/image" Target="../media/image15.png"/><Relationship Id="rId12" Type="http://schemas.openxmlformats.org/officeDocument/2006/relationships/image" Target="../media/image16.svg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image" Target="../media/image21.png"/><Relationship Id="rId8" Type="http://schemas.openxmlformats.org/officeDocument/2006/relationships/image" Target="../media/image22.svg"/><Relationship Id="rId9" Type="http://schemas.openxmlformats.org/officeDocument/2006/relationships/image" Target="../media/image23.png"/><Relationship Id="rId10" Type="http://schemas.openxmlformats.org/officeDocument/2006/relationships/image" Target="../media/image24.svg"/><Relationship Id="rId11" Type="http://schemas.openxmlformats.org/officeDocument/2006/relationships/image" Target="../media/image25.png"/><Relationship Id="rId12" Type="http://schemas.openxmlformats.org/officeDocument/2006/relationships/image" Target="../media/image26.svg"/><Relationship Id="rId13" Type="http://schemas.openxmlformats.org/officeDocument/2006/relationships/image" Target="../media/image27.png"/><Relationship Id="rId14" Type="http://schemas.openxmlformats.org/officeDocument/2006/relationships/image" Target="../media/image28.svg"/><Relationship Id="rId15" Type="http://schemas.openxmlformats.org/officeDocument/2006/relationships/image" Target="../media/image29.png"/><Relationship Id="rId16" Type="http://schemas.openxmlformats.org/officeDocument/2006/relationships/image" Target="../media/image30.svg"/><Relationship Id="rId17" Type="http://schemas.openxmlformats.org/officeDocument/2006/relationships/image" Target="../media/image31.png"/><Relationship Id="rId18" Type="http://schemas.openxmlformats.org/officeDocument/2006/relationships/image" Target="../media/image32.svg"/><Relationship Id="rId19" Type="http://schemas.openxmlformats.org/officeDocument/2006/relationships/image" Target="../media/image33.png"/><Relationship Id="rId20" Type="http://schemas.openxmlformats.org/officeDocument/2006/relationships/image" Target="../media/image34.svg"/><Relationship Id="rId21" Type="http://schemas.openxmlformats.org/officeDocument/2006/relationships/slideLayout" Target="../slideLayouts/slideLayout12.xml"/><Relationship Id="rId2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35.png"/><Relationship Id="rId4" Type="http://schemas.openxmlformats.org/officeDocument/2006/relationships/image" Target="../media/image36.svg"/><Relationship Id="rId5" Type="http://schemas.openxmlformats.org/officeDocument/2006/relationships/image" Target="../media/image37.png"/><Relationship Id="rId6" Type="http://schemas.openxmlformats.org/officeDocument/2006/relationships/image" Target="../media/image38.svg"/><Relationship Id="rId7" Type="http://schemas.openxmlformats.org/officeDocument/2006/relationships/image" Target="../media/image39.png"/><Relationship Id="rId8" Type="http://schemas.openxmlformats.org/officeDocument/2006/relationships/image" Target="../media/image40.svg"/><Relationship Id="rId9" Type="http://schemas.openxmlformats.org/officeDocument/2006/relationships/image" Target="../media/image41.png"/><Relationship Id="rId10" Type="http://schemas.openxmlformats.org/officeDocument/2006/relationships/image" Target="../media/image42.svg"/><Relationship Id="rId11" Type="http://schemas.openxmlformats.org/officeDocument/2006/relationships/image" Target="../media/image43.png"/><Relationship Id="rId12" Type="http://schemas.openxmlformats.org/officeDocument/2006/relationships/image" Target="../media/image44.svg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55.png"/><Relationship Id="rId4" Type="http://schemas.openxmlformats.org/officeDocument/2006/relationships/image" Target="../media/image56.svg"/><Relationship Id="rId5" Type="http://schemas.openxmlformats.org/officeDocument/2006/relationships/image" Target="../media/image57.png"/><Relationship Id="rId6" Type="http://schemas.openxmlformats.org/officeDocument/2006/relationships/image" Target="../media/image58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7.png"/><Relationship Id="rId4" Type="http://schemas.openxmlformats.org/officeDocument/2006/relationships/image" Target="../media/image78.svg"/><Relationship Id="rId5" Type="http://schemas.openxmlformats.org/officeDocument/2006/relationships/image" Target="../media/image79.png"/><Relationship Id="rId6" Type="http://schemas.openxmlformats.org/officeDocument/2006/relationships/image" Target="../media/image80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55.png"/><Relationship Id="rId3" Type="http://schemas.openxmlformats.org/officeDocument/2006/relationships/image" Target="../media/image103.png"/><Relationship Id="rId4" Type="http://schemas.openxmlformats.org/officeDocument/2006/relationships/image" Target="../media/image104.sv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135.png"/><Relationship Id="rId3" Type="http://schemas.openxmlformats.org/officeDocument/2006/relationships/image" Target="../media/image136.sv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55.png"/><Relationship Id="rId3" Type="http://schemas.openxmlformats.org/officeDocument/2006/relationships/image" Target="../media/image135.png"/><Relationship Id="rId4" Type="http://schemas.openxmlformats.org/officeDocument/2006/relationships/image" Target="../media/image136.sv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137.png"/><Relationship Id="rId3" Type="http://schemas.openxmlformats.org/officeDocument/2006/relationships/image" Target="../media/image138.svg"/><Relationship Id="rId4" Type="http://schemas.openxmlformats.org/officeDocument/2006/relationships/image" Target="../media/image139.png"/><Relationship Id="rId5" Type="http://schemas.openxmlformats.org/officeDocument/2006/relationships/image" Target="../media/image140.svg"/><Relationship Id="rId6" Type="http://schemas.openxmlformats.org/officeDocument/2006/relationships/image" Target="../media/image141.png"/><Relationship Id="rId7" Type="http://schemas.openxmlformats.org/officeDocument/2006/relationships/image" Target="../media/image142.svg"/><Relationship Id="rId8" Type="http://schemas.openxmlformats.org/officeDocument/2006/relationships/image" Target="../media/image143.png"/><Relationship Id="rId9" Type="http://schemas.openxmlformats.org/officeDocument/2006/relationships/image" Target="../media/image144.svg"/><Relationship Id="rId10" Type="http://schemas.openxmlformats.org/officeDocument/2006/relationships/image" Target="../media/image145.png"/><Relationship Id="rId11" Type="http://schemas.openxmlformats.org/officeDocument/2006/relationships/image" Target="../media/image146.svg"/><Relationship Id="rId12" Type="http://schemas.openxmlformats.org/officeDocument/2006/relationships/image" Target="../media/image147.png"/><Relationship Id="rId13" Type="http://schemas.openxmlformats.org/officeDocument/2006/relationships/image" Target="../media/image148.svg"/><Relationship Id="rId14" Type="http://schemas.openxmlformats.org/officeDocument/2006/relationships/image" Target="../media/image149.png"/><Relationship Id="rId15" Type="http://schemas.openxmlformats.org/officeDocument/2006/relationships/image" Target="../media/image150.svg"/><Relationship Id="rId16" Type="http://schemas.openxmlformats.org/officeDocument/2006/relationships/image" Target="../media/image151.png"/><Relationship Id="rId17" Type="http://schemas.openxmlformats.org/officeDocument/2006/relationships/image" Target="../media/image152.svg"/><Relationship Id="rId18" Type="http://schemas.openxmlformats.org/officeDocument/2006/relationships/image" Target="../media/image6.png"/><Relationship Id="rId19" Type="http://schemas.openxmlformats.org/officeDocument/2006/relationships/slideLayout" Target="../slideLayouts/slideLayout12.xml"/><Relationship Id="rId2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7.png"/><Relationship Id="rId2" Type="http://schemas.openxmlformats.org/officeDocument/2006/relationships/image" Target="../media/image118.svg"/><Relationship Id="rId3" Type="http://schemas.openxmlformats.org/officeDocument/2006/relationships/image" Target="../media/image153.png"/><Relationship Id="rId4" Type="http://schemas.openxmlformats.org/officeDocument/2006/relationships/image" Target="../media/image154.svg"/><Relationship Id="rId5" Type="http://schemas.openxmlformats.org/officeDocument/2006/relationships/image" Target="../media/image155.png"/><Relationship Id="rId6" Type="http://schemas.openxmlformats.org/officeDocument/2006/relationships/image" Target="../media/image156.svg"/><Relationship Id="rId7" Type="http://schemas.openxmlformats.org/officeDocument/2006/relationships/image" Target="../media/image157.png"/><Relationship Id="rId8" Type="http://schemas.openxmlformats.org/officeDocument/2006/relationships/image" Target="../media/image158.svg"/><Relationship Id="rId9" Type="http://schemas.openxmlformats.org/officeDocument/2006/relationships/image" Target="../media/image151.png"/><Relationship Id="rId10" Type="http://schemas.openxmlformats.org/officeDocument/2006/relationships/image" Target="../media/image152.svg"/><Relationship Id="rId11" Type="http://schemas.openxmlformats.org/officeDocument/2006/relationships/image" Target="../media/image159.png"/><Relationship Id="rId12" Type="http://schemas.openxmlformats.org/officeDocument/2006/relationships/image" Target="../media/image160.svg"/><Relationship Id="rId13" Type="http://schemas.openxmlformats.org/officeDocument/2006/relationships/image" Target="../media/image6.png"/><Relationship Id="rId14" Type="http://schemas.openxmlformats.org/officeDocument/2006/relationships/slideLayout" Target="../slideLayouts/slideLayout12.xml"/><Relationship Id="rId1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161.png"/><Relationship Id="rId4" Type="http://schemas.openxmlformats.org/officeDocument/2006/relationships/image" Target="../media/image162.svg"/><Relationship Id="rId5" Type="http://schemas.openxmlformats.org/officeDocument/2006/relationships/image" Target="../media/image163.png"/><Relationship Id="rId6" Type="http://schemas.openxmlformats.org/officeDocument/2006/relationships/image" Target="../media/image164.svg"/><Relationship Id="rId7" Type="http://schemas.openxmlformats.org/officeDocument/2006/relationships/image" Target="../media/image165.png"/><Relationship Id="rId8" Type="http://schemas.openxmlformats.org/officeDocument/2006/relationships/image" Target="../media/image166.svg"/><Relationship Id="rId9" Type="http://schemas.openxmlformats.org/officeDocument/2006/relationships/image" Target="../media/image167.png"/><Relationship Id="rId10" Type="http://schemas.openxmlformats.org/officeDocument/2006/relationships/image" Target="../media/image168.svg"/><Relationship Id="rId11" Type="http://schemas.openxmlformats.org/officeDocument/2006/relationships/image" Target="../media/image169.png"/><Relationship Id="rId12" Type="http://schemas.openxmlformats.org/officeDocument/2006/relationships/image" Target="../media/image170.svg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17" b="17"/>
          <a:stretch>
            <a:fillRect/>
          </a:stretch>
        </p:blipFill>
        <p:spPr>
          <a:xfrm>
            <a:off x="6934200" y="-1028700"/>
            <a:ext cx="8407400" cy="8407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2400300"/>
            <a:ext cx="12192000" cy="1930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F9F9F9">
                  <a:alpha val="100000"/>
                </a:srgbClr>
              </a:gs>
              <a:gs pos="88000">
                <a:srgbClr val="FFFFFF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46000"/>
          </a:blip>
          <a:srcRect l="123" r="123"/>
          <a:stretch>
            <a:fillRect/>
          </a:stretch>
        </p:blipFill>
        <p:spPr>
          <a:xfrm>
            <a:off x="10668000" y="2717800"/>
            <a:ext cx="1511300" cy="1193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701800" y="4953000"/>
            <a:ext cx="10502900" cy="127000"/>
          </a:xfrm>
          <a:prstGeom prst="roundRect">
            <a:avLst>
              <a:gd name="adj" fmla="val 0"/>
            </a:avLst>
          </a:prstGeom>
          <a:gradFill rotWithShape="0">
            <a:gsLst>
              <a:gs pos="67000">
                <a:srgbClr val="4C67C3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10800000" flipV="1">
            <a:off x="152400" y="2349500"/>
            <a:ext cx="12039600" cy="50800"/>
          </a:xfrm>
          <a:prstGeom prst="roundRect">
            <a:avLst>
              <a:gd name="adj" fmla="val 0"/>
            </a:avLst>
          </a:prstGeom>
          <a:gradFill rotWithShape="0">
            <a:gsLst>
              <a:gs pos="2000">
                <a:srgbClr val="FFFFFF">
                  <a:alpha val="100000"/>
                </a:srgbClr>
              </a:gs>
              <a:gs pos="67000">
                <a:srgbClr val="4C67C3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38300" y="4953000"/>
            <a:ext cx="127000" cy="127000"/>
          </a:xfrm>
          <a:prstGeom prst="ellipse">
            <a:avLst/>
          </a:prstGeom>
          <a:solidFill>
            <a:srgbClr val="4C67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60500" y="4953000"/>
            <a:ext cx="127000" cy="127000"/>
          </a:xfrm>
          <a:prstGeom prst="ellipse">
            <a:avLst/>
          </a:prstGeom>
          <a:solidFill>
            <a:srgbClr val="4C67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57300" y="4953000"/>
            <a:ext cx="127000" cy="127000"/>
          </a:xfrm>
          <a:prstGeom prst="ellipse">
            <a:avLst/>
          </a:prstGeom>
          <a:solidFill>
            <a:srgbClr val="4C67C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54100" y="4953000"/>
            <a:ext cx="127000" cy="127000"/>
          </a:xfrm>
          <a:prstGeom prst="ellipse">
            <a:avLst/>
          </a:prstGeom>
          <a:solidFill>
            <a:srgbClr val="4C67C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50900" y="4953000"/>
            <a:ext cx="127000" cy="127000"/>
          </a:xfrm>
          <a:prstGeom prst="ellipse">
            <a:avLst/>
          </a:prstGeom>
          <a:solidFill>
            <a:srgbClr val="4C67C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" y="4953000"/>
            <a:ext cx="127000" cy="127000"/>
          </a:xfrm>
          <a:prstGeom prst="ellipse">
            <a:avLst/>
          </a:prstGeom>
          <a:solidFill>
            <a:srgbClr val="4C67C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4500" y="4953000"/>
            <a:ext cx="127000" cy="127000"/>
          </a:xfrm>
          <a:prstGeom prst="ellipse">
            <a:avLst/>
          </a:prstGeom>
          <a:solidFill>
            <a:srgbClr val="4C67C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41300" y="4953000"/>
            <a:ext cx="127000" cy="127000"/>
          </a:xfrm>
          <a:prstGeom prst="ellipse">
            <a:avLst/>
          </a:prstGeom>
          <a:solidFill>
            <a:srgbClr val="4C67C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994900" y="2209800"/>
            <a:ext cx="76200" cy="76200"/>
          </a:xfrm>
          <a:prstGeom prst="ellipse">
            <a:avLst/>
          </a:prstGeom>
          <a:solidFill>
            <a:srgbClr val="4B83C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1912600" y="2247900"/>
            <a:ext cx="76200" cy="76200"/>
          </a:xfrm>
          <a:prstGeom prst="ellipse">
            <a:avLst/>
          </a:prstGeom>
          <a:solidFill>
            <a:srgbClr val="4B83C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rcRect t="363" b="363"/>
          <a:stretch>
            <a:fillRect/>
          </a:stretch>
        </p:blipFill>
        <p:spPr>
          <a:xfrm>
            <a:off x="381000" y="203200"/>
            <a:ext cx="1841500" cy="1028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0" y="2476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2784475"/>
            <a:ext cx="12192000" cy="1406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基于大模型智能体的装备软件研发</a:t>
            </a:r>
            <a:r>
              <a:rPr lang="zh-CN" alt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进展</a:t>
            </a:r>
            <a:endParaRPr lang="zh-CN" alt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0" y="431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五大Agent赋能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693400" y="6527800"/>
            <a:ext cx="927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26000" y="3797300"/>
            <a:ext cx="76200" cy="76200"/>
          </a:xfrm>
          <a:prstGeom prst="ellipse">
            <a:avLst/>
          </a:prstGeom>
          <a:solidFill>
            <a:srgbClr val="74DC8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54100" y="2171700"/>
            <a:ext cx="3302000" cy="3314700"/>
          </a:xfrm>
          <a:prstGeom prst="ellipse">
            <a:avLst/>
          </a:prstGeom>
          <a:solidFill>
            <a:srgbClr val="4C67C3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2">
            <a:off x="3175000" y="3822700"/>
            <a:ext cx="118116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36600" y="1854200"/>
            <a:ext cx="3937000" cy="3962400"/>
          </a:xfrm>
          <a:prstGeom prst="ellipse">
            <a:avLst/>
          </a:prstGeom>
          <a:noFill/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25600" y="2743200"/>
            <a:ext cx="2146300" cy="21590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51100" y="3060700"/>
            <a:ext cx="533400" cy="1308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" y="1663700"/>
            <a:ext cx="4292600" cy="4318000"/>
          </a:xfrm>
          <a:prstGeom prst="ellipse">
            <a:avLst/>
          </a:prstGeom>
          <a:noFill/>
          <a:ln w="12700" cap="flat" cmpd="sng">
            <a:solidFill>
              <a:srgbClr val="74DC8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22800" y="3797300"/>
            <a:ext cx="762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2" name="Connector 12"/>
          <p:cNvCxnSpPr/>
          <p:nvPr/>
        </p:nvCxnSpPr>
        <p:spPr>
          <a:xfrm rot="-95468">
            <a:off x="4356188" y="3816350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 rot="2700000">
            <a:off x="355600" y="1409700"/>
            <a:ext cx="4762500" cy="47625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4C67C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02900" y="368300"/>
            <a:ext cx="762000" cy="90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5" name="Connector 15"/>
          <p:cNvCxnSpPr/>
          <p:nvPr/>
        </p:nvCxnSpPr>
        <p:spPr>
          <a:xfrm rot="10720977">
            <a:off x="5118027" y="2108200"/>
            <a:ext cx="11049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029200" y="20828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5400000">
            <a:off x="5676900" y="1828800"/>
            <a:ext cx="444500" cy="5334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5400000">
            <a:off x="5410200" y="1866900"/>
            <a:ext cx="444500" cy="4445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9"/>
          <p:cNvCxnSpPr/>
          <p:nvPr/>
        </p:nvCxnSpPr>
        <p:spPr>
          <a:xfrm rot="5145555">
            <a:off x="6108587" y="20829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-17406">
            <a:off x="5727700" y="22987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651500" y="1739900"/>
            <a:ext cx="355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62700" y="1651000"/>
            <a:ext cx="5486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装备软件研发痛点与智能体应对思路</a:t>
            </a:r>
            <a:endParaRPr lang="en-US" sz="24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 rot="5400000">
            <a:off x="6337300" y="3530600"/>
            <a:ext cx="444500" cy="5588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 rot="5400000">
            <a:off x="6057900" y="3581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5" name="Connector 25"/>
          <p:cNvCxnSpPr/>
          <p:nvPr/>
        </p:nvCxnSpPr>
        <p:spPr>
          <a:xfrm rot="5145555">
            <a:off x="6768987" y="3797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6" name="Connector 26"/>
          <p:cNvCxnSpPr/>
          <p:nvPr/>
        </p:nvCxnSpPr>
        <p:spPr>
          <a:xfrm>
            <a:off x="6375400" y="40259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11900" y="3454400"/>
            <a:ext cx="368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35800" y="3365500"/>
            <a:ext cx="485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各</a:t>
            </a:r>
            <a:r>
              <a:rPr lang="zh-CN" alt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</a:t>
            </a:r>
            <a:r>
              <a:rPr 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功能介绍</a:t>
            </a:r>
            <a:endParaRPr lang="en-US" sz="2400" b="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 rot="2700000">
            <a:off x="-762000" y="609600"/>
            <a:ext cx="6286500" cy="6286500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 rot="5400000">
            <a:off x="5613400" y="5181600"/>
            <a:ext cx="444500" cy="5461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 rot="5400000">
            <a:off x="5334000" y="5232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2" name="Connector 32"/>
          <p:cNvCxnSpPr/>
          <p:nvPr/>
        </p:nvCxnSpPr>
        <p:spPr>
          <a:xfrm rot="5145555">
            <a:off x="6045087" y="5448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3" name="Connector 33"/>
          <p:cNvCxnSpPr/>
          <p:nvPr/>
        </p:nvCxnSpPr>
        <p:spPr>
          <a:xfrm>
            <a:off x="5651500" y="5676900"/>
            <a:ext cx="49530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5575300" y="5105400"/>
            <a:ext cx="3683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73800" y="5016500"/>
            <a:ext cx="5359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基于智能体的软件工厂蓝图</a:t>
            </a:r>
            <a:endParaRPr lang="en-US" sz="2400" b="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6" name="Connector 36"/>
          <p:cNvCxnSpPr/>
          <p:nvPr/>
        </p:nvCxnSpPr>
        <p:spPr>
          <a:xfrm rot="10736345">
            <a:off x="5067241" y="5454650"/>
            <a:ext cx="685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4978400" y="54356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8" name="Connector 38"/>
          <p:cNvCxnSpPr/>
          <p:nvPr/>
        </p:nvCxnSpPr>
        <p:spPr>
          <a:xfrm rot="10677246">
            <a:off x="5524387" y="3810001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5461000" y="3771900"/>
            <a:ext cx="88900" cy="889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痛点</a:t>
            </a:r>
            <a:r>
              <a:rPr lang="zh-CN" alt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</a:t>
            </a:r>
            <a:endParaRPr lang="zh-CN" altLang="en-US" sz="2400" b="1" i="0" u="none" strike="noStrike">
              <a:solidFill>
                <a:srgbClr val="005A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69900" y="952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装备软件研发的核心挑战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1778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08000" y="177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2032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1844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安全性分析门槛高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51000" y="2603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STPA/FTA/FMEA等分析需深厚专业积累，人工分析效率低且易出错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18000" y="1778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318000" y="177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572000" y="2032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1844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461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需求-测试追溯难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461000" y="2603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测试用例与需求规格脱节，覆盖率无法精准度量，变更影响难评估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1778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177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82000" y="2032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0" y="21844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271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代码走查成本大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2603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依赖专家经验，走查人员配置多、周期长，且检查标准难以统一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3937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08000" y="3937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62000" y="4191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43434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651000" y="4191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静态分析误报多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651000" y="4762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传统扫描工具误报率高，大量无效告警消耗人工，确认耗时耗力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18000" y="3937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4318000" y="3937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572000" y="4191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4400" y="4343400"/>
            <a:ext cx="406400" cy="406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5461000" y="4191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单元测试覆盖低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461000" y="4762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嵌入式软件依赖硬件环境，单测编写难度大，整体自动化程度不足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3937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005AB4">
              <a:alpha val="8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128000" y="4445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痛点直击 · 驱动研发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5AB4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针对上述核心挑战，打造 AgentForSE 智能研发平台</a:t>
            </a:r>
            <a:endParaRPr lang="en-US" sz="1200" b="0" i="0" u="none" strike="noStrike">
              <a:solidFill>
                <a:srgbClr val="005AB4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智能体应对思路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" y="1016000"/>
            <a:ext cx="5461000" cy="5334000"/>
          </a:xfrm>
          <a:prstGeom prst="roundRect">
            <a:avLst>
              <a:gd name="adj" fmla="val 238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97DB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23900" y="1206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装备软件研发全生命周期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23900" y="1778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968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1879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SafeWise (系统安全分析)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" y="2667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2857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2768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安全性设计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SafeMatrix (功能安全分析)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3900" y="3556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3746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657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编码实现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SmartInsight (自动化代码走查)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" y="4445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4635500"/>
            <a:ext cx="381000" cy="381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4546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SmartST (系统测试) / SmartUT (单元测试)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" y="5334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5524500"/>
            <a:ext cx="381000" cy="381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5435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审查交付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数据全流程可追溯，质量闭环管理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61100" y="1016000"/>
            <a:ext cx="5461000" cy="5334000"/>
          </a:xfrm>
          <a:prstGeom prst="roundRect">
            <a:avLst>
              <a:gd name="adj" fmla="val 238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15100" y="1206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核心设计理念 (MetaGPT落地)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15100" y="1778000"/>
            <a:ext cx="4953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05600" y="20320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29500" y="1905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双引擎驱动架构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以大模型为推理引擎，以规则引擎为质量门禁，确保结果合规。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515100" y="2921000"/>
            <a:ext cx="4953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5600" y="31750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429500" y="3048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流水线协作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多智能体并行取代人工串行流程，大幅提升研发与测试效率。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515100" y="4064000"/>
            <a:ext cx="4953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05600" y="4318000"/>
            <a:ext cx="508000" cy="508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429500" y="4191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数据结构化与可追溯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 → 结构化数据 → 自动输出，实现研发资产的沉淀与复用。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515100" y="5207000"/>
            <a:ext cx="4953000" cy="889000"/>
          </a:xfrm>
          <a:prstGeom prst="roundRect">
            <a:avLst>
              <a:gd name="adj" fmla="val 714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05600" y="5397500"/>
            <a:ext cx="508000" cy="508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429500" y="5334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最终目标：构建“装备软件工厂”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AgentForSE 五大智能体全景图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5240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80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SafeWise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系统安全分析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6856">
            <a:off x="6350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080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STPA 安全分析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STPA 多 Agent 流水线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7686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4400" y="15240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8956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SafeMatrix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8956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功能安全分析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6856">
            <a:off x="30226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8956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FTA + FMEA 综合分析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8956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故障分析多 Agent 流水线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1562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2000" y="1524000"/>
            <a:ext cx="762000" cy="762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2832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SmartInsight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2832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智能代码走查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6856">
            <a:off x="54102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52832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代码质量深度确认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2832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 Agentic 架构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5438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29600" y="1524000"/>
            <a:ext cx="762000" cy="762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6708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SmartST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708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系统自动化测试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26856">
            <a:off x="77978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6708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需求驱动的测试生成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708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测试全链路闭环管理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9314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17200" y="1524000"/>
            <a:ext cx="762000" cy="762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00584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SmartUT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0584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单元测试生成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26856">
            <a:off x="101854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100584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自动化单元测试用例生成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00584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专用单元测试 Agent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693400" y="6527800"/>
            <a:ext cx="927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26000" y="3797300"/>
            <a:ext cx="76200" cy="76200"/>
          </a:xfrm>
          <a:prstGeom prst="ellipse">
            <a:avLst/>
          </a:prstGeom>
          <a:solidFill>
            <a:srgbClr val="74DC8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54100" y="2171700"/>
            <a:ext cx="3302000" cy="3314700"/>
          </a:xfrm>
          <a:prstGeom prst="ellipse">
            <a:avLst/>
          </a:prstGeom>
          <a:solidFill>
            <a:srgbClr val="4C67C3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2">
            <a:off x="3175000" y="3822700"/>
            <a:ext cx="118116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36600" y="1854200"/>
            <a:ext cx="3937000" cy="3962400"/>
          </a:xfrm>
          <a:prstGeom prst="ellipse">
            <a:avLst/>
          </a:prstGeom>
          <a:noFill/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25600" y="2743200"/>
            <a:ext cx="2146300" cy="21590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51100" y="3060700"/>
            <a:ext cx="533400" cy="1308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" y="1663700"/>
            <a:ext cx="4292600" cy="4318000"/>
          </a:xfrm>
          <a:prstGeom prst="ellipse">
            <a:avLst/>
          </a:prstGeom>
          <a:noFill/>
          <a:ln w="12700" cap="flat" cmpd="sng">
            <a:solidFill>
              <a:srgbClr val="74DC8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22800" y="3797300"/>
            <a:ext cx="762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2" name="Connector 12"/>
          <p:cNvCxnSpPr/>
          <p:nvPr/>
        </p:nvCxnSpPr>
        <p:spPr>
          <a:xfrm rot="-95468">
            <a:off x="4356188" y="3816350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 rot="2700000">
            <a:off x="355600" y="1409700"/>
            <a:ext cx="4762500" cy="47625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4C67C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02900" y="368300"/>
            <a:ext cx="762000" cy="90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5" name="Connector 15"/>
          <p:cNvCxnSpPr/>
          <p:nvPr/>
        </p:nvCxnSpPr>
        <p:spPr>
          <a:xfrm rot="10720977">
            <a:off x="5118027" y="2108200"/>
            <a:ext cx="11049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029200" y="20828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5400000">
            <a:off x="5676900" y="1828800"/>
            <a:ext cx="444500" cy="5334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5400000">
            <a:off x="5410200" y="1866900"/>
            <a:ext cx="444500" cy="4445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9"/>
          <p:cNvCxnSpPr/>
          <p:nvPr/>
        </p:nvCxnSpPr>
        <p:spPr>
          <a:xfrm rot="5145555">
            <a:off x="6108587" y="20829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-17406">
            <a:off x="5727700" y="22987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651500" y="1739900"/>
            <a:ext cx="355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62700" y="1651000"/>
            <a:ext cx="5486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装备软件研发痛点与智能体应对思路</a:t>
            </a:r>
            <a:endParaRPr lang="en-US" sz="240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 rot="5400000">
            <a:off x="6337300" y="3530600"/>
            <a:ext cx="444500" cy="5588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 rot="5400000">
            <a:off x="6057900" y="3581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5" name="Connector 25"/>
          <p:cNvCxnSpPr/>
          <p:nvPr/>
        </p:nvCxnSpPr>
        <p:spPr>
          <a:xfrm rot="5145555">
            <a:off x="6768987" y="3797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6" name="Connector 26"/>
          <p:cNvCxnSpPr/>
          <p:nvPr/>
        </p:nvCxnSpPr>
        <p:spPr>
          <a:xfrm>
            <a:off x="6375400" y="40259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11900" y="3454400"/>
            <a:ext cx="368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35800" y="3365500"/>
            <a:ext cx="485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各</a:t>
            </a:r>
            <a:r>
              <a:rPr lang="zh-CN" alt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</a:t>
            </a:r>
            <a:r>
              <a:rPr 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功能介绍</a:t>
            </a:r>
            <a:endParaRPr lang="en-US" sz="24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 rot="2700000">
            <a:off x="-762000" y="609600"/>
            <a:ext cx="6286500" cy="6286500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 rot="5400000">
            <a:off x="5613400" y="5181600"/>
            <a:ext cx="444500" cy="5461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 rot="5400000">
            <a:off x="5334000" y="5232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2" name="Connector 32"/>
          <p:cNvCxnSpPr/>
          <p:nvPr/>
        </p:nvCxnSpPr>
        <p:spPr>
          <a:xfrm rot="5145555">
            <a:off x="6045087" y="5448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3" name="Connector 33"/>
          <p:cNvCxnSpPr/>
          <p:nvPr/>
        </p:nvCxnSpPr>
        <p:spPr>
          <a:xfrm>
            <a:off x="5651500" y="5676900"/>
            <a:ext cx="49530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5575300" y="5105400"/>
            <a:ext cx="3683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73800" y="5016500"/>
            <a:ext cx="5359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基于智能体的软件工厂蓝图</a:t>
            </a:r>
            <a:endParaRPr lang="en-US" sz="2400" b="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6" name="Connector 36"/>
          <p:cNvCxnSpPr/>
          <p:nvPr/>
        </p:nvCxnSpPr>
        <p:spPr>
          <a:xfrm rot="10736345">
            <a:off x="5067241" y="5454650"/>
            <a:ext cx="685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4978400" y="54356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8" name="Connector 38"/>
          <p:cNvCxnSpPr/>
          <p:nvPr/>
        </p:nvCxnSpPr>
        <p:spPr>
          <a:xfrm rot="10677246">
            <a:off x="5524387" y="3810001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5461000" y="3771900"/>
            <a:ext cx="88900" cy="889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SafeWise — 系统安全分析智能体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/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" y="1016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23900" y="12065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需求痛点 &amp; 已有能力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23900" y="1841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070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1930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【痛点】航天/航空型号STPA安全性分析需深厚专业积累，人工分析耗时数周，效率低且易出错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" y="2730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9591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2819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多Agent协同流水线，一键启动全流程STPA自动化分析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3900" y="3619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848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3708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构建完整追溯链：损失→危险→约束→需求→UCA→测试用例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" y="4508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7371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597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兼容DeepSeek/GPT-4o/Qwen/Claude等主流大模型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" y="5397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5626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5486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完善系统工程配置：飞行阶段、控制链路及系统组成管理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61100" y="1016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15100" y="12065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研发重点 &amp; 应用效益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15100" y="18415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2133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88200" y="1968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【研发重点】STAMP因果图可视化；与SafeMatrix深度联动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15100" y="29210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32131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88200" y="3048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【研发重点】GJB 900A国军标报告一键导出；引入行业专家经验库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15100" y="40005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42926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188200" y="4127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【应用效益】分析周期：数周→数小时，显著降低安全分析门槛与专业依赖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515100" y="50800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53721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188200" y="5207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【应用效益】全链路可追溯，满足GJB 900A军工标准化交付要求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SafeMatrix — 软件功能安全分析智能体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/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143000"/>
            <a:ext cx="5461000" cy="5334000"/>
          </a:xfrm>
          <a:prstGeom prst="roundRect">
            <a:avLst>
              <a:gd name="adj" fmla="val 357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139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需求痛点 &amp; 已有能力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159000"/>
            <a:ext cx="4953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324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2222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【痛点】软件FTA/FMEA分析专业门槛高，报告编写耗时；需求变更后增量更新困难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921000"/>
            <a:ext cx="4953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0861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2984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两阶段SFTA+FMEA一体化分析，基于SRS/SDD自动生成故障树与FMEA表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683000"/>
            <a:ext cx="4953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848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3746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基于S/O/D计算RPN风险值，精准定位高风险点，支持版本追踪与增量更新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4953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6101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508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故障树可视化画布（交互式AND/OR节点）；一键导出Word报告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207000"/>
            <a:ext cx="4953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435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5308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内置典型软件失效模式知识库，支持多轮交互迭代持续精化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1143000"/>
            <a:ext cx="5461000" cy="5334000"/>
          </a:xfrm>
          <a:prstGeom prst="roundRect">
            <a:avLst>
              <a:gd name="adj" fmla="val 3571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139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研发重点 &amp; 应用效益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2159000"/>
            <a:ext cx="495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4511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12000" y="2286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【研发重点】GJB/DO-178C标准报告模板自动生成；全面支持FMECA标准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3175000"/>
            <a:ext cx="495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34671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12000" y="3302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【研发重点】深度接入SafeWise，STPA结果自动驱动SFTA生成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4191000"/>
            <a:ext cx="495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4831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112000" y="4318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【应用效益】需求→设计两阶段覆盖，安全分析报告自动生成，周期大幅缩短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77000" y="5207000"/>
            <a:ext cx="495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54991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112000" y="5334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【应用效益】智能变更感知，仅对变更部分增量分析，迭代响应效率显著提升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SmartInsight — 代码走查智能体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/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" y="1079500"/>
            <a:ext cx="5334000" cy="5207000"/>
          </a:xfrm>
          <a:prstGeom prst="roundRect">
            <a:avLst>
              <a:gd name="adj" fmla="val 2439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23900" y="1270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需求痛点 &amp; 已有能力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3900" y="1905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70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006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【痛点】代码走查依赖专家，人员配置多周期长；静态分析工具误报率高，消耗大量无效确认工作量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" y="2667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832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2768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 ReAct Agentic自主搜索引擎，渐进式深度分析，突破大代码库Token限制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900" y="3429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594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3530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支持12+主流静态分析工具报告归一化，AI智能消除误报，自动过滤无效告警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" y="4191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356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292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设计一致性验证、需求满足性确认、已知故障模式识别全场景覆盖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" y="4953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118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054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MySQL经验库沉淀，历史知识复用；自动化生成PPT/Word可视化走查报告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" y="5715000"/>
            <a:ext cx="4826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816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97000" y="5816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RepoMap代码仓结构化地图；结论附带代码行号，支持人工溯源复核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61100" y="1079500"/>
            <a:ext cx="5334000" cy="5207000"/>
          </a:xfrm>
          <a:prstGeom prst="roundRect">
            <a:avLst>
              <a:gd name="adj" fmla="val 2439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15100" y="1270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研发重点 &amp; 应用效益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15100" y="20320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22860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239000" y="2159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【研发重点】深度接入CI/CD，代码提交即触发走查；增量走查仅分析Diff部分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15100" y="30480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33020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239000" y="3175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【研发重点】闭环反哺：历史经验持续优化AI精准度；可视化走查进度看板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15100" y="40640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43180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239000" y="4191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【应用效益】大幅消除静态分析误报干扰，工程师聚焦真实缺陷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515100" y="50800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5334000"/>
            <a:ext cx="355600" cy="3556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239000" y="5207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【应用效益】自动化走查报告，显著降低人工走查成本与周期</a:t>
            </a:r>
            <a:endParaRPr lang="en-US" sz="1100"/>
          </a:p>
        </p:txBody>
      </p:sp>
      <p:cxnSp>
        <p:nvCxnSpPr>
          <p:cNvPr id="39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0" name="Picture 5"/>
          <p:cNvPicPr>
            <a:picLocks noChangeAspect="1"/>
          </p:cNvPicPr>
          <p:nvPr/>
        </p:nvPicPr>
        <p:blipFill>
          <a:blip r:embed="rId5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SmartUT — 单元测试智能体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/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" y="1143000"/>
            <a:ext cx="5461000" cy="5207000"/>
          </a:xfrm>
          <a:prstGeom prst="roundRect">
            <a:avLst>
              <a:gd name="adj" fmla="val 2439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239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需求痛点 &amp; 已有能力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3900" y="2032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197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133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【痛点】嵌入式软件依赖硬件环境，单元测试编写难度大、自动化程度不足，测试覆盖率低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" y="2794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959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2895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代码自动解析，AI生成符合装备软件标准的高质量单元测试用例草稿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900" y="3556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3721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3657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支持语句/分支/MC/DC等多种覆盖率分析模式，边界值自动推断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" y="4318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4483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419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质量门禁：仅基于确认代码版本生成，支持定向重生成与增量分析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" y="5080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5245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181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自动统计覆盖率，一键导出标准化单元测试报告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61100" y="1143000"/>
            <a:ext cx="5461000" cy="5207000"/>
          </a:xfrm>
          <a:prstGeom prst="roundRect">
            <a:avLst>
              <a:gd name="adj" fmla="val 2439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151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研发重点 &amp; 应用效益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15100" y="2032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2349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88200" y="2159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【研发重点】与SmartInsight联动，走查问题自动关联测试用例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15100" y="3175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3492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88200" y="3302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【研发重点】接入CI/CD自动触发；集成C++TEST/GoogleTest；GJB 5000A报告生成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15100" y="4318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4635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188200" y="4445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【应用效益】大幅降低嵌入式单测编写门槛，显著提升C/C++代码覆盖率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15100" y="5461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56896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88200" y="5562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【应用效益】与SmartST形成单元+系统完整测试闭环，质量全面覆盖</a:t>
            </a:r>
            <a:endParaRPr lang="en-US" sz="1100"/>
          </a:p>
        </p:txBody>
      </p:sp>
      <p:cxnSp>
        <p:nvCxnSpPr>
          <p:cNvPr id="36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" name="Picture 5"/>
          <p:cNvPicPr>
            <a:picLocks noChangeAspect="1"/>
          </p:cNvPicPr>
          <p:nvPr/>
        </p:nvPicPr>
        <p:blipFill>
          <a:blip r:embed="rId4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2.5 SmartST — 系统测试智能体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/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" y="1143000"/>
            <a:ext cx="5461000" cy="5207000"/>
          </a:xfrm>
          <a:prstGeom prst="roundRect">
            <a:avLst>
              <a:gd name="adj" fmla="val 2439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239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需求痛点 &amp; 已有能力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3900" y="2032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197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133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【痛点】配置项测试用例设计耗时，需求-测试追溯困难，覆盖率难以精准度量，变更影响评估困难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" y="2794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959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2895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文档自动解析与需求结构化提取，基于确认需求AI自动生成高质量测试用例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900" y="3556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3721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3657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支持需求增量重解析+用例定向重生成，响应敏捷迭代变更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" y="4318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4483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419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执行结果自动回填，完整保留测试证据链；自动统计需求覆盖率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" y="5080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5245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181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一键导出标准化测试报告；支持私有化部署，核心数据不出内网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61100" y="1143000"/>
            <a:ext cx="5461000" cy="5207000"/>
          </a:xfrm>
          <a:prstGeom prst="roundRect">
            <a:avLst>
              <a:gd name="adj" fmla="val 2439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151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研发重点 &amp; 应用效益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15100" y="2032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2349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88200" y="2159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【研发重点】与SmartInsight联动，走查问题自动关联测试用例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15100" y="3175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3492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88200" y="3302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【研发重点】GJB 5000A报告自动生成；无缝接入CI/CD触发回归测试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15100" y="4318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4635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188200" y="4445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【应用效益】需求100%追溯覆盖，测试用例设计效率提升60%+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15100" y="5461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56896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88200" y="5562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【应用效益】打通测试流程数据孤岛，全链路追溯，满足军工标准化交付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693400" y="6527800"/>
            <a:ext cx="927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26000" y="3797300"/>
            <a:ext cx="76200" cy="76200"/>
          </a:xfrm>
          <a:prstGeom prst="ellipse">
            <a:avLst/>
          </a:prstGeom>
          <a:solidFill>
            <a:srgbClr val="74DC8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54100" y="2171700"/>
            <a:ext cx="3302000" cy="3314700"/>
          </a:xfrm>
          <a:prstGeom prst="ellipse">
            <a:avLst/>
          </a:prstGeom>
          <a:solidFill>
            <a:srgbClr val="4C67C3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2">
            <a:off x="3175000" y="3822700"/>
            <a:ext cx="118116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36600" y="1854200"/>
            <a:ext cx="3937000" cy="3962400"/>
          </a:xfrm>
          <a:prstGeom prst="ellipse">
            <a:avLst/>
          </a:prstGeom>
          <a:noFill/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25600" y="2743200"/>
            <a:ext cx="2146300" cy="21590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51100" y="3060700"/>
            <a:ext cx="533400" cy="1308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" y="1663700"/>
            <a:ext cx="4292600" cy="4318000"/>
          </a:xfrm>
          <a:prstGeom prst="ellipse">
            <a:avLst/>
          </a:prstGeom>
          <a:noFill/>
          <a:ln w="12700" cap="flat" cmpd="sng">
            <a:solidFill>
              <a:srgbClr val="74DC8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22800" y="3797300"/>
            <a:ext cx="762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2" name="Connector 12"/>
          <p:cNvCxnSpPr/>
          <p:nvPr/>
        </p:nvCxnSpPr>
        <p:spPr>
          <a:xfrm rot="-95468">
            <a:off x="4356188" y="3816350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 rot="2700000">
            <a:off x="355600" y="1409700"/>
            <a:ext cx="4762500" cy="47625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4C67C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02900" y="368300"/>
            <a:ext cx="762000" cy="90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5" name="Connector 15"/>
          <p:cNvCxnSpPr/>
          <p:nvPr/>
        </p:nvCxnSpPr>
        <p:spPr>
          <a:xfrm rot="10720977">
            <a:off x="5118027" y="2108200"/>
            <a:ext cx="11049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029200" y="20828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5400000">
            <a:off x="5676900" y="1828800"/>
            <a:ext cx="444500" cy="5334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5400000">
            <a:off x="5410200" y="1866900"/>
            <a:ext cx="444500" cy="4445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9"/>
          <p:cNvCxnSpPr/>
          <p:nvPr/>
        </p:nvCxnSpPr>
        <p:spPr>
          <a:xfrm rot="5145555">
            <a:off x="6108587" y="20829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-17406">
            <a:off x="5727700" y="22987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651500" y="1739900"/>
            <a:ext cx="355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62700" y="1651000"/>
            <a:ext cx="5486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装备软件研发痛点与智能体应对思路</a:t>
            </a:r>
            <a:endParaRPr lang="en-US" sz="240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 rot="5400000">
            <a:off x="6337300" y="3530600"/>
            <a:ext cx="444500" cy="5588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 rot="5400000">
            <a:off x="6057900" y="3581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5" name="Connector 25"/>
          <p:cNvCxnSpPr/>
          <p:nvPr/>
        </p:nvCxnSpPr>
        <p:spPr>
          <a:xfrm rot="5145555">
            <a:off x="6768987" y="3797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6" name="Connector 26"/>
          <p:cNvCxnSpPr/>
          <p:nvPr/>
        </p:nvCxnSpPr>
        <p:spPr>
          <a:xfrm>
            <a:off x="6375400" y="40259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11900" y="3454400"/>
            <a:ext cx="368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35800" y="3365500"/>
            <a:ext cx="485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各</a:t>
            </a:r>
            <a:r>
              <a:rPr lang="zh-CN" alt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</a:t>
            </a:r>
            <a:r>
              <a:rPr 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功能介绍</a:t>
            </a:r>
            <a:endParaRPr lang="en-US" sz="240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 rot="2700000">
            <a:off x="-762000" y="609600"/>
            <a:ext cx="6286500" cy="6286500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 rot="5400000">
            <a:off x="5613400" y="5181600"/>
            <a:ext cx="444500" cy="5461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 rot="5400000">
            <a:off x="5334000" y="5232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2" name="Connector 32"/>
          <p:cNvCxnSpPr/>
          <p:nvPr/>
        </p:nvCxnSpPr>
        <p:spPr>
          <a:xfrm rot="5145555">
            <a:off x="6045087" y="5448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3" name="Connector 33"/>
          <p:cNvCxnSpPr/>
          <p:nvPr/>
        </p:nvCxnSpPr>
        <p:spPr>
          <a:xfrm>
            <a:off x="5651500" y="5676900"/>
            <a:ext cx="49530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5575300" y="5105400"/>
            <a:ext cx="3683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73800" y="5016500"/>
            <a:ext cx="5359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基于智能体的软件工厂蓝图</a:t>
            </a:r>
            <a:endParaRPr lang="en-US" sz="24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6" name="Connector 36"/>
          <p:cNvCxnSpPr/>
          <p:nvPr/>
        </p:nvCxnSpPr>
        <p:spPr>
          <a:xfrm rot="10736345">
            <a:off x="5067241" y="5454650"/>
            <a:ext cx="685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4978400" y="54356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8" name="Connector 38"/>
          <p:cNvCxnSpPr/>
          <p:nvPr/>
        </p:nvCxnSpPr>
        <p:spPr>
          <a:xfrm rot="10677246">
            <a:off x="5524387" y="3810001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5461000" y="3771900"/>
            <a:ext cx="88900" cy="889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190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MetaGPT理念：从单Agent到软件工厂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079500"/>
            <a:ext cx="11430000" cy="1016000"/>
          </a:xfrm>
          <a:prstGeom prst="roundRect">
            <a:avLst>
              <a:gd name="adj" fmla="val 12500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71500" y="1206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核心思想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1206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利用大语言模型(LLM)驱动多智能体(Agent)协作，模拟完整的软件工程团队（产品、研发、测试、运维），将软件开发流程标准化、自动化，像现代化工厂流水线一样高效、高质量地批量生产软件。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2286000"/>
            <a:ext cx="5461000" cy="4191000"/>
          </a:xfrm>
          <a:prstGeom prst="roundRect">
            <a:avLst>
              <a:gd name="adj" fmla="val 303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" y="2286000"/>
            <a:ext cx="5461000" cy="508000"/>
          </a:xfrm>
          <a:prstGeom prst="roundRect">
            <a:avLst>
              <a:gd name="adj" fmla="val 25000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81000" y="2286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 传统软件开发模式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2984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3162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3048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人工分析师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人工梳理需求，产出冗长的需求规格说明书 (PRD)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3873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4051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70000" y="3937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人工设计师/架构师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手绘架构图，编写详细设计文档，依赖个人经验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8000" y="4762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" y="4940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70000" y="4826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人工开发者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手动编写业务逻辑代码，效率低且易产生语法错误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5651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500" y="58293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70000" y="5715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人工测试/审查员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手动执行测试用例，代码评审周期长，覆盖率低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096000" y="2286000"/>
            <a:ext cx="5461000" cy="4191000"/>
          </a:xfrm>
          <a:prstGeom prst="roundRect">
            <a:avLst>
              <a:gd name="adj" fmla="val 303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096000" y="2286000"/>
            <a:ext cx="5461000" cy="508000"/>
          </a:xfrm>
          <a:prstGeom prst="roundRect">
            <a:avLst>
              <a:gd name="adj" fmla="val 25000"/>
            </a:avLst>
          </a:prstGeom>
          <a:solidFill>
            <a:srgbClr val="097D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096000" y="2286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🤖 AI 软件工厂 (MetaGPT)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2984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31623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85000" y="3048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SafeWise / SafeMatrix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输入产品一句话需求，自动生成安全分析与技术架构文档</a:t>
            </a:r>
            <a:endParaRPr lang="en-US" sz="11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223000" y="3873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40513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85000" y="3937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SmartInsight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自动进行代码静态走查，生成结构化、可视化的质量报告</a:t>
            </a:r>
            <a:endParaRPr lang="en-US" sz="11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223000" y="4762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49403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985000" y="4826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SmartST / SmartUT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根据设计文档自动生成功能代码，并执行单元测试与回归</a:t>
            </a:r>
            <a:endParaRPr lang="en-US" sz="11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223000" y="5651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13500" y="58293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6985000" y="5715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多Agent 流水线协作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角色间通过共享知识库流转信息，自动完成版本归档与交付</a:t>
            </a:r>
            <a:endParaRPr lang="en-US" sz="11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8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9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40" name="Picture 5"/>
          <p:cNvPicPr>
            <a:picLocks noChangeAspect="1"/>
          </p:cNvPicPr>
          <p:nvPr/>
        </p:nvPicPr>
        <p:blipFill>
          <a:blip r:embed="rId18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27000"/>
            <a:ext cx="762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装备软件智能工厂 · 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609600"/>
            <a:ext cx="762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核心理念：MetaGPT多智能体协同 · 航天装备软件全流程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1430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333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137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基础设施层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" y="190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构建私有化算力池、容器云与对象存储集群；部署军工级数据库，严格执行内网隔离策略，确保核心数据不出域，全面满足安全合规要求。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191000" y="11430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0" y="1333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137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大模型服务层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90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集成私有化LLM推理引擎与向量数据库，提供高性能Embedding服务；建立统一Prompt工程库与模型智能调度中心，为上层应用提供统一的AI能力支撑。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11430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333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6500" y="137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智能体编排层 (核心)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190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借鉴MetaGPT思想，实现多角色智能体协同与任务自动拆解；依托统一Orchestrator进行全局调度、复杂流程编排与状态管控，并内置关键节点的人工评审机制。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1000" y="3746500"/>
            <a:ext cx="3556000" cy="2413000"/>
          </a:xfrm>
          <a:prstGeom prst="roundRect">
            <a:avLst>
              <a:gd name="adj" fmla="val 5263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solidFill>
                <a:srgbClr val="FF0000"/>
              </a:solidFill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3937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065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领域智能体层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71500" y="4508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针对航天装备特性定制五大专业智能体：SafeWise(系统安全)、SafeMatrix(功能安全)、SmartInsight(代码走查)、SmartST(系统测试)、SmartUT(单元测试)。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191000" y="37465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1500" y="39370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0165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工程过程层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81500" y="4508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覆盖“需求→安全设计→编码→测试→审查→交付”全生命周期；深度适配GJB 5000A、GJB 900A及DO-178C等军工/航空航天标准流程要求。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01000" y="37465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1500" y="3937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8265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应用交付层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91500" y="4508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提供研发一站式工作台与实时质量看板，支持全链路数据追溯；任务结束自动输出标准化测试报告、产品归档包及完整的工程交付物。</a:t>
            </a:r>
            <a:endParaRPr lang="en-US" sz="1100"/>
          </a:p>
        </p:txBody>
      </p:sp>
      <p:cxnSp>
        <p:nvCxnSpPr>
          <p:cNvPr id="29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0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31" name="Picture 5"/>
          <p:cNvPicPr>
            <a:picLocks noChangeAspect="1"/>
          </p:cNvPicPr>
          <p:nvPr/>
        </p:nvPicPr>
        <p:blipFill>
          <a:blip r:embed="rId13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总结：Agent全域覆盖与研发范式演进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" y="1016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12827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49400" y="120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SafeWise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49400" y="1651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系统安全性分析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基于STPA多Agent流水线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1016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12827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97500" y="120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SafeMatrix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97500" y="1651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软件功能安全分析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SFTA + FMEA 分析能力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66100" y="1016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6600" y="12827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245600" y="120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SmartInsight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245600" y="1651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智能化代码走查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Agentic搜索 + 自动误报消除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" y="2667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933700"/>
            <a:ext cx="762000" cy="762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49400" y="285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SmartST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49400" y="3302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全链路系统测试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基于需求驱动的自动化验证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0" y="2667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08500" y="2933700"/>
            <a:ext cx="762000" cy="762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397500" y="285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SmartUT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397500" y="3302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智能单元测试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自动化生成高覆盖率测试用例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9900" y="4318000"/>
            <a:ext cx="11252200" cy="889000"/>
          </a:xfrm>
          <a:prstGeom prst="roundRect">
            <a:avLst>
              <a:gd name="adj" fmla="val 14285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23900" y="4445000"/>
            <a:ext cx="1074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核心理念：让大模型承担繁重、重复的分析劳动，释放工程师精力，专注于创造性的判断与决策。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69900" y="5461000"/>
            <a:ext cx="11252200" cy="889000"/>
          </a:xfrm>
          <a:prstGeom prst="roundRect">
            <a:avLst>
              <a:gd name="adj" fmla="val 14285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23900" y="5588000"/>
            <a:ext cx="1074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从工具 ➔ 智能体 ➔ 软件工厂 —— 这是装备软件研发的下一个范式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794000" y="4648200"/>
            <a:ext cx="44323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-899999">
            <a:off x="8978900" y="406400"/>
            <a:ext cx="5981700" cy="598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>
            <a:off x="749300" y="3797300"/>
            <a:ext cx="65913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39000">
                  <a:srgbClr val="4C67C3">
                    <a:alpha val="100000"/>
                  </a:srgbClr>
                </a:gs>
                <a:gs pos="100000">
                  <a:srgbClr val="F6F8FC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9474200" y="3327400"/>
            <a:ext cx="762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095500" y="4279900"/>
            <a:ext cx="127000" cy="127000"/>
          </a:xfrm>
          <a:prstGeom prst="ellipse">
            <a:avLst/>
          </a:prstGeom>
          <a:solidFill>
            <a:srgbClr val="4C67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892300" y="4279900"/>
            <a:ext cx="127000" cy="127000"/>
          </a:xfrm>
          <a:prstGeom prst="ellipse">
            <a:avLst/>
          </a:prstGeom>
          <a:solidFill>
            <a:srgbClr val="4C67C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89100" y="4279900"/>
            <a:ext cx="127000" cy="127000"/>
          </a:xfrm>
          <a:prstGeom prst="ellipse">
            <a:avLst/>
          </a:prstGeom>
          <a:solidFill>
            <a:srgbClr val="4C67C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85900" y="4279900"/>
            <a:ext cx="127000" cy="127000"/>
          </a:xfrm>
          <a:prstGeom prst="ellipse">
            <a:avLst/>
          </a:prstGeom>
          <a:solidFill>
            <a:srgbClr val="4C67C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82700" y="4279900"/>
            <a:ext cx="127000" cy="127000"/>
          </a:xfrm>
          <a:prstGeom prst="ellipse">
            <a:avLst/>
          </a:prstGeom>
          <a:solidFill>
            <a:srgbClr val="4C67C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279900"/>
            <a:ext cx="127000" cy="127000"/>
          </a:xfrm>
          <a:prstGeom prst="ellipse">
            <a:avLst/>
          </a:prstGeom>
          <a:solidFill>
            <a:srgbClr val="4C67C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76300" y="4279900"/>
            <a:ext cx="127000" cy="127000"/>
          </a:xfrm>
          <a:prstGeom prst="ellipse">
            <a:avLst/>
          </a:prstGeom>
          <a:solidFill>
            <a:srgbClr val="4C67C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 rot="10800000">
            <a:off x="7556500" y="3733800"/>
            <a:ext cx="127000" cy="127000"/>
          </a:xfrm>
          <a:prstGeom prst="ellipse">
            <a:avLst/>
          </a:prstGeom>
          <a:solidFill>
            <a:srgbClr val="4C67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 rot="10800000">
            <a:off x="7759700" y="3733800"/>
            <a:ext cx="127000" cy="127000"/>
          </a:xfrm>
          <a:prstGeom prst="ellipse">
            <a:avLst/>
          </a:prstGeom>
          <a:solidFill>
            <a:srgbClr val="4C67C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 rot="10800000">
            <a:off x="7962900" y="3733800"/>
            <a:ext cx="127000" cy="127000"/>
          </a:xfrm>
          <a:prstGeom prst="ellipse">
            <a:avLst/>
          </a:prstGeom>
          <a:solidFill>
            <a:srgbClr val="4C67C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 rot="10800000">
            <a:off x="8166100" y="3733800"/>
            <a:ext cx="127000" cy="127000"/>
          </a:xfrm>
          <a:prstGeom prst="ellipse">
            <a:avLst/>
          </a:prstGeom>
          <a:solidFill>
            <a:srgbClr val="4C67C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10800000">
            <a:off x="8369300" y="3733800"/>
            <a:ext cx="127000" cy="127000"/>
          </a:xfrm>
          <a:prstGeom prst="ellipse">
            <a:avLst/>
          </a:prstGeom>
          <a:solidFill>
            <a:srgbClr val="4C67C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10800000">
            <a:off x="8572500" y="3733800"/>
            <a:ext cx="127000" cy="127000"/>
          </a:xfrm>
          <a:prstGeom prst="ellipse">
            <a:avLst/>
          </a:prstGeom>
          <a:solidFill>
            <a:srgbClr val="4C67C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 rot="10800000">
            <a:off x="8775700" y="3733800"/>
            <a:ext cx="127000" cy="127000"/>
          </a:xfrm>
          <a:prstGeom prst="ellipse">
            <a:avLst/>
          </a:prstGeom>
          <a:solidFill>
            <a:srgbClr val="4C67C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alphaModFix amt="30000"/>
          </a:blip>
          <a:srcRect/>
          <a:stretch>
            <a:fillRect/>
          </a:stretch>
        </p:blipFill>
        <p:spPr>
          <a:xfrm>
            <a:off x="11633200" y="3009900"/>
            <a:ext cx="1130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2200" y="4648200"/>
            <a:ext cx="1574800" cy="157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2374900" y="2387600"/>
            <a:ext cx="711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请各位领导批评指正，谢谢！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" y="927100"/>
            <a:ext cx="8293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汇报完毕！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7406</Words>
  <Application>WPS 演示</Application>
  <PresentationFormat/>
  <Paragraphs>652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Arial</vt:lpstr>
      <vt:lpstr>Noto Sans SC</vt:lpstr>
      <vt:lpstr>微软雅黑</vt:lpstr>
      <vt:lpstr>Calibri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朱海涛</cp:lastModifiedBy>
  <cp:revision>28</cp:revision>
  <dcterms:created xsi:type="dcterms:W3CDTF">2026-04-16T07:08:00Z</dcterms:created>
  <dcterms:modified xsi:type="dcterms:W3CDTF">2026-04-16T13:44:55Z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8C69B1C7D0BB46689624B83799EC5CF1</vt:lpwstr>
  </property>
  <property fmtid="{D5CDD505-2E9C-101B-9397-08002B2CF9AE}" pid="3" name="KSOProductBuildVer">
    <vt:lpwstr>2052-11.8.0.16981</vt:lpwstr>
  </property>
</Properties>
</file>